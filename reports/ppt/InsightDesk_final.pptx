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4" r:id="rId5"/>
  </p:sldMasterIdLst>
  <p:notesMasterIdLst>
    <p:notesMasterId r:id="rId6"/>
  </p:notesMasterIdLst>
  <p:sldIdLst>
    <p:sldId id="256" r:id="rId7"/>
    <p:sldId id="257" r:id="rId8"/>
    <p:sldId id="258" r:id="rId9"/>
    <p:sldId id="259" r:id="rId10"/>
    <p:sldId id="271" r:id="rId22"/>
    <p:sldId id="272" r:id="rId23"/>
    <p:sldId id="260" r:id="rId11"/>
    <p:sldId id="261" r:id="rId12"/>
    <p:sldId id="280" r:id="rId31"/>
    <p:sldId id="262" r:id="rId13"/>
    <p:sldId id="263" r:id="rId14"/>
    <p:sldId id="275" r:id="rId26"/>
    <p:sldId id="279" r:id="rId30"/>
    <p:sldId id="278" r:id="rId29"/>
    <p:sldId id="276" r:id="rId27"/>
    <p:sldId id="277" r:id="rId28"/>
    <p:sldId id="264" r:id="rId15"/>
    <p:sldId id="273" r:id="rId24"/>
    <p:sldId id="274" r:id="rId25"/>
    <p:sldId id="265" r:id="rId16"/>
    <p:sldId id="266" r:id="rId17"/>
    <p:sldId id="267" r:id="rId18"/>
    <p:sldId id="268" r:id="rId19"/>
    <p:sldId id="269" r:id="rId20"/>
    <p:sldId id="270" r:id="rId2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570A505-9C83-4DA2-BAA3-34EB322FA7B9}">
  <a:tblStyle styleId="{A570A505-9C83-4DA2-BAA3-34EB322FA7B9}" styleName="Table_0">
    <a:wholeTbl>
      <a:tcTxStyle b="off" i="off">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 styleId="{ADC876BD-21E3-499D-94FC-3D607E5DCE7B}" styleName="Table_1">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AE357F98-E37F-4722-A336-238EF99134D1}" styleName="Table_2">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  <Relationship Id="rId22" Type="http://schemas.openxmlformats.org/officeDocument/2006/relationships/slide" Target="slides/slide16.xml"/>
  <Relationship Id="rId23" Type="http://schemas.openxmlformats.org/officeDocument/2006/relationships/slide" Target="slides/slide17.xml"/>
  <Relationship Id="rId24" Type="http://schemas.openxmlformats.org/officeDocument/2006/relationships/slide" Target="slides/slide18.xml"/>
  <Relationship Id="rId25" Type="http://schemas.openxmlformats.org/officeDocument/2006/relationships/slide" Target="slides/slide19.xml"/>
  <Relationship Id="rId26" Type="http://schemas.openxmlformats.org/officeDocument/2006/relationships/slide" Target="slides/slide20.xml"/>
  <Relationship Id="rId27" Type="http://schemas.openxmlformats.org/officeDocument/2006/relationships/slide" Target="slides/slide21.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 Id="rId31" Type="http://schemas.openxmlformats.org/officeDocument/2006/relationships/slide" Target="slides/slide25.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 name="Shape 32"/>
        <p:cNvGrpSpPr/>
        <p:nvPr/>
      </p:nvGrpSpPr>
      <p:grpSpPr>
        <a:xfrm>
          <a:off x="0" y="0"/>
          <a:ext cx="0" cy="0"/>
          <a:chOff x="0" y="0"/>
          <a:chExt cx="0" cy="0"/>
        </a:xfrm>
      </p:grpSpPr>
      <p:sp>
        <p:nvSpPr>
          <p:cNvPr id="33" name="Google Shape;33;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4" name="Google Shape;34;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5" name="Google Shape;45;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5" name="Google Shape;55;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d1e4f3ba1c_0_1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5" name="Google Shape;65;g3d1e4f3ba1c_0_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p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8" name="Google Shape;78;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6" name="Google Shape;86;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7" name="Google Shape;97;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8" name="Google Shape;108;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d1e4f3ba1c_0_2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9" name="Google Shape;119;g3d1e4f3ba1c_0_2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0" name="Google Shape;130;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p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0" name="Google Shape;140;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0" name="Google Shape;150;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d1e4f3ba1c_0_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1" name="Google Shape;161;g3d1e4f3ba1c_0_3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d1e4f3ba1c_0_5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1" name="Google Shape;171;g3d1e4f3ba1c_0_5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p1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2" name="Google Shape;182;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3" name="Shape 13"/>
        <p:cNvGrpSpPr/>
        <p:nvPr/>
      </p:nvGrpSpPr>
      <p:grpSpPr>
        <a:xfrm>
          <a:off x="0" y="0"/>
          <a:ext cx="0" cy="0"/>
          <a:chOff x="0" y="0"/>
          <a:chExt cx="0" cy="0"/>
        </a:xfrm>
      </p:grpSpPr>
      <p:sp>
        <p:nvSpPr>
          <p:cNvPr id="14" name="Google Shape;14;p3"/>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15" name="Google Shape;15;p3"/>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16" name="Google Shape;16;p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7" name="Shape 17"/>
        <p:cNvGrpSpPr/>
        <p:nvPr/>
      </p:nvGrpSpPr>
      <p:grpSpPr>
        <a:xfrm>
          <a:off x="0" y="0"/>
          <a:ext cx="0" cy="0"/>
          <a:chOff x="0" y="0"/>
          <a:chExt cx="0" cy="0"/>
        </a:xfrm>
      </p:grpSpPr>
      <p:sp>
        <p:nvSpPr>
          <p:cNvPr id="18" name="Google Shape;18;p4"/>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 name="Google Shape;19;p4"/>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20" name="Google Shape;20;p4"/>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21" name="Google Shape;21;p4"/>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22" name="Google Shape;22;p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23" name="Shape 23"/>
        <p:cNvGrpSpPr/>
        <p:nvPr/>
      </p:nvGrpSpPr>
      <p:grpSpPr>
        <a:xfrm>
          <a:off x="0" y="0"/>
          <a:ext cx="0" cy="0"/>
          <a:chOff x="0" y="0"/>
          <a:chExt cx="0" cy="0"/>
        </a:xfrm>
      </p:grpSpPr>
      <p:sp>
        <p:nvSpPr>
          <p:cNvPr id="24" name="Google Shape;24;p5"/>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25" name="Google Shape;25;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26" name="Shape 26"/>
        <p:cNvGrpSpPr/>
        <p:nvPr/>
      </p:nvGrpSpPr>
      <p:grpSpPr>
        <a:xfrm>
          <a:off x="0" y="0"/>
          <a:ext cx="0" cy="0"/>
          <a:chOff x="0" y="0"/>
          <a:chExt cx="0" cy="0"/>
        </a:xfrm>
      </p:grpSpPr>
      <p:sp>
        <p:nvSpPr>
          <p:cNvPr id="27" name="Google Shape;27;p6"/>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28" name="Google Shape;28;p6"/>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29" name="Google Shape;29;p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0" name="Shape 30"/>
        <p:cNvGrpSpPr/>
        <p:nvPr/>
      </p:nvGrpSpPr>
      <p:grpSpPr>
        <a:xfrm>
          <a:off x="0" y="0"/>
          <a:ext cx="0" cy="0"/>
          <a:chOff x="0" y="0"/>
          <a:chExt cx="0" cy="0"/>
        </a:xfrm>
      </p:grpSpPr>
      <p:sp>
        <p:nvSpPr>
          <p:cNvPr id="31" name="Google Shape;31;p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flow_final.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res_f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hyperlink" Target="https://www.diva-portal.org/smash/get/diva2:1875371/FULLTEXT01.pdf" TargetMode="External"/><Relationship Id="rId5" Type="http://schemas.openxmlformats.org/officeDocument/2006/relationships/hyperlink" Target="https://www.rapidops.com/blog/ai-dashboards/"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hyperlink" Target="https://towardsai.net/p/l/topic-modeling-on-customer-reviews-using-bertopic-and-llama2" TargetMode="External"/><Relationship Id="rId5" Type="http://schemas.openxmlformats.org/officeDocument/2006/relationships/hyperlink" Target="https://dl.acm.org/doi/10.1007/s42979-023-01989-6" TargetMode="External"/><Relationship Id="rId6" Type="http://schemas.openxmlformats.org/officeDocument/2006/relationships/hyperlink" Target="https://www.emergentmind.com/topics/sentiment-analysis-of-help-desk-tickets" TargetMode="External"/><Relationship Id="rId7" Type="http://schemas.openxmlformats.org/officeDocument/2006/relationships/hyperlink" Target="https://towardsai.net/p/l/topic-modeling-on-customer-reviews-using-bertopic-and-llama2"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image" Target="../media/res_pr.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image" Target="../media/res_spike.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image" Target="../media/arch_wide.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 name="Shape 35"/>
        <p:cNvGrpSpPr/>
        <p:nvPr/>
      </p:nvGrpSpPr>
      <p:grpSpPr>
        <a:xfrm>
          <a:off x="0" y="0"/>
          <a:ext cx="0" cy="0"/>
          <a:chOff x="0" y="0"/>
          <a:chExt cx="0" cy="0"/>
        </a:xfrm>
      </p:grpSpPr>
      <p:sp>
        <p:nvSpPr>
          <p:cNvPr id="36" name="Google Shape;36;p8"/>
          <p:cNvSpPr txBox="1"/>
          <p:nvPr/>
        </p:nvSpPr>
        <p:spPr>
          <a:xfrm>
            <a:off x="61475" y="4375400"/>
            <a:ext cx="86787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Times New Roman"/>
                <a:ea typeface="Times New Roman"/>
                <a:cs typeface="Times New Roman"/>
                <a:sym typeface="Times New Roman"/>
              </a:rPr>
              <a:t>Department of AI-DS, K.J. Somaiya Institute of Technology, Sion, Mumbai 400022</a:t>
            </a:r>
            <a:endParaRPr b="0" i="0" sz="1400" u="none" cap="none" strike="noStrike">
              <a:solidFill>
                <a:srgbClr val="000000"/>
              </a:solidFill>
              <a:latin typeface="Times New Roman"/>
              <a:ea typeface="Times New Roman"/>
              <a:cs typeface="Times New Roman"/>
              <a:sym typeface="Times New Roman"/>
            </a:endParaRPr>
          </a:p>
        </p:txBody>
      </p:sp>
      <p:sp>
        <p:nvSpPr>
          <p:cNvPr id="37" name="Google Shape;37;p8"/>
          <p:cNvSpPr txBox="1"/>
          <p:nvPr/>
        </p:nvSpPr>
        <p:spPr>
          <a:xfrm>
            <a:off x="1037275" y="1245476"/>
            <a:ext cx="7129800" cy="13263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00"/>
              <a:buFont typeface="Arial"/>
              <a:buNone/>
            </a:pPr>
            <a:r>
              <a:t/>
            </a:r>
            <a:endParaRPr b="1" i="0" sz="600" u="none" cap="none" strike="noStrike">
              <a:solidFill>
                <a:srgbClr val="1F3864"/>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675"/>
              <a:buFont typeface="Arial"/>
              <a:buNone/>
            </a:pPr>
            <a:r>
              <a:rPr b="1" lang="en-US" sz="1675">
                <a:solidFill>
                  <a:srgbClr val="1F3864"/>
                </a:solidFill>
                <a:latin typeface="Times New Roman"/>
                <a:ea typeface="Times New Roman"/>
                <a:cs typeface="Times New Roman"/>
                <a:sym typeface="Times New Roman"/>
              </a:rPr>
              <a:t>L</a:t>
            </a:r>
            <a:r>
              <a:rPr b="1" i="0" lang="en-US" sz="1675" u="none" cap="none" strike="noStrike">
                <a:solidFill>
                  <a:srgbClr val="1F3864"/>
                </a:solidFill>
                <a:latin typeface="Times New Roman"/>
                <a:ea typeface="Times New Roman"/>
                <a:cs typeface="Times New Roman"/>
                <a:sym typeface="Times New Roman"/>
              </a:rPr>
              <a:t>.Y B Major Project Presentation</a:t>
            </a:r>
            <a:endParaRPr b="1" i="0" sz="1675" u="none" cap="none" strike="noStrike">
              <a:solidFill>
                <a:srgbClr val="1F3864"/>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675"/>
              <a:buFont typeface="Arial"/>
              <a:buNone/>
            </a:pPr>
            <a:r>
              <a:t/>
            </a:r>
            <a:endParaRPr b="1" sz="1675">
              <a:solidFill>
                <a:srgbClr val="1F3864"/>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59"/>
              <a:buFont typeface="Arial"/>
              <a:buNone/>
            </a:pPr>
            <a:r>
              <a:rPr b="1" i="0" lang="en-US" sz="1860" u="none" cap="none" strike="noStrike">
                <a:solidFill>
                  <a:srgbClr val="C00000"/>
                </a:solidFill>
                <a:latin typeface="Times New Roman"/>
                <a:ea typeface="Times New Roman"/>
                <a:cs typeface="Times New Roman"/>
                <a:sym typeface="Times New Roman"/>
              </a:rPr>
              <a:t>“</a:t>
            </a:r>
            <a:r>
              <a:rPr b="1" lang="en-US" sz="1860">
                <a:solidFill>
                  <a:srgbClr val="C00000"/>
                </a:solidFill>
                <a:latin typeface="Times New Roman"/>
                <a:ea typeface="Times New Roman"/>
                <a:cs typeface="Times New Roman"/>
                <a:sym typeface="Times New Roman"/>
              </a:rPr>
              <a:t>InsightDesk - Intelligent complaint triage system</a:t>
            </a:r>
            <a:r>
              <a:rPr b="1" i="0" lang="en-US" sz="1860" u="none" cap="none" strike="noStrike">
                <a:solidFill>
                  <a:srgbClr val="C00000"/>
                </a:solidFill>
                <a:latin typeface="Times New Roman"/>
                <a:ea typeface="Times New Roman"/>
                <a:cs typeface="Times New Roman"/>
                <a:sym typeface="Times New Roman"/>
              </a:rPr>
              <a:t>”</a:t>
            </a:r>
            <a:endParaRPr b="0" i="0" sz="1005" u="none" cap="none" strike="noStrike">
              <a:solidFill>
                <a:srgbClr val="000000"/>
              </a:solidFill>
              <a:latin typeface="Arial"/>
              <a:ea typeface="Arial"/>
              <a:cs typeface="Arial"/>
              <a:sym typeface="Arial"/>
            </a:endParaRPr>
          </a:p>
        </p:txBody>
      </p:sp>
      <p:sp>
        <p:nvSpPr>
          <p:cNvPr id="38" name="Google Shape;38;p8"/>
          <p:cNvSpPr txBox="1"/>
          <p:nvPr/>
        </p:nvSpPr>
        <p:spPr>
          <a:xfrm>
            <a:off x="2452225" y="2571750"/>
            <a:ext cx="3978000" cy="1754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262626"/>
                </a:solidFill>
                <a:latin typeface="Times New Roman"/>
                <a:ea typeface="Times New Roman"/>
                <a:cs typeface="Times New Roman"/>
                <a:sym typeface="Times New Roman"/>
              </a:rPr>
              <a:t>Guide:Prof.</a:t>
            </a:r>
            <a:r>
              <a:rPr b="1" lang="en-US" sz="1800">
                <a:solidFill>
                  <a:srgbClr val="262626"/>
                </a:solidFill>
                <a:latin typeface="Times New Roman"/>
                <a:ea typeface="Times New Roman"/>
                <a:cs typeface="Times New Roman"/>
                <a:sym typeface="Times New Roman"/>
              </a:rPr>
              <a:t>Ganesh Wadmare</a:t>
            </a:r>
            <a:endParaRPr b="1" i="0" sz="1800" u="none" cap="none" strike="noStrike">
              <a:solidFill>
                <a:srgbClr val="FF0000"/>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262626"/>
                </a:solidFill>
                <a:latin typeface="Times New Roman"/>
                <a:ea typeface="Times New Roman"/>
                <a:cs typeface="Times New Roman"/>
                <a:sym typeface="Times New Roman"/>
              </a:rPr>
              <a:t>Group No:</a:t>
            </a:r>
            <a:r>
              <a:rPr b="1" lang="en-US" sz="1800">
                <a:solidFill>
                  <a:srgbClr val="262626"/>
                </a:solidFill>
                <a:latin typeface="Times New Roman"/>
                <a:ea typeface="Times New Roman"/>
                <a:cs typeface="Times New Roman"/>
                <a:sym typeface="Times New Roman"/>
              </a:rPr>
              <a:t>10</a:t>
            </a:r>
            <a:endParaRPr/>
          </a:p>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262626"/>
                </a:solidFill>
                <a:latin typeface="Times New Roman"/>
                <a:ea typeface="Times New Roman"/>
                <a:cs typeface="Times New Roman"/>
                <a:sym typeface="Times New Roman"/>
              </a:rPr>
              <a:t>Team Members – </a:t>
            </a:r>
            <a:endParaRPr/>
          </a:p>
          <a:p>
            <a:pPr indent="0" lvl="0" marL="0" marR="0" rtl="0" algn="ctr">
              <a:lnSpc>
                <a:spcPct val="100000"/>
              </a:lnSpc>
              <a:spcBef>
                <a:spcPts val="0"/>
              </a:spcBef>
              <a:spcAft>
                <a:spcPts val="0"/>
              </a:spcAft>
              <a:buClr>
                <a:srgbClr val="000000"/>
              </a:buClr>
              <a:buSzPts val="1800"/>
              <a:buFont typeface="Arial"/>
              <a:buNone/>
            </a:pPr>
            <a:r>
              <a:rPr i="0" lang="en-US" sz="1800" u="none" cap="none" strike="noStrike">
                <a:solidFill>
                  <a:srgbClr val="262626"/>
                </a:solidFill>
                <a:latin typeface="Times New Roman"/>
                <a:ea typeface="Times New Roman"/>
                <a:cs typeface="Times New Roman"/>
                <a:sym typeface="Times New Roman"/>
              </a:rPr>
              <a:t>Krisha Sinnarkar(Roll No.</a:t>
            </a:r>
            <a:r>
              <a:rPr lang="en-US" sz="1800">
                <a:solidFill>
                  <a:srgbClr val="262626"/>
                </a:solidFill>
                <a:latin typeface="Times New Roman"/>
                <a:ea typeface="Times New Roman"/>
                <a:cs typeface="Times New Roman"/>
                <a:sym typeface="Times New Roman"/>
              </a:rPr>
              <a:t>-61)</a:t>
            </a:r>
            <a:endParaRPr i="0" sz="1800" u="none" cap="none" strike="noStrike">
              <a:solidFill>
                <a:srgbClr val="262626"/>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rPr i="0" lang="en-US" sz="1800" u="none" cap="none" strike="noStrike">
                <a:solidFill>
                  <a:srgbClr val="262626"/>
                </a:solidFill>
                <a:latin typeface="Times New Roman"/>
                <a:ea typeface="Times New Roman"/>
                <a:cs typeface="Times New Roman"/>
                <a:sym typeface="Times New Roman"/>
              </a:rPr>
              <a:t>Sanyogita Shinde</a:t>
            </a:r>
            <a:r>
              <a:rPr lang="en-US" sz="1800">
                <a:solidFill>
                  <a:srgbClr val="262626"/>
                </a:solidFill>
                <a:latin typeface="Times New Roman"/>
                <a:ea typeface="Times New Roman"/>
                <a:cs typeface="Times New Roman"/>
                <a:sym typeface="Times New Roman"/>
              </a:rPr>
              <a:t>(Roll No.-60)</a:t>
            </a:r>
            <a:endParaRPr/>
          </a:p>
          <a:p>
            <a:pPr indent="0" lvl="0" marL="0" marR="0" rtl="0" algn="ctr">
              <a:lnSpc>
                <a:spcPct val="100000"/>
              </a:lnSpc>
              <a:spcBef>
                <a:spcPts val="0"/>
              </a:spcBef>
              <a:spcAft>
                <a:spcPts val="0"/>
              </a:spcAft>
              <a:buClr>
                <a:srgbClr val="000000"/>
              </a:buClr>
              <a:buSzPts val="1800"/>
              <a:buFont typeface="Arial"/>
              <a:buNone/>
            </a:pPr>
            <a:r>
              <a:rPr i="0" lang="en-US" sz="1800" u="none" cap="none" strike="noStrike">
                <a:solidFill>
                  <a:srgbClr val="262626"/>
                </a:solidFill>
                <a:latin typeface="Times New Roman"/>
                <a:ea typeface="Times New Roman"/>
                <a:cs typeface="Times New Roman"/>
                <a:sym typeface="Times New Roman"/>
              </a:rPr>
              <a:t>Krushnam Sadrani</a:t>
            </a:r>
            <a:r>
              <a:rPr lang="en-US" sz="1800">
                <a:solidFill>
                  <a:srgbClr val="262626"/>
                </a:solidFill>
                <a:latin typeface="Times New Roman"/>
                <a:ea typeface="Times New Roman"/>
                <a:cs typeface="Times New Roman"/>
                <a:sym typeface="Times New Roman"/>
              </a:rPr>
              <a:t>(Roll No.- 40)</a:t>
            </a:r>
            <a:endParaRPr i="0" sz="1800" u="none" cap="none" strike="noStrike">
              <a:solidFill>
                <a:srgbClr val="000000"/>
              </a:solidFill>
              <a:latin typeface="Times New Roman"/>
              <a:ea typeface="Times New Roman"/>
              <a:cs typeface="Times New Roman"/>
              <a:sym typeface="Times New Roman"/>
            </a:endParaRPr>
          </a:p>
        </p:txBody>
      </p:sp>
      <p:sp>
        <p:nvSpPr>
          <p:cNvPr id="39" name="Google Shape;39;p8"/>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pic>
        <p:nvPicPr>
          <p:cNvPr id="40" name="Google Shape;40;p8"/>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41" name="Google Shape;41;p8"/>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42" name="Google Shape;42;p8"/>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 name="Shape 46"/>
        <p:cNvGrpSpPr/>
        <p:nvPr/>
      </p:nvGrpSpPr>
      <p:grpSpPr>
        <a:xfrm>
          <a:off x="0" y="0"/>
          <a:ext cx="0" cy="0"/>
          <a:chOff x="0" y="0"/>
          <a:chExt cx="0" cy="0"/>
        </a:xfrm>
      </p:grpSpPr>
      <p:sp>
        <p:nvSpPr>
          <p:cNvPr id="47" name="Google Shape;47;p9"/>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48" name="Google Shape;48;p9"/>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49" name="Google Shape;49;p9"/>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50" name="Google Shape;50;p9"/>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51" name="Google Shape;51;p9"/>
          <p:cNvSpPr txBox="1"/>
          <p:nvPr/>
        </p:nvSpPr>
        <p:spPr>
          <a:xfrm>
            <a:off x="314200" y="1360125"/>
            <a:ext cx="3252300" cy="431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000000"/>
                </a:solidFill>
                <a:latin typeface="Times New Roman"/>
                <a:ea typeface="Times New Roman"/>
                <a:cs typeface="Times New Roman"/>
                <a:sym typeface="Times New Roman"/>
              </a:rPr>
              <a:t> </a:t>
            </a:r>
            <a:r>
              <a:rPr b="1" i="0" lang="en-US" sz="1400" u="none" cap="none" strike="noStrike">
                <a:solidFill>
                  <a:srgbClr val="000000"/>
                </a:solidFill>
                <a:latin typeface="Times New Roman"/>
                <a:ea typeface="Times New Roman"/>
                <a:cs typeface="Times New Roman"/>
                <a:sym typeface="Times New Roman"/>
              </a:rPr>
              <a:t>TABLE OF CONTENTS</a:t>
            </a:r>
            <a:endParaRPr b="1" i="0" sz="1400" u="none" cap="none" strike="noStrike">
              <a:solidFill>
                <a:srgbClr val="000000"/>
              </a:solidFill>
              <a:latin typeface="Times New Roman"/>
              <a:ea typeface="Times New Roman"/>
              <a:cs typeface="Times New Roman"/>
              <a:sym typeface="Times New Roman"/>
            </a:endParaRPr>
          </a:p>
        </p:txBody>
      </p:sp>
      <p:graphicFrame>
        <p:nvGraphicFramePr>
          <p:cNvPr id="52" name="Google Shape;52;p9"/>
          <p:cNvGraphicFramePr/>
          <p:nvPr/>
        </p:nvGraphicFramePr>
        <p:xfrm>
          <a:off x="436250" y="1819175"/>
          <a:ext cx="3000000" cy="3000000"/>
        </p:xfrm>
        <a:graphic>
          <a:graphicData uri="http://schemas.openxmlformats.org/drawingml/2006/table">
            <a:tbl>
              <a:tblPr bandRow="1">
                <a:noFill/>
                <a:tableStyleId>{A570A505-9C83-4DA2-BAA3-34EB322FA7B9}</a:tableStyleId>
              </a:tblPr>
              <a:tblGrid>
                <a:gridCol w="867400"/>
                <a:gridCol w="3726075"/>
              </a:tblGrid>
              <a:tr h="365075">
                <a:tc>
                  <a:txBody>
                    <a:bodyPr/>
                    <a:lstStyle/>
                    <a:p>
                      <a:pPr indent="0" lvl="0" marL="0" marR="0" rtl="0" algn="ctr">
                        <a:lnSpc>
                          <a:spcPct val="115000"/>
                        </a:lnSpc>
                        <a:spcBef>
                          <a:spcPts val="0"/>
                        </a:spcBef>
                        <a:spcAft>
                          <a:spcPts val="0"/>
                        </a:spcAft>
                        <a:buClr>
                          <a:srgbClr val="000000"/>
                        </a:buClr>
                        <a:buSzPts val="1200"/>
                        <a:buFont typeface="Arial"/>
                        <a:buNone/>
                      </a:pPr>
                      <a:r>
                        <a:rPr lang="en-US" sz="1200" u="none" cap="none" strike="noStrike">
                          <a:latin typeface="Times New Roman"/>
                          <a:ea typeface="Times New Roman"/>
                          <a:cs typeface="Times New Roman"/>
                          <a:sym typeface="Times New Roman"/>
                        </a:rPr>
                        <a:t>Sr.No.</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15000"/>
                        </a:lnSpc>
                        <a:spcBef>
                          <a:spcPts val="0"/>
                        </a:spcBef>
                        <a:spcAft>
                          <a:spcPts val="0"/>
                        </a:spcAft>
                        <a:buClr>
                          <a:srgbClr val="000000"/>
                        </a:buClr>
                        <a:buSzPts val="1200"/>
                        <a:buFont typeface="Arial"/>
                        <a:buNone/>
                      </a:pPr>
                      <a:r>
                        <a:rPr lang="en-US" sz="1200" u="none" cap="none" strike="noStrike">
                          <a:latin typeface="Times New Roman"/>
                          <a:ea typeface="Times New Roman"/>
                          <a:cs typeface="Times New Roman"/>
                          <a:sym typeface="Times New Roman"/>
                        </a:rPr>
                        <a:t> Content</a:t>
                      </a:r>
                      <a:endParaRPr sz="1200" u="none" cap="none" strike="noStrike">
                        <a:latin typeface="Times New Roman"/>
                        <a:ea typeface="Times New Roman"/>
                        <a:cs typeface="Times New Roman"/>
                        <a:sym typeface="Times New Roman"/>
                      </a:endParaRPr>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u="none" cap="none" strike="noStrike">
                          <a:latin typeface="Times New Roman"/>
                          <a:ea typeface="Times New Roman"/>
                          <a:cs typeface="Times New Roman"/>
                          <a:sym typeface="Times New Roman"/>
                        </a:rPr>
                        <a:t>1.</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15000"/>
                        </a:lnSpc>
                        <a:spcBef>
                          <a:spcPts val="0"/>
                        </a:spcBef>
                        <a:spcAft>
                          <a:spcPts val="0"/>
                        </a:spcAft>
                        <a:buClr>
                          <a:srgbClr val="000000"/>
                        </a:buClr>
                        <a:buSzPts val="1200"/>
                        <a:buFont typeface="Arial"/>
                        <a:buNone/>
                      </a:pPr>
                      <a:r>
                        <a:rPr lang="en-US" sz="1200" u="none" cap="none" strike="noStrike">
                          <a:latin typeface="Times New Roman"/>
                          <a:ea typeface="Times New Roman"/>
                          <a:cs typeface="Times New Roman"/>
                          <a:sym typeface="Times New Roman"/>
                        </a:rPr>
                        <a:t>Problem Statement</a:t>
                      </a:r>
                      <a:endParaRPr sz="1200" u="none" cap="none" strike="noStrike"/>
                    </a:p>
                  </a:txBody>
                  <a:tcPr marT="0" marB="0" marR="68575" marL="68575"/>
                </a:tc>
              </a:tr>
              <a:tr h="218775">
                <a:tc>
                  <a:txBody>
                    <a:bodyPr/>
                    <a:lstStyle/>
                    <a:p>
                      <a:pPr indent="0" lvl="0" marL="0" marR="0" rtl="0" algn="ctr">
                        <a:lnSpc>
                          <a:spcPct val="115000"/>
                        </a:lnSpc>
                        <a:spcBef>
                          <a:spcPts val="0"/>
                        </a:spcBef>
                        <a:spcAft>
                          <a:spcPts val="0"/>
                        </a:spcAft>
                        <a:buNone/>
                      </a:pPr>
                      <a:r>
                        <a:rPr lang="en-US" sz="1200">
                          <a:latin typeface="Times New Roman"/>
                          <a:ea typeface="Times New Roman"/>
                          <a:cs typeface="Times New Roman"/>
                          <a:sym typeface="Times New Roman"/>
                        </a:rPr>
                        <a:t>2.</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15000"/>
                        </a:lnSpc>
                        <a:spcBef>
                          <a:spcPts val="0"/>
                        </a:spcBef>
                        <a:spcAft>
                          <a:spcPts val="0"/>
                        </a:spcAft>
                        <a:buNone/>
                      </a:pPr>
                      <a:r>
                        <a:rPr lang="en-US" sz="1200">
                          <a:latin typeface="Times New Roman"/>
                          <a:ea typeface="Times New Roman"/>
                          <a:cs typeface="Times New Roman"/>
                          <a:sym typeface="Times New Roman"/>
                        </a:rPr>
                        <a:t>Literature Survey</a:t>
                      </a:r>
                      <a:endParaRPr sz="1200" u="none" cap="none" strike="noStrike">
                        <a:latin typeface="Times New Roman"/>
                        <a:ea typeface="Times New Roman"/>
                        <a:cs typeface="Times New Roman"/>
                        <a:sym typeface="Times New Roman"/>
                      </a:endParaRPr>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3.</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u="none" cap="none" strike="noStrike">
                          <a:solidFill>
                            <a:schemeClr val="dk1"/>
                          </a:solidFill>
                          <a:latin typeface="Times New Roman"/>
                          <a:ea typeface="Times New Roman"/>
                          <a:cs typeface="Times New Roman"/>
                          <a:sym typeface="Times New Roman"/>
                        </a:rPr>
                        <a:t>Objectives</a:t>
                      </a:r>
                      <a:endParaRPr sz="1200">
                        <a:solidFill>
                          <a:schemeClr val="dk1"/>
                        </a:solidFill>
                        <a:latin typeface="Times New Roman"/>
                        <a:ea typeface="Times New Roman"/>
                        <a:cs typeface="Times New Roman"/>
                        <a:sym typeface="Times New Roman"/>
                      </a:endParaRPr>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4.</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a:latin typeface="Times New Roman"/>
                          <a:ea typeface="Times New Roman"/>
                          <a:cs typeface="Times New Roman"/>
                          <a:sym typeface="Times New Roman"/>
                        </a:rPr>
                        <a:t>Flow Diagram &amp; Architecture</a:t>
                      </a:r>
                      <a:endParaRPr sz="1200" u="none" cap="none" strike="noStrike">
                        <a:latin typeface="Times New Roman"/>
                        <a:ea typeface="Times New Roman"/>
                        <a:cs typeface="Times New Roman"/>
                        <a:sym typeface="Times New Roman"/>
                      </a:endParaRPr>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5.</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u="none" cap="none" strike="noStrike">
                          <a:solidFill>
                            <a:schemeClr val="dk1"/>
                          </a:solidFill>
                          <a:latin typeface="Times New Roman"/>
                          <a:ea typeface="Times New Roman"/>
                          <a:cs typeface="Times New Roman"/>
                          <a:sym typeface="Times New Roman"/>
                        </a:rPr>
                        <a:t>Implementation &amp; Formulation</a:t>
                      </a:r>
                      <a:endParaRPr sz="1200" u="none" cap="none" strike="noStrike"/>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6.</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u="none" cap="none" strike="noStrike">
                          <a:solidFill>
                            <a:schemeClr val="dk1"/>
                          </a:solidFill>
                          <a:latin typeface="Times New Roman"/>
                          <a:ea typeface="Times New Roman"/>
                          <a:cs typeface="Times New Roman"/>
                          <a:sym typeface="Times New Roman"/>
                        </a:rPr>
                        <a:t>Datasets &amp; Calibration</a:t>
                      </a:r>
                      <a:endParaRPr sz="1200" u="none" cap="none" strike="noStrike"/>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7.</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u="none" cap="none" strike="noStrike">
                          <a:solidFill>
                            <a:schemeClr val="dk1"/>
                          </a:solidFill>
                          <a:latin typeface="Times New Roman"/>
                          <a:ea typeface="Times New Roman"/>
                          <a:cs typeface="Times New Roman"/>
                          <a:sym typeface="Times New Roman"/>
                        </a:rPr>
                        <a:t>Results</a:t>
                      </a:r>
                      <a:endParaRPr sz="1200" u="none" cap="none" strike="noStrike"/>
                    </a:p>
                  </a:txBody>
                  <a:tcPr marT="0" marB="0" marR="68575" marL="68575"/>
                </a:tc>
              </a:tr>
              <a:tr h="218775">
                <a:tc>
                  <a:txBody>
                    <a:bodyPr/>
                    <a:lstStyle/>
                    <a:p>
                      <a:pPr indent="0" lvl="0" marL="0" marR="0" rtl="0" algn="ctr">
                        <a:lnSpc>
                          <a:spcPct val="115000"/>
                        </a:lnSpc>
                        <a:spcBef>
                          <a:spcPts val="0"/>
                        </a:spcBef>
                        <a:spcAft>
                          <a:spcPts val="0"/>
                        </a:spcAft>
                        <a:buNone/>
                      </a:pPr>
                      <a:r>
                        <a:rPr lang="en-US" sz="1200">
                          <a:latin typeface="Times New Roman"/>
                          <a:ea typeface="Times New Roman"/>
                          <a:cs typeface="Times New Roman"/>
                          <a:sym typeface="Times New Roman"/>
                        </a:rPr>
                        <a:t>8.</a:t>
                      </a:r>
                      <a:endParaRPr sz="1200">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None/>
                      </a:pPr>
                      <a:r>
                        <a:rPr lang="en-US" sz="1200">
                          <a:solidFill>
                            <a:schemeClr val="dk1"/>
                          </a:solidFill>
                          <a:latin typeface="Times New Roman"/>
                          <a:ea typeface="Times New Roman"/>
                          <a:cs typeface="Times New Roman"/>
                          <a:sym typeface="Times New Roman"/>
                        </a:rPr>
                        <a:t>Applications &amp; Future Scope</a:t>
                      </a:r>
                      <a:endParaRPr sz="1200" u="none" cap="none" strike="noStrike">
                        <a:solidFill>
                          <a:schemeClr val="dk1"/>
                        </a:solidFill>
                        <a:latin typeface="Times New Roman"/>
                        <a:ea typeface="Times New Roman"/>
                        <a:cs typeface="Times New Roman"/>
                        <a:sym typeface="Times New Roman"/>
                      </a:endParaRPr>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9.</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u="none" cap="none" strike="noStrike">
                          <a:solidFill>
                            <a:schemeClr val="dk1"/>
                          </a:solidFill>
                          <a:latin typeface="Times New Roman"/>
                          <a:ea typeface="Times New Roman"/>
                          <a:cs typeface="Times New Roman"/>
                          <a:sym typeface="Times New Roman"/>
                        </a:rPr>
                        <a:t>Conclusion &amp; References</a:t>
                      </a:r>
                      <a:endParaRPr sz="1200" u="none" cap="none" strike="noStrike"/>
                    </a:p>
                  </a:txBody>
                  <a:tcPr marT="0" marB="0" marR="68575" marL="68575"/>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0"/>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58" name="Google Shape;58;p10"/>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59" name="Google Shape;59;p10"/>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60" name="Google Shape;60;p10"/>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61" name="Google Shape;61;p10"/>
          <p:cNvSpPr txBox="1"/>
          <p:nvPr/>
        </p:nvSpPr>
        <p:spPr>
          <a:xfrm>
            <a:off x="587989" y="1217597"/>
            <a:ext cx="7968000" cy="3504300"/>
          </a:xfrm>
          <a:prstGeom prst="rect">
            <a:avLst/>
          </a:prstGeom>
          <a:noFill/>
          <a:ln>
            <a:noFill/>
          </a:ln>
        </p:spPr>
        <p:txBody>
          <a:bodyPr anchorCtr="0" anchor="t" bIns="91425" lIns="91425" spcFirstLastPara="1" rIns="107625" wrap="square" tIns="91425">
            <a:normAutofit fontScale="77500" lnSpcReduction="20000"/>
          </a:bodyPr>
          <a:lstStyle/>
          <a:p>
            <a:pPr indent="0" lvl="0" marL="0" marR="0" rtl="0" algn="ctr">
              <a:lnSpc>
                <a:spcPct val="100000"/>
              </a:lnSpc>
              <a:spcBef>
                <a:spcPts val="0"/>
              </a:spcBef>
              <a:spcAft>
                <a:spcPts val="0"/>
              </a:spcAft>
              <a:buClr>
                <a:srgbClr val="000000"/>
              </a:buClr>
              <a:buSzPct val="100000"/>
              <a:buFont typeface="Arial"/>
              <a:buNone/>
            </a:pPr>
            <a:r>
              <a:rPr b="1" i="0" lang="en-US" sz="1800" u="none" cap="none" strike="noStrike">
                <a:solidFill>
                  <a:schemeClr val="dk1"/>
                </a:solidFill>
                <a:latin typeface="Times New Roman"/>
                <a:ea typeface="Times New Roman"/>
                <a:cs typeface="Times New Roman"/>
                <a:sym typeface="Times New Roman"/>
              </a:rPr>
              <a:t>P</a:t>
            </a:r>
            <a:r>
              <a:rPr b="1" lang="en-US" sz="1800">
                <a:solidFill>
                  <a:schemeClr val="dk1"/>
                </a:solidFill>
                <a:latin typeface="Times New Roman"/>
                <a:ea typeface="Times New Roman"/>
                <a:cs typeface="Times New Roman"/>
                <a:sym typeface="Times New Roman"/>
              </a:rPr>
              <a:t>ROBLEM STATEMENT</a:t>
            </a:r>
            <a:endParaRPr/>
          </a:p>
          <a:p>
            <a:pPr indent="0" lvl="0" marL="0" marR="0" rtl="0" algn="ctr">
              <a:lnSpc>
                <a:spcPct val="100000"/>
              </a:lnSpc>
              <a:spcBef>
                <a:spcPts val="0"/>
              </a:spcBef>
              <a:spcAft>
                <a:spcPts val="0"/>
              </a:spcAft>
              <a:buClr>
                <a:srgbClr val="000000"/>
              </a:buClr>
              <a:buSzPct val="1000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lnSpc>
                <a:spcPct val="115000"/>
              </a:lnSpc>
              <a:spcBef>
                <a:spcPts val="1200"/>
              </a:spcBef>
              <a:spcAft>
                <a:spcPts val="0"/>
              </a:spcAft>
              <a:buClr>
                <a:schemeClr val="dk1"/>
              </a:buClr>
              <a:buSzPct val="64706"/>
              <a:buFont typeface="Arial"/>
              <a:buNone/>
            </a:pPr>
            <a:r>
              <a:rPr lang="en-US" sz="1700">
                <a:solidFill>
                  <a:schemeClr val="dk1"/>
                </a:solidFill>
                <a:latin typeface="Times New Roman"/>
                <a:ea typeface="Times New Roman"/>
                <a:cs typeface="Times New Roman"/>
                <a:sym typeface="Times New Roman"/>
              </a:rPr>
              <a:t xml:space="preserve">Help-desk and customer-support platforms such as Vision Helpdesk, Zendesk, Freshdesk, Intercom and ServiceNow, and the companies that use them, receive complaints from app reviews, support tickets, chat and web forms. The same problem is reported many times in different words, so agents triage it again and again, and no one sees how many customers a single problem affects.</a:t>
            </a:r>
          </a:p>
          <a:p>
            <a:pPr indent="0" lvl="0" marL="0" rtl="0" algn="just">
              <a:lnSpc>
                <a:spcPct val="115000"/>
              </a:lnSpc>
              <a:spcBef>
                <a:spcPts val="1200"/>
              </a:spcBef>
              <a:spcAft>
                <a:spcPts val="0"/>
              </a:spcAft>
              <a:buClr>
                <a:schemeClr val="dk1"/>
              </a:buClr>
              <a:buSzPct val="64706"/>
              <a:buFont typeface="Arial"/>
              <a:buNone/>
            </a:pPr>
            <a:r>
              <a:rPr lang="en-US" sz="1700">
                <a:solidFill>
                  <a:schemeClr val="dk1"/>
                </a:solidFill>
                <a:latin typeface="Times New Roman"/>
                <a:ea typeface="Times New Roman"/>
                <a:cs typeface="Times New Roman"/>
                <a:sym typeface="Times New Roman"/>
              </a:rPr>
              <a:t xml:space="preserve">Existing tools group complaints by theme (“login”) rather than by problem (“the OTP never arrives”): keyword rules and topic models mix different problems, and a single similarity threshold either merges unrelated complaints or misses paraphrases. Feedback tools flag spikes with z-scores on whole categories, which miss a new problem growing from a low base.</a:t>
            </a:r>
          </a:p>
          <a:p>
            <a:pPr indent="0" lvl="0" marL="0" rtl="0" algn="just">
              <a:lnSpc>
                <a:spcPct val="115000"/>
              </a:lnSpc>
              <a:spcBef>
                <a:spcPts val="1200"/>
              </a:spcBef>
              <a:spcAft>
                <a:spcPts val="0"/>
              </a:spcAft>
              <a:buClr>
                <a:schemeClr val="dk1"/>
              </a:buClr>
              <a:buSzPct val="64706"/>
              <a:buFont typeface="Arial"/>
              <a:buNone/>
            </a:pPr>
            <a:r>
              <a:rPr lang="en-US" sz="1700">
                <a:solidFill>
                  <a:schemeClr val="dk1"/>
                </a:solidFill>
                <a:latin typeface="Times New Roman"/>
                <a:ea typeface="Times New Roman"/>
                <a:cs typeface="Times New Roman"/>
                <a:sym typeface="Times New Roman"/>
              </a:rPr>
              <a:t xml:space="preserve">There is a need for a system that groups raw complaints into problem-level cases as they arrive with high precision, tracks each case’s volume to raise incidents early, adds sentiment, topic and root cause, and routes each incident to the responsible department after a person approves it.</a:t>
            </a:r>
          </a:p>
          <a:p>
            <a:pPr indent="0" lvl="0" marL="0" rtl="0" algn="just">
              <a:spcBef>
                <a:spcPts val="1200"/>
              </a:spcBef>
              <a:spcAft>
                <a:spcPts val="0"/>
              </a:spcAft>
              <a:buClr>
                <a:schemeClr val="dk1"/>
              </a:buClr>
              <a:buSzPct val="68750"/>
              <a:buFont typeface="Arial"/>
              <a:buNone/>
            </a:pPr>
            <a:r>
              <a:t/>
            </a:r>
            <a:endParaRPr sz="1600">
              <a:solidFill>
                <a:schemeClr val="dk1"/>
              </a:solidFill>
              <a:latin typeface="Times New Roman"/>
              <a:ea typeface="Times New Roman"/>
              <a:cs typeface="Times New Roman"/>
              <a:sym typeface="Times New Roman"/>
            </a:endParaRPr>
          </a:p>
          <a:p>
            <a:pPr indent="0" lvl="0" marL="0" marR="0" rtl="0" algn="just">
              <a:lnSpc>
                <a:spcPct val="100000"/>
              </a:lnSpc>
              <a:spcBef>
                <a:spcPts val="0"/>
              </a:spcBef>
              <a:spcAft>
                <a:spcPts val="0"/>
              </a:spcAft>
              <a:buClr>
                <a:srgbClr val="000000"/>
              </a:buClr>
              <a:buSzPct val="100000"/>
              <a:buFont typeface="Arial"/>
              <a:buNone/>
            </a:pPr>
            <a:r>
              <a:t/>
            </a:r>
            <a:endParaRPr sz="1600">
              <a:solidFill>
                <a:schemeClr val="dk1"/>
              </a:solidFill>
              <a:latin typeface="Times New Roman"/>
              <a:ea typeface="Times New Roman"/>
              <a:cs typeface="Times New Roman"/>
              <a:sym typeface="Times New Roman"/>
            </a:endParaRPr>
          </a:p>
        </p:txBody>
      </p:sp>
      <p:sp>
        <p:nvSpPr>
          <p:cNvPr id="62" name="Google Shape;62;p10"/>
          <p:cNvSpPr txBox="1"/>
          <p:nvPr/>
        </p:nvSpPr>
        <p:spPr>
          <a:xfrm flipH="1" rot="10800000">
            <a:off x="-4575" y="1332317"/>
            <a:ext cx="2331000" cy="461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2"/>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LITERATURE SURVEY (1/3)</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00000"/>
          <a:ext cx="8150000" cy="2840000"/>
        </p:xfrm>
        <a:graphic>
          <a:graphicData uri="http://schemas.openxmlformats.org/drawingml/2006/table">
            <a:tbl>
              <a:tblPr>
                <a:noFill/>
                <a:tableStyleId>{ADC876BD-21E3-499D-94FC-3D607E5DCE7B}</a:tableStyleId>
              </a:tblPr>
              <a:tblGrid>
                <a:gridCol w="2050000"/>
                <a:gridCol w="1400000"/>
                <a:gridCol w="1600000"/>
                <a:gridCol w="1500000"/>
                <a:gridCol w="1600000"/>
              </a:tblGrid>
              <a:tr h="280000">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Paper (venue, year)</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Method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Parameters / thresholds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Limitation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Our improvement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“Release Planning of Mobile Apps Based on User Reviews” (CLAP) [1], ICSE 2016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Review features + DBSCAN clustering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eps 0.6 published; 0.75 tuned on our data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Batch only; groups by shared words (F1 0.24 on our data)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Online cases; LLM judge separates look-alike problems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“Towards More Accurate Retrieval of Duplicate Bug Reports” (REP) [2], ASE 2011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BM25F keyword retrieval + metadata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k1 = 1.2, b = 0.75; top-k candidates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Misses paraphrases; top-5 hit 0.43–0.44 vs our 0.46–0.56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Semantic retrieval + LLM verification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“Sentence-BERT: Sentence Embeddings using Siamese BERT-Networks” [3], EMNLP 2019</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Bi-encoder cosine similarity</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One cosine threshold per task</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One cut cannot be safe and inclusive (F1 ≈ 0.10)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Two calibrated cuts: t_low 0.26 / 0.40 and t_high 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“BERTopic: Neural Topic Modeling with a Class-Based TF-IDF Procedure” [4], 2022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Embeddings + UMAP + HDBSCAN topics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Library defaults (minimum topic size)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Topics are themes, not problems (precision 0.16)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Problem-level cases; topics only for routing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2"/>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81" name="Google Shape;81;p12"/>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82" name="Google Shape;82;p12"/>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83" name="Google Shape;83;p12"/>
          <p:cNvSpPr txBox="1"/>
          <p:nvPr/>
        </p:nvSpPr>
        <p:spPr>
          <a:xfrm>
            <a:off x="570230" y="1216657"/>
            <a:ext cx="8339400" cy="3476100"/>
          </a:xfrm>
          <a:prstGeom prst="rect">
            <a:avLst/>
          </a:prstGeom>
          <a:solidFill>
            <a:srgbClr val="000000">
              <a:alpha val="0"/>
            </a:srgbClr>
          </a:solidFill>
          <a:ln>
            <a:noFill/>
          </a:ln>
        </p:spPr>
        <p:txBody>
          <a:bodyPr anchorCtr="0" anchor="t" bIns="91400" lIns="91400" spcFirstLastPara="1" rIns="91400" wrap="square" tIns="91400">
            <a:normAutofit/>
          </a:bodyPr>
          <a:lstStyle/>
          <a:p>
            <a:pPr indent="0" lvl="0" marL="0" rtl="0" algn="ctr">
              <a:spcBef>
                <a:spcPts val="0"/>
              </a:spcBef>
              <a:spcAft>
                <a:spcPts val="0"/>
              </a:spcAft>
              <a:buNone/>
            </a:pPr>
            <a:r>
              <a:rPr b="1" i="0" lang="en-US" sz="1800">
                <a:solidFill>
                  <a:srgbClr val="000000"/>
                </a:solidFill>
                <a:latin typeface="Times New Roman"/>
                <a:ea typeface="Times New Roman"/>
                <a:cs typeface="Times New Roman"/>
                <a:sym typeface="Times New Roman"/>
              </a:rPr>
              <a:t>OBJECTIVE</a:t>
            </a:r>
            <a:endParaRPr b="1" i="0" sz="1800">
              <a:solidFill>
                <a:srgbClr val="000000"/>
              </a:solidFill>
              <a:latin typeface="Times New Roman"/>
              <a:ea typeface="Times New Roman"/>
              <a:cs typeface="Times New Roman"/>
              <a:sym typeface="Times New Roman"/>
            </a:endParaRPr>
          </a:p>
          <a:p>
            <a:pPr indent="0" lvl="0" marL="0" rtl="0" algn="ctr">
              <a:spcBef>
                <a:spcPts val="0"/>
              </a:spcBef>
              <a:spcAft>
                <a:spcPts val="0"/>
              </a:spcAft>
              <a:buNone/>
            </a:pPr>
            <a:r>
              <a:rPr b="1" i="0" lang="en-US">
                <a:solidFill>
                  <a:srgbClr val="000000"/>
                </a:solidFill>
                <a:latin typeface="Times New Roman"/>
                <a:ea typeface="Times New Roman"/>
                <a:cs typeface="Times New Roman"/>
                <a:sym typeface="Times New Roman"/>
              </a:rPr>
              <a:t> </a:t>
            </a:r>
            <a:endParaRPr b="1" i="0">
              <a:solidFill>
                <a:srgbClr val="000000"/>
              </a:solidFill>
              <a:latin typeface="Times New Roman"/>
              <a:ea typeface="Times New Roman"/>
              <a:cs typeface="Times New Roman"/>
              <a:sym typeface="Times New Roman"/>
            </a:endParaRPr>
          </a:p>
          <a:p>
            <a:pPr indent="-317500" lvl="0" marL="457200" rtl="0" algn="l">
              <a:spcBef>
                <a:spcPts val="0"/>
              </a:spcBef>
              <a:spcAft>
                <a:spcPts val="0"/>
              </a:spcAft>
              <a:buClr>
                <a:srgbClr val="000000"/>
              </a:buClr>
              <a:buSzPts val="1400"/>
              <a:buFont typeface="Times New Roman"/>
              <a:buChar char="●"/>
            </a:pPr>
            <a:r>
              <a:rPr lang="en-US">
                <a:solidFill>
                  <a:schemeClr val="dk1"/>
                </a:solidFill>
                <a:latin typeface="Times New Roman"/>
                <a:ea typeface="Times New Roman"/>
                <a:cs typeface="Times New Roman"/>
                <a:sym typeface="Times New Roman"/>
              </a:rPr>
              <a:t>Group duplicate complaints into problem-level cases as they arrive, using similarity retrieval and an LLM judge for uncertain matches.</a:t>
            </a:r>
            <a:endParaRPr>
              <a:solidFill>
                <a:schemeClr val="dk1"/>
              </a:solidFill>
              <a:latin typeface="Times New Roman"/>
              <a:ea typeface="Times New Roman"/>
              <a:cs typeface="Times New Roman"/>
              <a:sym typeface="Times New Roman"/>
            </a:endParaRPr>
          </a:p>
          <a:p>
            <a:pPr indent="-317500" lvl="0" marL="457200" rtl="0" algn="l">
              <a:spcBef>
                <a:spcPts val="1600"/>
              </a:spcBef>
              <a:spcAft>
                <a:spcPts val="0"/>
              </a:spcAft>
              <a:buClr>
                <a:srgbClr val="000000"/>
              </a:buClr>
              <a:buSzPts val="1400"/>
              <a:buFont typeface="Times New Roman"/>
              <a:buChar char="●"/>
            </a:pPr>
            <a:r>
              <a:rPr lang="en-US">
                <a:solidFill>
                  <a:schemeClr val="dk1"/>
                </a:solidFill>
                <a:latin typeface="Times New Roman"/>
                <a:ea typeface="Times New Roman"/>
                <a:cs typeface="Times New Roman"/>
                <a:sym typeface="Times New Roman"/>
              </a:rPr>
              <a:t>Measure customer sentiment using the RoBERTa model.</a:t>
            </a:r>
            <a:endParaRPr>
              <a:solidFill>
                <a:schemeClr val="dk1"/>
              </a:solidFill>
              <a:latin typeface="Times New Roman"/>
              <a:ea typeface="Times New Roman"/>
              <a:cs typeface="Times New Roman"/>
              <a:sym typeface="Times New Roman"/>
            </a:endParaRPr>
          </a:p>
          <a:p>
            <a:pPr indent="-317500" lvl="0" marL="457200" rtl="0" algn="l">
              <a:spcBef>
                <a:spcPts val="1600"/>
              </a:spcBef>
              <a:spcAft>
                <a:spcPts val="0"/>
              </a:spcAft>
              <a:buClr>
                <a:srgbClr val="000000"/>
              </a:buClr>
              <a:buSzPts val="1400"/>
              <a:buFont typeface="Times New Roman"/>
              <a:buChar char="●"/>
            </a:pPr>
            <a:r>
              <a:rPr lang="en-US">
                <a:solidFill>
                  <a:schemeClr val="dk1"/>
                </a:solidFill>
                <a:latin typeface="Times New Roman"/>
                <a:ea typeface="Times New Roman"/>
                <a:cs typeface="Times New Roman"/>
                <a:sym typeface="Times New Roman"/>
              </a:rPr>
              <a:t>Find complaint topics automatically with BERTopic and route each to the responsible department.</a:t>
            </a:r>
            <a:endParaRPr>
              <a:solidFill>
                <a:schemeClr val="dk1"/>
              </a:solidFill>
              <a:latin typeface="Times New Roman"/>
              <a:ea typeface="Times New Roman"/>
              <a:cs typeface="Times New Roman"/>
              <a:sym typeface="Times New Roman"/>
            </a:endParaRPr>
          </a:p>
          <a:p>
            <a:pPr indent="-317500" lvl="0" marL="457200" rtl="0" algn="l">
              <a:spcBef>
                <a:spcPts val="1600"/>
              </a:spcBef>
              <a:spcAft>
                <a:spcPts val="0"/>
              </a:spcAft>
              <a:buClr>
                <a:srgbClr val="000000"/>
              </a:buClr>
              <a:buSzPts val="1400"/>
              <a:buFont typeface="Times New Roman"/>
              <a:buChar char="●"/>
            </a:pPr>
            <a:r>
              <a:rPr lang="en-US">
                <a:solidFill>
                  <a:schemeClr val="dk1"/>
                </a:solidFill>
                <a:latin typeface="Times New Roman"/>
                <a:ea typeface="Times New Roman"/>
                <a:cs typeface="Times New Roman"/>
                <a:sym typeface="Times New Roman"/>
              </a:rPr>
              <a:t>Detect sudden spikes with a Poisson CUSUM and raise an alarm on surges of vague complaints.</a:t>
            </a:r>
            <a:endParaRPr>
              <a:solidFill>
                <a:schemeClr val="dk1"/>
              </a:solidFill>
              <a:latin typeface="Times New Roman"/>
              <a:ea typeface="Times New Roman"/>
              <a:cs typeface="Times New Roman"/>
              <a:sym typeface="Times New Roman"/>
            </a:endParaRPr>
          </a:p>
          <a:p>
            <a:pPr indent="-317500" lvl="0" marL="457200" rtl="0" algn="l">
              <a:spcBef>
                <a:spcPts val="1600"/>
              </a:spcBef>
              <a:spcAft>
                <a:spcPts val="0"/>
              </a:spcAft>
              <a:buClr>
                <a:srgbClr val="000000"/>
              </a:buClr>
              <a:buSzPts val="1400"/>
              <a:buFont typeface="Times New Roman"/>
              <a:buChar char="●"/>
            </a:pPr>
            <a:r>
              <a:rPr lang="en-US">
                <a:solidFill>
                  <a:schemeClr val="dk1"/>
                </a:solidFill>
                <a:latin typeface="Times New Roman"/>
                <a:ea typeface="Times New Roman"/>
                <a:cs typeface="Times New Roman"/>
                <a:sym typeface="Times New Roman"/>
              </a:rPr>
              <a:t>Explain the root cause with an LLM, with a human approving every escalation.</a:t>
            </a:r>
            <a:endParaRPr>
              <a:solidFill>
                <a:schemeClr val="dk1"/>
              </a:solidFill>
              <a:latin typeface="Times New Roman"/>
              <a:ea typeface="Times New Roman"/>
              <a:cs typeface="Times New Roman"/>
              <a:sym typeface="Times New Roman"/>
            </a:endParaRPr>
          </a:p>
          <a:p>
            <a:pPr indent="0" lvl="0" marL="457200" rtl="0" algn="l">
              <a:spcBef>
                <a:spcPts val="1600"/>
              </a:spcBef>
              <a:spcAft>
                <a:spcPts val="1600"/>
              </a:spcAft>
              <a:buNone/>
            </a:pPr>
            <a:r>
              <a:t/>
            </a:r>
            <a:endParaRPr sz="1600">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sp>
        <p:nvSpPr>
          <p:cNvPr id="88" name="Google Shape;88;p13"/>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89" name="Google Shape;89;p13"/>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90" name="Google Shape;90;p13"/>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91" name="Google Shape;91;p13"/>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92" name="Google Shape;92;p13"/>
          <p:cNvSpPr/>
          <p:nvPr/>
        </p:nvSpPr>
        <p:spPr>
          <a:xfrm>
            <a:off x="8909371" y="1288085"/>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93" name="Google Shape;93;p13"/>
          <p:cNvSpPr/>
          <p:nvPr/>
        </p:nvSpPr>
        <p:spPr>
          <a:xfrm>
            <a:off x="1728300" y="1219200"/>
            <a:ext cx="5687400" cy="3228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000000"/>
                </a:solidFill>
                <a:latin typeface="Times New Roman"/>
                <a:ea typeface="Times New Roman"/>
                <a:cs typeface="Times New Roman"/>
                <a:sym typeface="Times New Roman"/>
              </a:rPr>
              <a:t>FLOW CHART </a:t>
            </a:r>
            <a:endParaRPr b="1" i="0" sz="1600" u="none" cap="none" strike="noStrike">
              <a:solidFill>
                <a:srgbClr val="000000"/>
              </a:solidFill>
              <a:latin typeface="Times New Roman"/>
              <a:ea typeface="Times New Roman"/>
              <a:cs typeface="Times New Roman"/>
              <a:sym typeface="Times New Roman"/>
            </a:endParaRPr>
          </a:p>
        </p:txBody>
      </p:sp>
      <p:pic>
        <p:nvPicPr>
          <p:cNvPr id="94" name="Google Shape;94;p13" title="InsightDesk_flowchart.png"/>
          <p:cNvPicPr preferRelativeResize="0"/>
          <p:nvPr/>
        </p:nvPicPr>
        <p:blipFill rotWithShape="1">
          <a:blip r:embed="rId4">
            <a:alphaModFix/>
          </a:blip>
          <a:srcRect b="9198" l="0" r="0" t="0"/>
          <a:stretch/>
        </p:blipFill>
        <p:spPr>
          <a:xfrm>
            <a:off x="560000" y="1560000"/>
            <a:ext cx="8020000" cy="3568422"/>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14"/>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00" name="Google Shape;100;p14"/>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01" name="Google Shape;101;p14"/>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02" name="Google Shape;102;p14"/>
          <p:cNvSpPr txBox="1"/>
          <p:nvPr/>
        </p:nvSpPr>
        <p:spPr>
          <a:xfrm>
            <a:off x="850500" y="1271075"/>
            <a:ext cx="74430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lang="en-US" sz="1800">
                <a:latin typeface="Times New Roman"/>
                <a:ea typeface="Times New Roman"/>
                <a:cs typeface="Times New Roman"/>
                <a:sym typeface="Times New Roman"/>
              </a:rPr>
              <a:t>IMPLEMENTATION (1/2)</a:t>
            </a:r>
            <a:endParaRPr b="1" i="0" sz="1800" u="none" cap="none" strike="noStrike">
              <a:solidFill>
                <a:srgbClr val="000000"/>
              </a:solidFill>
              <a:latin typeface="Times New Roman"/>
              <a:ea typeface="Times New Roman"/>
              <a:cs typeface="Times New Roman"/>
              <a:sym typeface="Times New Roman"/>
            </a:endParaRPr>
          </a:p>
        </p:txBody>
      </p:sp>
      <p:sp>
        <p:nvSpPr>
          <p:cNvPr id="103" name="Google Shape;103;p14"/>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04" name="Google Shape;104;p14"/>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05" name="Google Shape;105;p14"/>
          <p:cNvSpPr txBox="1"/>
          <p:nvPr/>
        </p:nvSpPr>
        <p:spPr>
          <a:xfrm>
            <a:off x="660400" y="1568450"/>
            <a:ext cx="7408545" cy="2802255"/>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600"/>
              </a:spcAft>
              <a:buNone/>
            </a:pPr>
            <a:r>
              <a:rPr b="1" lang="en-US" sz="1250">
                <a:solidFill>
                  <a:schemeClr val="dk1"/>
                </a:solidFill>
                <a:latin typeface="Times New Roman"/>
                <a:ea typeface="Times New Roman"/>
                <a:cs typeface="Times New Roman"/>
                <a:sym typeface="Times New Roman"/>
              </a:rPr>
              <a:t xml:space="preserve">Running example: a customer writes “Can't log in since the update, the OTP never arrives”.</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Intake &amp; Cleaning:</a:t>
            </a:r>
            <a:r>
              <a:rPr lang="en-US" sz="1300">
                <a:solidFill>
                  <a:schemeClr val="dk1"/>
                </a:solidFill>
                <a:latin typeface="Times New Roman"/>
                <a:ea typeface="Times New Roman"/>
                <a:cs typeface="Times New Roman"/>
                <a:sym typeface="Times New Roman"/>
              </a:rPr>
              <a:t xml:space="preserve"> the signed-in customer submits through the React app; filler such as “Hi team, please help” is removed, while negations like “can't” are kept.</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Embedding &amp; Retrieval:</a:t>
            </a:r>
            <a:r>
              <a:rPr lang="en-US" sz="1300">
                <a:solidFill>
                  <a:schemeClr val="dk1"/>
                </a:solidFill>
                <a:latin typeface="Times New Roman"/>
                <a:ea typeface="Times New Roman"/>
                <a:cs typeface="Times New Roman"/>
                <a:sym typeface="Times New Roman"/>
              </a:rPr>
              <a:t xml:space="preserve"> MiniLM turns the text into a vector; Pinecone returns the 5 most similar cases of the same product, e.g. “OTP not received on login” (similarity 0.71).</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Decision Band:</a:t>
            </a:r>
            <a:r>
              <a:rPr lang="en-US" sz="1300">
                <a:solidFill>
                  <a:schemeClr val="dk1"/>
                </a:solidFill>
                <a:latin typeface="Times New Roman"/>
                <a:ea typeface="Times New Roman"/>
                <a:cs typeface="Times New Roman"/>
                <a:sym typeface="Times New Roman"/>
              </a:rPr>
              <a:t xml:space="preserve"> similarity ≥ 0.8306 joins automatically; below t_low (0.40 for app reviews and chat, 0.26 for tickets) opens a new case; our 0.71 falls in between, so the LLM judge decides.</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LLM Judge:</a:t>
            </a:r>
            <a:r>
              <a:rPr lang="en-US" sz="1300">
                <a:solidFill>
                  <a:schemeClr val="dk1"/>
                </a:solidFill>
                <a:latin typeface="Times New Roman"/>
                <a:ea typeface="Times New Roman"/>
                <a:cs typeface="Times New Roman"/>
                <a:sym typeface="Times New Roman"/>
              </a:rPr>
              <a:t xml:space="preserve"> gpt-oss-120b compares the symptom: “OTP never arrives” = same problem, so the complaint joins that case (count +1); “login is slow” would open a new case.</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Same-User Rule:</a:t>
            </a:r>
            <a:r>
              <a:rPr lang="en-US" sz="1300">
                <a:solidFill>
                  <a:schemeClr val="dk1"/>
                </a:solidFill>
                <a:latin typeface="Times New Roman"/>
                <a:ea typeface="Times New Roman"/>
                <a:cs typeface="Times New Roman"/>
                <a:sym typeface="Times New Roman"/>
              </a:rPr>
              <a:t xml:space="preserve"> if the same customer repeats this complaint within 24 hours, it is attached to the case but not counted again.</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5"/>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11" name="Google Shape;111;p15"/>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12" name="Google Shape;112;p15"/>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13" name="Google Shape;113;p15"/>
          <p:cNvSpPr txBox="1"/>
          <p:nvPr/>
        </p:nvSpPr>
        <p:spPr>
          <a:xfrm>
            <a:off x="850500" y="1271075"/>
            <a:ext cx="74430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lang="en-US" sz="1800">
                <a:latin typeface="Times New Roman"/>
                <a:ea typeface="Times New Roman"/>
                <a:cs typeface="Times New Roman"/>
                <a:sym typeface="Times New Roman"/>
              </a:rPr>
              <a:t>IMPLEMENTATION (2/2)</a:t>
            </a:r>
            <a:endParaRPr b="1" i="0" sz="1800" u="none" cap="none" strike="noStrike">
              <a:solidFill>
                <a:srgbClr val="000000"/>
              </a:solidFill>
              <a:latin typeface="Times New Roman"/>
              <a:ea typeface="Times New Roman"/>
              <a:cs typeface="Times New Roman"/>
              <a:sym typeface="Times New Roman"/>
            </a:endParaRPr>
          </a:p>
        </p:txBody>
      </p:sp>
      <p:sp>
        <p:nvSpPr>
          <p:cNvPr id="114" name="Google Shape;114;p15"/>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5" name="Google Shape;115;p15"/>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6" name="Google Shape;116;p15"/>
          <p:cNvSpPr txBox="1"/>
          <p:nvPr/>
        </p:nvSpPr>
        <p:spPr>
          <a:xfrm>
            <a:off x="713875" y="1579150"/>
            <a:ext cx="7408500" cy="2802300"/>
          </a:xfrm>
          <a:prstGeom prst="rect">
            <a:avLst/>
          </a:prstGeom>
          <a:noFill/>
          <a:ln>
            <a:noFill/>
          </a:ln>
        </p:spPr>
        <p:txBody>
          <a:bodyPr anchorCtr="0" anchor="t" bIns="91425" lIns="91425" spcFirstLastPara="1" rIns="91425" wrap="square" tIns="91425">
            <a:noAutofit/>
          </a:bodyPr>
          <a:lstStyle/>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Case Re-joining (every 6 h):</a:t>
            </a:r>
            <a:r>
              <a:rPr lang="en-US" sz="1300">
                <a:solidFill>
                  <a:schemeClr val="dk1"/>
                </a:solidFill>
                <a:latin typeface="Times New Roman"/>
                <a:ea typeface="Times New Roman"/>
                <a:cs typeface="Times New Roman"/>
                <a:sym typeface="Times New Roman"/>
              </a:rPr>
              <a:t xml:space="preserve"> the LLM merges cases that report one problem, e.g. “no dark mode” and “needs dark mode” become one case.</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Sentiment &amp; Topics:</a:t>
            </a:r>
            <a:r>
              <a:rPr lang="en-US" sz="1300">
                <a:solidFill>
                  <a:schemeClr val="dk1"/>
                </a:solidFill>
                <a:latin typeface="Times New Roman"/>
                <a:ea typeface="Times New Roman"/>
                <a:cs typeface="Times New Roman"/>
                <a:sym typeface="Times New Roman"/>
              </a:rPr>
              <a:t xml:space="preserve"> RoBERTa labels the case negative; BERTopic places it under an Authentication topic, which carries the responsible department.</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Spike Detection:</a:t>
            </a:r>
            <a:r>
              <a:rPr lang="en-US" sz="1300">
                <a:solidFill>
                  <a:schemeClr val="dk1"/>
                </a:solidFill>
                <a:latin typeface="Times New Roman"/>
                <a:ea typeface="Times New Roman"/>
                <a:cs typeface="Times New Roman"/>
                <a:sym typeface="Times New Roman"/>
              </a:rPr>
              <a:t xml:space="preserve"> a Poisson CUSUM watches each case and group of similar cases; 5 OTP complaints in 6 hours against a usual 0.1 raises a spike.</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Vague-Complaint Alarm:</a:t>
            </a:r>
            <a:r>
              <a:rPr lang="en-US" sz="1300">
                <a:solidFill>
                  <a:schemeClr val="dk1"/>
                </a:solidFill>
                <a:latin typeface="Times New Roman"/>
                <a:ea typeface="Times New Roman"/>
                <a:cs typeface="Times New Roman"/>
                <a:sym typeface="Times New Roman"/>
              </a:rPr>
              <a:t xml:space="preserve"> a surge of “app not working” complaints that fit no case still raises a product-level alarm.</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Root Cause &amp; Escalation:</a:t>
            </a:r>
            <a:r>
              <a:rPr lang="en-US" sz="1300">
                <a:solidFill>
                  <a:schemeClr val="dk1"/>
                </a:solidFill>
                <a:latin typeface="Times New Roman"/>
                <a:ea typeface="Times New Roman"/>
                <a:cs typeface="Times New Roman"/>
                <a:sym typeface="Times New Roman"/>
              </a:rPr>
              <a:t xml:space="preserve"> with 3+ reports or a spike the case is eligible; the LLM writes a grounded root cause (cause, severity, action, evidence) and an operator approves the email to the department.</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16"/>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22" name="Google Shape;122;p16"/>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23" name="Google Shape;123;p16"/>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24" name="Google Shape;124;p16"/>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5" name="Google Shape;125;p16"/>
          <p:cNvSpPr/>
          <p:nvPr/>
        </p:nvSpPr>
        <p:spPr>
          <a:xfrm>
            <a:off x="8909371" y="1288085"/>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6" name="Google Shape;126;p16"/>
          <p:cNvSpPr/>
          <p:nvPr/>
        </p:nvSpPr>
        <p:spPr>
          <a:xfrm>
            <a:off x="1631250" y="1287476"/>
            <a:ext cx="5687400" cy="3228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rPr b="1" lang="en-US" sz="1600">
                <a:latin typeface="Times New Roman"/>
                <a:ea typeface="Times New Roman"/>
                <a:cs typeface="Times New Roman"/>
                <a:sym typeface="Times New Roman"/>
              </a:rPr>
              <a:t>RESULTS: GROUPING QUALITY</a:t>
            </a:r>
            <a:endParaRPr b="1" i="0" sz="1600" u="none" cap="none" strike="noStrike">
              <a:solidFill>
                <a:srgbClr val="000000"/>
              </a:solidFill>
              <a:latin typeface="Times New Roman"/>
              <a:ea typeface="Times New Roman"/>
              <a:cs typeface="Times New Roman"/>
              <a:sym typeface="Times New Roman"/>
            </a:endParaRPr>
          </a:p>
        </p:txBody>
      </p:sp>
      <p:pic>
        <p:nvPicPr>
          <p:cNvPr id="127" name="Google Shape;127;p16"/>
          <p:cNvPicPr preferRelativeResize="0"/>
          <p:nvPr/>
        </p:nvPicPr>
        <p:blipFill>
          <a:blip r:embed="rId4">
            <a:alphaModFix/>
          </a:blip>
          <a:stretch>
            <a:fillRect/>
          </a:stretch>
        </p:blipFill>
        <p:spPr>
          <a:xfrm>
            <a:off x="380000" y="1640000"/>
            <a:ext cx="5350000" cy="3216369"/>
          </a:xfrm>
          <a:prstGeom prst="rect">
            <a:avLst/>
          </a:prstGeom>
          <a:noFill/>
          <a:ln>
            <a:noFill/>
          </a:ln>
        </p:spPr>
      </p:pic>
      <p:sp>
        <p:nvSpPr>
          <p:cNvPr id="909" name="Results text 909"/>
          <p:cNvSpPr txBox="1"/>
          <p:nvPr/>
        </p:nvSpPr>
        <p:spPr>
          <a:xfrm>
            <a:off x="5850000" y="1600000"/>
            <a:ext cx="3050000" cy="3150000"/>
          </a:xfrm>
          <a:prstGeom prst="rect">
            <a:avLst/>
          </a:prstGeom>
          <a:noFill/>
          <a:ln>
            <a:noFill/>
          </a:ln>
        </p:spPr>
        <p:txBody>
          <a:bodyPr anchorCtr="0" anchor="t" bIns="45720" lIns="45720" spcFirstLastPara="1" rIns="45720" wrap="square" tIns="45720">
            <a:noAutofit/>
          </a:bodyPr>
          <a:lstStyle/>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Precision 0.83</a:t>
            </a:r>
            <a:r>
              <a:rPr lang="en-US" sz="1200">
                <a:solidFill>
                  <a:schemeClr val="dk1"/>
                </a:solidFill>
                <a:latin typeface="Times New Roman"/>
                <a:ea typeface="Times New Roman"/>
                <a:cs typeface="Times New Roman"/>
                <a:sym typeface="Times New Roman"/>
              </a:rPr>
              <a:t xml:space="preserve"> on human-labelled Play Store reviews (0.80 before the short-text setting).</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F1 0.49</a:t>
            </a:r>
            <a:r>
              <a:rPr lang="en-US" sz="1200">
                <a:solidFill>
                  <a:schemeClr val="dk1"/>
                </a:solidFill>
                <a:latin typeface="Times New Roman"/>
                <a:ea typeface="Times New Roman"/>
                <a:cs typeface="Times New Roman"/>
                <a:sym typeface="Times New Roman"/>
              </a:rPr>
              <a:t xml:space="preserve"> vs at most 0.25 for every competitor on the same data.</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Firefox bug reports:</a:t>
            </a:r>
            <a:r>
              <a:rPr lang="en-US" sz="1200">
                <a:solidFill>
                  <a:schemeClr val="dk1"/>
                </a:solidFill>
                <a:latin typeface="Times New Roman"/>
                <a:ea typeface="Times New Roman"/>
                <a:cs typeface="Times New Roman"/>
                <a:sym typeface="Times New Roman"/>
              </a:rPr>
              <a:t xml:space="preserve"> F1 0.78 with thresholds unchanged.</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At precision 0.80 or more:</a:t>
            </a:r>
            <a:r>
              <a:rPr lang="en-US" sz="1200">
                <a:solidFill>
                  <a:schemeClr val="dk1"/>
                </a:solidFill>
                <a:latin typeface="Times New Roman"/>
                <a:ea typeface="Times New Roman"/>
                <a:cs typeface="Times New Roman"/>
                <a:sym typeface="Times New Roman"/>
              </a:rPr>
              <a:t xml:space="preserve"> 35% of duplicates found vs about 1% for BM25, MinHash and SimHash.</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7"/>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33" name="Google Shape;133;p17"/>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34" name="Google Shape;134;p17"/>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35" name="Google Shape;135;p17"/>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36" name="Google Shape;136;p17"/>
          <p:cNvSpPr txBox="1"/>
          <p:nvPr/>
        </p:nvSpPr>
        <p:spPr>
          <a:xfrm>
            <a:off x="2995049" y="1217600"/>
            <a:ext cx="3024900" cy="45847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i="0" lang="en-US" sz="1800" u="none" cap="none" strike="noStrike">
                <a:solidFill>
                  <a:srgbClr val="000000"/>
                </a:solidFill>
                <a:latin typeface="Times New Roman"/>
                <a:ea typeface="Times New Roman"/>
                <a:cs typeface="Times New Roman"/>
                <a:sym typeface="Times New Roman"/>
              </a:rPr>
              <a:t>APPLICATIONS</a:t>
            </a:r>
            <a:endParaRPr b="1" i="0" sz="1800" u="none" cap="none" strike="noStrike">
              <a:solidFill>
                <a:srgbClr val="000000"/>
              </a:solidFill>
              <a:latin typeface="Times New Roman"/>
              <a:ea typeface="Times New Roman"/>
              <a:cs typeface="Times New Roman"/>
              <a:sym typeface="Times New Roman"/>
            </a:endParaRPr>
          </a:p>
        </p:txBody>
      </p:sp>
      <p:sp>
        <p:nvSpPr>
          <p:cNvPr id="137" name="Google Shape;137;p17"/>
          <p:cNvSpPr txBox="1"/>
          <p:nvPr/>
        </p:nvSpPr>
        <p:spPr>
          <a:xfrm>
            <a:off x="697200" y="1610300"/>
            <a:ext cx="7620600" cy="3156000"/>
          </a:xfrm>
          <a:prstGeom prst="rect">
            <a:avLst/>
          </a:prstGeom>
          <a:noFill/>
          <a:ln>
            <a:noFill/>
          </a:ln>
        </p:spPr>
        <p:txBody>
          <a:bodyPr anchorCtr="0" anchor="t" bIns="91425" lIns="91425" spcFirstLastPara="1" rIns="91425" wrap="square" tIns="91425">
            <a:noAutofit/>
          </a:bodyPr>
          <a:lstStyle/>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Customer Support Analytics: </a:t>
            </a:r>
            <a:r>
              <a:rPr lang="en-US" sz="1600">
                <a:solidFill>
                  <a:schemeClr val="dk1"/>
                </a:solidFill>
                <a:latin typeface="Times New Roman"/>
                <a:ea typeface="Times New Roman"/>
                <a:cs typeface="Times New Roman"/>
                <a:sym typeface="Times New Roman"/>
              </a:rPr>
              <a:t>Detect recurring issues automatically</a:t>
            </a:r>
            <a:endParaRPr sz="1600">
              <a:solidFill>
                <a:schemeClr val="dk1"/>
              </a:solidFill>
              <a:latin typeface="Times New Roman"/>
              <a:ea typeface="Times New Roman"/>
              <a:cs typeface="Times New Roman"/>
              <a:sym typeface="Times New Roman"/>
            </a:endParaRPr>
          </a:p>
          <a:p>
            <a:pPr indent="0" lvl="0" marL="457200" rtl="0" algn="just">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Mobile App Monitoring:</a:t>
            </a:r>
            <a:r>
              <a:rPr lang="en-US" sz="1600">
                <a:solidFill>
                  <a:schemeClr val="dk1"/>
                </a:solidFill>
                <a:latin typeface="Times New Roman"/>
                <a:ea typeface="Times New Roman"/>
                <a:cs typeface="Times New Roman"/>
                <a:sym typeface="Times New Roman"/>
              </a:rPr>
              <a:t> Find crashes and bugs from reviews</a:t>
            </a:r>
            <a:endParaRPr sz="1600">
              <a:solidFill>
                <a:schemeClr val="dk1"/>
              </a:solidFill>
              <a:latin typeface="Times New Roman"/>
              <a:ea typeface="Times New Roman"/>
              <a:cs typeface="Times New Roman"/>
              <a:sym typeface="Times New Roman"/>
            </a:endParaRPr>
          </a:p>
          <a:p>
            <a:pPr indent="0" lvl="0" marL="457200" rtl="0" algn="just">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Banking / Finance:</a:t>
            </a:r>
            <a:r>
              <a:rPr lang="en-US" sz="1600">
                <a:solidFill>
                  <a:schemeClr val="dk1"/>
                </a:solidFill>
                <a:latin typeface="Times New Roman"/>
                <a:ea typeface="Times New Roman"/>
                <a:cs typeface="Times New Roman"/>
                <a:sym typeface="Times New Roman"/>
              </a:rPr>
              <a:t> Detect transaction complaints</a:t>
            </a:r>
            <a:endParaRPr sz="1600">
              <a:solidFill>
                <a:schemeClr val="dk1"/>
              </a:solidFill>
              <a:latin typeface="Times New Roman"/>
              <a:ea typeface="Times New Roman"/>
              <a:cs typeface="Times New Roman"/>
              <a:sym typeface="Times New Roman"/>
            </a:endParaRPr>
          </a:p>
          <a:p>
            <a:pPr indent="0" lvl="0" marL="457200" rtl="0" algn="just">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E-commerce:</a:t>
            </a:r>
            <a:r>
              <a:rPr lang="en-US" sz="1600">
                <a:solidFill>
                  <a:schemeClr val="dk1"/>
                </a:solidFill>
                <a:latin typeface="Times New Roman"/>
                <a:ea typeface="Times New Roman"/>
                <a:cs typeface="Times New Roman"/>
                <a:sym typeface="Times New Roman"/>
              </a:rPr>
              <a:t> Analyze delivery and payment issues</a:t>
            </a:r>
            <a:endParaRPr sz="1600">
              <a:solidFill>
                <a:schemeClr val="dk1"/>
              </a:solidFill>
              <a:latin typeface="Times New Roman"/>
              <a:ea typeface="Times New Roman"/>
              <a:cs typeface="Times New Roman"/>
              <a:sym typeface="Times New Roman"/>
            </a:endParaRPr>
          </a:p>
          <a:p>
            <a:pPr indent="0" lvl="0" marL="457200" rtl="0" algn="just">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Helpdesk Automation:</a:t>
            </a:r>
            <a:r>
              <a:rPr lang="en-US" sz="1600">
                <a:solidFill>
                  <a:schemeClr val="dk1"/>
                </a:solidFill>
                <a:latin typeface="Times New Roman"/>
                <a:ea typeface="Times New Roman"/>
                <a:cs typeface="Times New Roman"/>
                <a:sym typeface="Times New Roman"/>
              </a:rPr>
              <a:t> Generate diagnostics automatically</a:t>
            </a:r>
            <a:endParaRPr sz="1600">
              <a:solidFill>
                <a:schemeClr val="dk1"/>
              </a:solidFill>
              <a:latin typeface="Times New Roman"/>
              <a:ea typeface="Times New Roman"/>
              <a:cs typeface="Times New Roman"/>
              <a:sym typeface="Times New Roman"/>
            </a:endParaRPr>
          </a:p>
          <a:p>
            <a:pPr indent="0" lvl="0" marL="0" rtl="0" algn="just">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AI-Powered Monitoring Systems:</a:t>
            </a:r>
            <a:r>
              <a:rPr lang="en-US" sz="1600">
                <a:solidFill>
                  <a:schemeClr val="dk1"/>
                </a:solidFill>
                <a:latin typeface="Times New Roman"/>
                <a:ea typeface="Times New Roman"/>
                <a:cs typeface="Times New Roman"/>
                <a:sym typeface="Times New Roman"/>
              </a:rPr>
              <a:t> Real-time complaint analysis</a:t>
            </a:r>
            <a:endParaRPr sz="1600">
              <a:solidFill>
                <a:schemeClr val="dk1"/>
              </a:solidFill>
              <a:latin typeface="Times New Roman"/>
              <a:ea typeface="Times New Roman"/>
              <a:cs typeface="Times New Roman"/>
              <a:sym typeface="Times New Roman"/>
            </a:endParaRPr>
          </a:p>
          <a:p>
            <a:pPr indent="-215900" lvl="0" marL="285750" marR="0" rtl="0" algn="just">
              <a:lnSpc>
                <a:spcPct val="100000"/>
              </a:lnSpc>
              <a:spcBef>
                <a:spcPts val="0"/>
              </a:spcBef>
              <a:spcAft>
                <a:spcPts val="0"/>
              </a:spcAft>
              <a:buClr>
                <a:schemeClr val="dk1"/>
              </a:buClr>
              <a:buSzPts val="1100"/>
              <a:buFont typeface="Arial"/>
              <a:buNone/>
            </a:pPr>
            <a:r>
              <a:t/>
            </a:r>
            <a:endParaRPr b="0" i="0" sz="1300" u="none" cap="none" strike="noStrike">
              <a:solidFill>
                <a:schemeClr val="dk1"/>
              </a:solidFill>
              <a:latin typeface="Times New Roman"/>
              <a:ea typeface="Times New Roman"/>
              <a:cs typeface="Times New Roman"/>
              <a:sym typeface="Times New Roman"/>
            </a:endParaRPr>
          </a:p>
          <a:p>
            <a:pPr indent="-215900" lvl="0" marL="285750" marR="0" rtl="0" algn="just">
              <a:lnSpc>
                <a:spcPct val="100000"/>
              </a:lnSpc>
              <a:spcBef>
                <a:spcPts val="0"/>
              </a:spcBef>
              <a:spcAft>
                <a:spcPts val="0"/>
              </a:spcAft>
              <a:buClr>
                <a:schemeClr val="dk1"/>
              </a:buClr>
              <a:buSzPts val="1100"/>
              <a:buFont typeface="Arial"/>
              <a:buNone/>
            </a:pPr>
            <a:r>
              <a:t/>
            </a:r>
            <a:endParaRPr b="0" i="0" sz="13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18"/>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43" name="Google Shape;143;p18"/>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44" name="Google Shape;144;p18"/>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45" name="Google Shape;145;p18"/>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46" name="Google Shape;146;p18"/>
          <p:cNvSpPr txBox="1"/>
          <p:nvPr/>
        </p:nvSpPr>
        <p:spPr>
          <a:xfrm>
            <a:off x="3059544" y="1217611"/>
            <a:ext cx="30249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i="0" lang="en-US" sz="1800" u="none" cap="none" strike="noStrike">
                <a:solidFill>
                  <a:srgbClr val="000000"/>
                </a:solidFill>
                <a:latin typeface="Times New Roman"/>
                <a:ea typeface="Times New Roman"/>
                <a:cs typeface="Times New Roman"/>
                <a:sym typeface="Times New Roman"/>
              </a:rPr>
              <a:t>FUTURE SCOPE</a:t>
            </a:r>
            <a:endParaRPr/>
          </a:p>
        </p:txBody>
      </p:sp>
      <p:sp>
        <p:nvSpPr>
          <p:cNvPr id="147" name="Google Shape;147;p18"/>
          <p:cNvSpPr txBox="1"/>
          <p:nvPr/>
        </p:nvSpPr>
        <p:spPr>
          <a:xfrm>
            <a:off x="480695" y="1675765"/>
            <a:ext cx="8663305" cy="3482975"/>
          </a:xfrm>
          <a:prstGeom prst="rect">
            <a:avLst/>
          </a:prstGeom>
          <a:noFill/>
          <a:ln>
            <a:noFill/>
          </a:ln>
        </p:spPr>
        <p:txBody>
          <a:bodyPr anchorCtr="0" anchor="t" bIns="91425" lIns="91425" spcFirstLastPara="1" rIns="91425" wrap="square" tIns="91425">
            <a:normAutofit/>
          </a:bodyPr>
          <a:lstStyle/>
          <a:p>
            <a:pPr indent="-285750" lvl="0" marL="342900" rtl="0" algn="l">
              <a:spcBef>
                <a:spcPts val="0"/>
              </a:spcBef>
              <a:spcAft>
                <a:spcPts val="900"/>
              </a:spcAft>
              <a:buClr>
                <a:schemeClr val="dk1"/>
              </a:buClr>
              <a:buSzPts val="1500"/>
              <a:buFont typeface="Times New Roman"/>
              <a:buChar char="●"/>
            </a:pPr>
            <a:r>
              <a:rPr lang="en-US" sz="1500">
                <a:solidFill>
                  <a:schemeClr val="dk1"/>
                </a:solidFill>
                <a:latin typeface="Times New Roman"/>
                <a:ea typeface="Times New Roman"/>
                <a:cs typeface="Times New Roman"/>
                <a:sym typeface="Times New Roman"/>
              </a:rPr>
              <a:t xml:space="preserve">Package the app with Docker and deploy it on GCP or Azure (free tier).</a:t>
            </a:r>
          </a:p>
          <a:p>
            <a:pPr indent="-285750" lvl="0" marL="342900" rtl="0" algn="l">
              <a:spcBef>
                <a:spcPts val="0"/>
              </a:spcBef>
              <a:spcAft>
                <a:spcPts val="900"/>
              </a:spcAft>
              <a:buClr>
                <a:schemeClr val="dk1"/>
              </a:buClr>
              <a:buSzPts val="1500"/>
              <a:buFont typeface="Times New Roman"/>
              <a:buChar char="●"/>
            </a:pPr>
            <a:r>
              <a:rPr lang="en-US" sz="1500">
                <a:solidFill>
                  <a:schemeClr val="dk1"/>
                </a:solidFill>
                <a:latin typeface="Times New Roman"/>
                <a:ea typeface="Times New Roman"/>
                <a:cs typeface="Times New Roman"/>
                <a:sym typeface="Times New Roman"/>
              </a:rPr>
              <a:t xml:space="preserve">Host the open-weight LLM locally for full data privacy.</a:t>
            </a:r>
          </a:p>
          <a:p>
            <a:pPr indent="-285750" lvl="0" marL="342900" rtl="0" algn="l">
              <a:spcBef>
                <a:spcPts val="0"/>
              </a:spcBef>
              <a:spcAft>
                <a:spcPts val="900"/>
              </a:spcAft>
              <a:buClr>
                <a:schemeClr val="dk1"/>
              </a:buClr>
              <a:buSzPts val="1500"/>
              <a:buFont typeface="Times New Roman"/>
              <a:buChar char="●"/>
            </a:pPr>
            <a:r>
              <a:rPr lang="en-US" sz="1500">
                <a:solidFill>
                  <a:schemeClr val="dk1"/>
                </a:solidFill>
                <a:latin typeface="Times New Roman"/>
                <a:ea typeface="Times New Roman"/>
                <a:cs typeface="Times New Roman"/>
                <a:sym typeface="Times New Roman"/>
              </a:rPr>
              <a:t xml:space="preserve">Remove personal details from complaints before any LLM call.</a:t>
            </a:r>
          </a:p>
          <a:p>
            <a:pPr indent="-285750" lvl="0" marL="342900" rtl="0" algn="l">
              <a:spcBef>
                <a:spcPts val="0"/>
              </a:spcBef>
              <a:spcAft>
                <a:spcPts val="900"/>
              </a:spcAft>
              <a:buClr>
                <a:schemeClr val="dk1"/>
              </a:buClr>
              <a:buSzPts val="1500"/>
              <a:buFont typeface="Times New Roman"/>
              <a:buChar char="●"/>
            </a:pPr>
            <a:r>
              <a:rPr lang="en-US" sz="1500">
                <a:solidFill>
                  <a:schemeClr val="dk1"/>
                </a:solidFill>
                <a:latin typeface="Times New Roman"/>
                <a:ea typeface="Times New Roman"/>
                <a:cs typeface="Times New Roman"/>
                <a:sym typeface="Times New Roman"/>
              </a:rPr>
              <a:t xml:space="preserve">Learn from operator corrections to calibrate each company automatically.</a:t>
            </a:r>
          </a:p>
          <a:p>
            <a:pPr indent="-285750" lvl="0" marL="342900" rtl="0" algn="l">
              <a:spcBef>
                <a:spcPts val="0"/>
              </a:spcBef>
              <a:spcAft>
                <a:spcPts val="900"/>
              </a:spcAft>
              <a:buClr>
                <a:schemeClr val="dk1"/>
              </a:buClr>
              <a:buSzPts val="1500"/>
              <a:buFont typeface="Times New Roman"/>
              <a:buChar char="●"/>
            </a:pPr>
            <a:r>
              <a:rPr lang="en-US" sz="1500">
                <a:solidFill>
                  <a:schemeClr val="dk1"/>
                </a:solidFill>
                <a:latin typeface="Times New Roman"/>
                <a:ea typeface="Times New Roman"/>
                <a:cs typeface="Times New Roman"/>
                <a:sym typeface="Times New Roman"/>
              </a:rPr>
              <a:t xml:space="preserve">Per-user submission limits, multilingual complaints and automatic Jira tickets.</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19"/>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53" name="Google Shape;153;p19"/>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54" name="Google Shape;154;p19"/>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55" name="Google Shape;155;p19"/>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56" name="Google Shape;156;p19"/>
          <p:cNvSpPr txBox="1"/>
          <p:nvPr/>
        </p:nvSpPr>
        <p:spPr>
          <a:xfrm>
            <a:off x="3056230" y="1497420"/>
            <a:ext cx="3025200" cy="4305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1" i="0" lang="en-US" sz="1800" u="none" cap="none" strike="noStrike">
                <a:solidFill>
                  <a:srgbClr val="000000"/>
                </a:solidFill>
                <a:latin typeface="Times New Roman"/>
                <a:ea typeface="Times New Roman"/>
                <a:cs typeface="Times New Roman"/>
                <a:sym typeface="Times New Roman"/>
              </a:rPr>
              <a:t>CONCLUSION</a:t>
            </a:r>
            <a:endParaRPr b="1" i="0" sz="1800" u="none" cap="none" strike="noStrike">
              <a:solidFill>
                <a:srgbClr val="000000"/>
              </a:solidFill>
              <a:latin typeface="Times New Roman"/>
              <a:ea typeface="Times New Roman"/>
              <a:cs typeface="Times New Roman"/>
              <a:sym typeface="Times New Roman"/>
            </a:endParaRPr>
          </a:p>
        </p:txBody>
      </p:sp>
      <p:sp>
        <p:nvSpPr>
          <p:cNvPr id="157" name="Google Shape;157;p19"/>
          <p:cNvSpPr txBox="1"/>
          <p:nvPr/>
        </p:nvSpPr>
        <p:spPr>
          <a:xfrm>
            <a:off x="686435" y="1960000"/>
            <a:ext cx="7764780" cy="2700000"/>
          </a:xfrm>
          <a:prstGeom prst="rect">
            <a:avLst/>
          </a:prstGeom>
          <a:noFill/>
          <a:ln>
            <a:noFill/>
          </a:ln>
        </p:spPr>
        <p:txBody>
          <a:bodyPr anchorCtr="0" anchor="t" bIns="91425" lIns="91425" spcFirstLastPara="1" rIns="91425" wrap="square" tIns="91425">
            <a:noAutofit/>
          </a:bodyPr>
          <a:lstStyle/>
          <a:p>
            <a:pPr indent="0" lvl="0" marL="0" rtl="0" algn="just">
              <a:spcBef>
                <a:spcPts val="0"/>
              </a:spcBef>
              <a:spcAft>
                <a:spcPts val="0"/>
              </a:spcAft>
              <a:buNone/>
            </a:pPr>
            <a:r>
              <a:rPr lang="en-US" sz="1500">
                <a:solidFill>
                  <a:schemeClr val="dk1"/>
                </a:solidFill>
                <a:latin typeface="Times New Roman"/>
                <a:ea typeface="Times New Roman"/>
                <a:cs typeface="Times New Roman"/>
                <a:sym typeface="Times New Roman"/>
              </a:rPr>
              <a:t xml:space="preserve">InsightDesk turns raw customer complaints into problem cases as they arrive. Similarity retrieval narrows each complaint to a few candidate cases, calibrated thresholds settle the clear ones, and an LLM judge decides the rest; a re-joining pass merges split cases. On real reviews it reaches precision 0.83 and recall 0.35, an F1 of 0.49 that is the highest of every method tested; a higher lower threshold for short-text channels improved precision and recall together while cutting LLM calls by about a quarter, and the same upper threshold transfers unchanged to bug reports (F1 0.78). A Poisson CUSUM and a vague-complaint alarm detect incidents that the usual z-score misses, and every escalation is approved by a person before an email reaches the department.</a:t>
            </a:r>
          </a:p>
        </p:txBody>
      </p:sp>
      <p:sp>
        <p:nvSpPr>
          <p:cNvPr id="158" name="Google Shape;158;p19"/>
          <p:cNvSpPr txBox="1"/>
          <p:nvPr/>
        </p:nvSpPr>
        <p:spPr>
          <a:xfrm>
            <a:off x="686525" y="1648700"/>
            <a:ext cx="7929900" cy="3693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1200"/>
              </a:spcAft>
              <a:buClr>
                <a:srgbClr val="000000"/>
              </a:buClr>
              <a:buSzPts val="1200"/>
              <a:buFont typeface="Arial"/>
              <a:buNone/>
            </a:pPr>
            <a:r>
              <a:t/>
            </a:r>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sp>
        <p:nvSpPr>
          <p:cNvPr id="163" name="Google Shape;163;p20"/>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64" name="Google Shape;164;p20"/>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65" name="Google Shape;165;p20"/>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66" name="Google Shape;166;p20"/>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67" name="Google Shape;167;p20"/>
          <p:cNvSpPr txBox="1"/>
          <p:nvPr/>
        </p:nvSpPr>
        <p:spPr>
          <a:xfrm>
            <a:off x="3626175" y="1217600"/>
            <a:ext cx="1669200" cy="430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rPr b="1" lang="en-US" sz="1600">
                <a:latin typeface="Times New Roman"/>
                <a:ea typeface="Times New Roman"/>
                <a:cs typeface="Times New Roman"/>
                <a:sym typeface="Times New Roman"/>
              </a:rPr>
              <a:t>REFERENCES</a:t>
            </a:r>
            <a:endParaRPr b="1" sz="1600">
              <a:latin typeface="Times New Roman"/>
              <a:ea typeface="Times New Roman"/>
              <a:cs typeface="Times New Roman"/>
              <a:sym typeface="Times New Roman"/>
            </a:endParaRPr>
          </a:p>
          <a:p>
            <a:pPr indent="0" lvl="0" marL="0" marR="0" rtl="0" algn="l">
              <a:lnSpc>
                <a:spcPct val="100000"/>
              </a:lnSpc>
              <a:spcBef>
                <a:spcPts val="0"/>
              </a:spcBef>
              <a:spcAft>
                <a:spcPts val="0"/>
              </a:spcAft>
              <a:buClr>
                <a:srgbClr val="000000"/>
              </a:buClr>
              <a:buSzPts val="1600"/>
              <a:buFont typeface="Arial"/>
              <a:buNone/>
            </a:pPr>
            <a:r>
              <a:t/>
            </a:r>
            <a:endParaRPr b="1" sz="1600">
              <a:latin typeface="Times New Roman"/>
              <a:ea typeface="Times New Roman"/>
              <a:cs typeface="Times New Roman"/>
              <a:sym typeface="Times New Roman"/>
            </a:endParaRPr>
          </a:p>
        </p:txBody>
      </p:sp>
      <p:sp>
        <p:nvSpPr>
          <p:cNvPr id="168" name="Google Shape;168;p20"/>
          <p:cNvSpPr txBox="1"/>
          <p:nvPr/>
        </p:nvSpPr>
        <p:spPr>
          <a:xfrm>
            <a:off x="686435" y="1648460"/>
            <a:ext cx="7764900" cy="2457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 L. Villarroel, G. Bavota, B. Russo, R. Oliveto, M. Di Penta, “Release planning of mobile apps based on user reviews,” ICSE, 2016.</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[2] C. Sun, D. Lo, S.-C. Khoo, J. Jiang, “Towards more accurate retrieval of duplicate bug reports,” ASE, 2011.</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[3] N. Reimers, I. Gurevych, “Sentence-BERT: Sentence embeddings using Siamese BERT-networks,” EMNLP, 2019.</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[4] M. Grootendorst, “BERTopic: Neural topic modeling with a class-based TF-IDF procedure,” arXiv:2203.05794, 2022.</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[5] T. Zhang, I. C. Irsan, F. Thung, D. Lo, “Cupid: Leveraging ChatGPT for more accurate duplicate bug report detection,” arXiv:2308.10022, 2023.</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[6] R. Peeters, A. Steiner, C. Bizer, “Entity matching using large language models,” EDBT, 2025.</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[7] “GPTrace: Effective crash deduplication using LLM embeddings,” ICSE, 2026 (arXiv:2512.01609).</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[8] M. Hong et al., “Dial-In LLM: Human-aligned LLM-in-the-loop intent clustering for customer service dialogues,” EMNLP, 2025.</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2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74" name="Google Shape;174;p2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75" name="Google Shape;175;p2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76" name="Google Shape;176;p2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77" name="Google Shape;177;p21"/>
          <p:cNvSpPr txBox="1"/>
          <p:nvPr/>
        </p:nvSpPr>
        <p:spPr>
          <a:xfrm>
            <a:off x="3626175" y="1217600"/>
            <a:ext cx="1669200" cy="430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rPr b="1" lang="en-US" sz="1600">
                <a:latin typeface="Times New Roman"/>
                <a:ea typeface="Times New Roman"/>
                <a:cs typeface="Times New Roman"/>
                <a:sym typeface="Times New Roman"/>
              </a:rPr>
              <a:t>REFERENCES</a:t>
            </a:r>
            <a:endParaRPr b="1" sz="1600">
              <a:latin typeface="Times New Roman"/>
              <a:ea typeface="Times New Roman"/>
              <a:cs typeface="Times New Roman"/>
              <a:sym typeface="Times New Roman"/>
            </a:endParaRPr>
          </a:p>
          <a:p>
            <a:pPr indent="0" lvl="0" marL="0" marR="0" rtl="0" algn="l">
              <a:lnSpc>
                <a:spcPct val="100000"/>
              </a:lnSpc>
              <a:spcBef>
                <a:spcPts val="0"/>
              </a:spcBef>
              <a:spcAft>
                <a:spcPts val="0"/>
              </a:spcAft>
              <a:buClr>
                <a:srgbClr val="000000"/>
              </a:buClr>
              <a:buSzPts val="1600"/>
              <a:buFont typeface="Arial"/>
              <a:buNone/>
            </a:pPr>
            <a:r>
              <a:t/>
            </a:r>
            <a:endParaRPr b="1" sz="1600">
              <a:latin typeface="Times New Roman"/>
              <a:ea typeface="Times New Roman"/>
              <a:cs typeface="Times New Roman"/>
              <a:sym typeface="Times New Roman"/>
            </a:endParaRPr>
          </a:p>
        </p:txBody>
      </p:sp>
      <p:sp>
        <p:nvSpPr>
          <p:cNvPr id="178" name="Google Shape;178;p21"/>
          <p:cNvSpPr txBox="1"/>
          <p:nvPr/>
        </p:nvSpPr>
        <p:spPr>
          <a:xfrm>
            <a:off x="686435" y="1648460"/>
            <a:ext cx="7764900" cy="2457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[9] P. Pattnayak et al., “LLM-guided lifecycle-aware clustering of multi-turn customer support conversations,” AACL, 2025.</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[10] F. Liu et al., “TickIt: Leveraging large language models for automated ticket escalation,” FSE, 2025.</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[11] “Incident-aware duplicate ticket aggregation for cloud systems (iPACK),” ICSE, 2023 (arXiv:2302.09520).</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[12] SentiSum, “What is anomaly detection?,” product documentation, help.sentisum.com, 2025.</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[13] G. S. Manku, A. Jain, A. Das Sarma, “Detecting near-duplicates for web crawling,” WWW, 2007.</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[14] A. Z. Broder, “On the resemblance and containment of documents,” Compression and Complexity of Sequences, 1997.</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[15] E. S. Page, “Continuous inspection schemes,” Biometrika, vol. 41, 1954 (CUSUM).</a:t>
            </a:r>
          </a:p>
        </p:txBody>
      </p:sp>
      <p:sp>
        <p:nvSpPr>
          <p:cNvPr id="179" name="Google Shape;179;p21"/>
          <p:cNvSpPr txBox="1"/>
          <p:nvPr/>
        </p:nvSpPr>
        <p:spPr>
          <a:xfrm>
            <a:off x="686525" y="1648700"/>
            <a:ext cx="7929900" cy="3693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1200"/>
              </a:spcAft>
              <a:buClr>
                <a:srgbClr val="000000"/>
              </a:buClr>
              <a:buSzPts val="1200"/>
              <a:buFont typeface="Arial"/>
              <a:buNone/>
            </a:pPr>
            <a:r>
              <a:rPr lang="en-US" sz="1200">
                <a:solidFill>
                  <a:schemeClr val="dk1"/>
                </a:solidFill>
                <a:latin typeface="Times New Roman"/>
                <a:ea typeface="Times New Roman"/>
                <a:cs typeface="Times New Roman"/>
                <a:sym typeface="Times New Roman"/>
              </a:rPr>
              <a:t/>
            </a:r>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 name="Shape 183"/>
        <p:cNvGrpSpPr/>
        <p:nvPr/>
      </p:nvGrpSpPr>
      <p:grpSpPr>
        <a:xfrm>
          <a:off x="0" y="0"/>
          <a:ext cx="0" cy="0"/>
          <a:chOff x="0" y="0"/>
          <a:chExt cx="0" cy="0"/>
        </a:xfrm>
      </p:grpSpPr>
      <p:sp>
        <p:nvSpPr>
          <p:cNvPr id="184" name="Google Shape;184;p22"/>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85" name="Google Shape;185;p22"/>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86" name="Google Shape;186;p22"/>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87" name="Google Shape;187;p22"/>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88" name="Google Shape;188;p22"/>
          <p:cNvSpPr txBox="1"/>
          <p:nvPr/>
        </p:nvSpPr>
        <p:spPr>
          <a:xfrm>
            <a:off x="2353425" y="2070900"/>
            <a:ext cx="4480200" cy="923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4800"/>
              <a:buFont typeface="Arial"/>
              <a:buNone/>
            </a:pPr>
            <a:r>
              <a:rPr b="0" i="0" lang="en-US" sz="4800" u="none" cap="none" strike="noStrike">
                <a:solidFill>
                  <a:srgbClr val="FF0000"/>
                </a:solidFill>
                <a:latin typeface="Arial"/>
                <a:ea typeface="Arial"/>
                <a:cs typeface="Arial"/>
                <a:sym typeface="Arial"/>
              </a:rPr>
              <a:t>THANK YOU !</a:t>
            </a:r>
            <a:endParaRPr b="0" i="0" sz="4800" u="none" cap="none" strike="noStrike">
              <a:solidFill>
                <a:srgbClr val="FF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LITERATURE SURVEY (2/3)</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00000"/>
          <a:ext cx="8150000" cy="2840000"/>
        </p:xfrm>
        <a:graphic>
          <a:graphicData uri="http://schemas.openxmlformats.org/drawingml/2006/table">
            <a:tbl>
              <a:tblPr>
                <a:noFill/>
                <a:tableStyleId>{ADC876BD-21E3-499D-94FC-3D607E5DCE7B}</a:tableStyleId>
              </a:tblPr>
              <a:tblGrid>
                <a:gridCol w="2050000"/>
                <a:gridCol w="1400000"/>
                <a:gridCol w="1600000"/>
                <a:gridCol w="1500000"/>
                <a:gridCol w="1600000"/>
              </a:tblGrid>
              <a:tr h="280000">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Paper (venue, year)</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Method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Parameters / thresholds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Limitation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Our improvement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“Cupid: Leveraging ChatGPT for More Accurate Duplicate Bug Report Detection” [5], 2023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ChatGPT extracts essentials, then REP retrieval</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LLM on 40–60% of reports; Recall-Rate@10 0.60–0.65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Ranking only; no cases, spikes or escalation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Online cases with spike alerts and RCA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“Entity Matching using Large Language Models” [6], EDBT 2025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Zero-shot GPT-4 pair judge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Prompt only; F1 89.6–98.4 on record pairs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Judges every pair: cost grows with pairs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Judge only in the calibrated band, at most 5 candidates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“GPTrace: Effective Crash Deduplication Using LLM Embeddings” [7], ICSE 2026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LLM embeddings + HDBSCAN clustering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Density clustering over 300K crash reports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Batch; stack traces only</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Online grouping of free-text complaints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“Dial-In LLM: Human-Aligned LLM-in-the-loop Intent Clustering for Customer Service Dialogues” [8], EMNLP 2025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LLM-in-the-loop intent clustering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100k calls, 1,507 clusters; &gt;95% agreement with humans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Intents, not problems; batch</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Problem cases decided as complaints arrive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LITERATURE SURVEY (3/3)</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00000"/>
          <a:ext cx="8150000" cy="2600000"/>
        </p:xfrm>
        <a:graphic>
          <a:graphicData uri="http://schemas.openxmlformats.org/drawingml/2006/table">
            <a:tbl>
              <a:tblPr>
                <a:noFill/>
                <a:tableStyleId>{ADC876BD-21E3-499D-94FC-3D607E5DCE7B}</a:tableStyleId>
              </a:tblPr>
              <a:tblGrid>
                <a:gridCol w="2050000"/>
                <a:gridCol w="1400000"/>
                <a:gridCol w="1600000"/>
                <a:gridCol w="1500000"/>
                <a:gridCol w="1600000"/>
              </a:tblGrid>
              <a:tr h="280000">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Paper (venue, year)</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Method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Parameters / thresholds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Limitation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Our improvement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58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“LLM-Guided Lifecycle-Aware Clustering of Multi-Turn Customer Support Conversations” [9], AACL 2025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Incremental clustering; LLM splits degraded clusters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Silhouette / Davies-Bouldin quality triggers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No spike detection, RCA or escalation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Full pipeline: spikes, RCA, approval</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58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“TickIt: Leveraging Large Language Models for Automated Ticket Escalation” [10], FSE 2025 (ByteDance)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LLM escalation with category fine-tuning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Predefined ticket categories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Fixed category set; no spike detection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Open-ended cases + CUSUM + vague alarm</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58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“Incident-aware Duplicate Ticket Aggregation for Cloud Systems” (iPACK) [11], ICSE 2023 (Microsoft)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Links tickets to cloud incident alerts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Requires monitoring alerts; F1 0.87–0.94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Depends on telemetry</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Works from complaint text alone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58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SentiSum anomaly detection [12], commercial, 2025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Anomaly detection per tag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z-score &gt; 2 per tag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Fails at 0–2 complaints per window (0% detected)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CUSUM, h = 2 (76–91% detected)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
        <p:nvSpPr>
          <p:cNvPr id="950" name="Results text 950"/>
          <p:cNvSpPr txBox="1"/>
          <p:nvPr/>
        </p:nvSpPr>
        <p:spPr>
          <a:xfrm>
            <a:off x="497000" y="4170000"/>
            <a:ext cx="8150000" cy="620000"/>
          </a:xfrm>
          <a:prstGeom prst="rect">
            <a:avLst/>
          </a:prstGeom>
          <a:noFill/>
          <a:ln>
            <a:noFill/>
          </a:ln>
        </p:spPr>
        <p:txBody>
          <a:bodyPr anchorCtr="0" anchor="t" bIns="45720" lIns="45720" spcFirstLastPara="1" rIns="45720" wrap="square" tIns="45720">
            <a:noAutofit/>
          </a:bodyPr>
          <a:lstStyle/>
          <a:p>
            <a:pPr indent="0" lvl="0" marL="0" rtl="0" algn="l">
              <a:spcBef>
                <a:spcPts val="0"/>
              </a:spcBef>
              <a:spcAft>
                <a:spcPts val="0"/>
              </a:spcAft>
              <a:buNone/>
            </a:pPr>
            <a:r>
              <a:rPr b="1" lang="en-US" sz="1000">
                <a:solidFill>
                  <a:schemeClr val="dk1"/>
                </a:solidFill>
                <a:latin typeface="Times New Roman"/>
                <a:ea typeface="Times New Roman"/>
                <a:cs typeface="Times New Roman"/>
                <a:sym typeface="Times New Roman"/>
              </a:rPr>
              <a:t xml:space="preserve">Research finding: several systems group duplicate reports (CLAP, TickIt, iPACK, Dial-In LLM), but none we found in academic papers, industry blogs, products or patents combines online problem-level case merging of raw complaint text with per-case spike detection, root-cause explanation and human-approved escalation.</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16"/>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22" name="Google Shape;122;p16"/>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23" name="Google Shape;123;p16"/>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24" name="Google Shape;124;p16"/>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5" name="Google Shape;125;p16"/>
          <p:cNvSpPr/>
          <p:nvPr/>
        </p:nvSpPr>
        <p:spPr>
          <a:xfrm>
            <a:off x="8909371" y="1288085"/>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6" name="Google Shape;126;p16"/>
          <p:cNvSpPr/>
          <p:nvPr/>
        </p:nvSpPr>
        <p:spPr>
          <a:xfrm>
            <a:off x="1631250" y="1287476"/>
            <a:ext cx="5687400" cy="3228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rPr b="1" lang="en-US" sz="1600">
                <a:latin typeface="Times New Roman"/>
                <a:ea typeface="Times New Roman"/>
                <a:cs typeface="Times New Roman"/>
                <a:sym typeface="Times New Roman"/>
              </a:rPr>
              <a:t>RESULTS: PRECISION VS RECALL</a:t>
            </a:r>
            <a:endParaRPr b="1" i="0" sz="1600" u="none" cap="none" strike="noStrike">
              <a:solidFill>
                <a:srgbClr val="000000"/>
              </a:solidFill>
              <a:latin typeface="Times New Roman"/>
              <a:ea typeface="Times New Roman"/>
              <a:cs typeface="Times New Roman"/>
              <a:sym typeface="Times New Roman"/>
            </a:endParaRPr>
          </a:p>
        </p:txBody>
      </p:sp>
      <p:pic>
        <p:nvPicPr>
          <p:cNvPr id="127" name="Google Shape;127;p16"/>
          <p:cNvPicPr preferRelativeResize="0"/>
          <p:nvPr/>
        </p:nvPicPr>
        <p:blipFill>
          <a:blip r:embed="rId4">
            <a:alphaModFix/>
          </a:blip>
          <a:stretch>
            <a:fillRect/>
          </a:stretch>
        </p:blipFill>
        <p:spPr>
          <a:xfrm>
            <a:off x="380000" y="1640000"/>
            <a:ext cx="5350000" cy="3152678"/>
          </a:xfrm>
          <a:prstGeom prst="rect">
            <a:avLst/>
          </a:prstGeom>
          <a:noFill/>
          <a:ln>
            <a:noFill/>
          </a:ln>
        </p:spPr>
      </p:pic>
      <p:sp>
        <p:nvSpPr>
          <p:cNvPr id="918" name="Results text 918"/>
          <p:cNvSpPr txBox="1"/>
          <p:nvPr/>
        </p:nvSpPr>
        <p:spPr>
          <a:xfrm>
            <a:off x="5850000" y="1600000"/>
            <a:ext cx="3050000" cy="3150000"/>
          </a:xfrm>
          <a:prstGeom prst="rect">
            <a:avLst/>
          </a:prstGeom>
          <a:noFill/>
          <a:ln>
            <a:noFill/>
          </a:ln>
        </p:spPr>
        <p:txBody>
          <a:bodyPr anchorCtr="0" anchor="t" bIns="45720" lIns="45720" spcFirstLastPara="1" rIns="45720" wrap="square" tIns="45720">
            <a:noAutofit/>
          </a:bodyPr>
          <a:lstStyle/>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Only InsightDesk</a:t>
            </a:r>
            <a:r>
              <a:rPr lang="en-US" sz="1200">
                <a:solidFill>
                  <a:schemeClr val="dk1"/>
                </a:solidFill>
                <a:latin typeface="Times New Roman"/>
                <a:ea typeface="Times New Roman"/>
                <a:cs typeface="Times New Roman"/>
                <a:sym typeface="Times New Roman"/>
              </a:rPr>
              <a:t xml:space="preserve"> keeps precision high while finding useful recall.</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Topic models</a:t>
            </a:r>
            <a:r>
              <a:rPr lang="en-US" sz="1200">
                <a:solidFill>
                  <a:schemeClr val="dk1"/>
                </a:solidFill>
                <a:latin typeface="Times New Roman"/>
                <a:ea typeface="Times New Roman"/>
                <a:cs typeface="Times New Roman"/>
                <a:sym typeface="Times New Roman"/>
              </a:rPr>
              <a:t xml:space="preserve"> group themes, not problems (BERTopic precision 0.16).</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Generalises:</a:t>
            </a:r>
            <a:r>
              <a:rPr lang="en-US" sz="1200">
                <a:solidFill>
                  <a:schemeClr val="dk1"/>
                </a:solidFill>
                <a:latin typeface="Times New Roman"/>
                <a:ea typeface="Times New Roman"/>
                <a:cs typeface="Times New Roman"/>
                <a:sym typeface="Times New Roman"/>
              </a:rPr>
              <a:t xml:space="preserve"> unseen apps case precision 0.92, unseen company 0.89.</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Duplicate retrieval (top-5):</a:t>
            </a:r>
            <a:r>
              <a:rPr lang="en-US" sz="1200">
                <a:solidFill>
                  <a:schemeClr val="dk1"/>
                </a:solidFill>
                <a:latin typeface="Times New Roman"/>
                <a:ea typeface="Times New Roman"/>
                <a:cs typeface="Times New Roman"/>
                <a:sym typeface="Times New Roman"/>
              </a:rPr>
              <a:t xml:space="preserve"> 0.46–0.56 vs REP 0.43–0.44 on 233K bug reports.</a:t>
            </a: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16"/>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22" name="Google Shape;122;p16"/>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23" name="Google Shape;123;p16"/>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24" name="Google Shape;124;p16"/>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5" name="Google Shape;125;p16"/>
          <p:cNvSpPr/>
          <p:nvPr/>
        </p:nvSpPr>
        <p:spPr>
          <a:xfrm>
            <a:off x="8909371" y="1288085"/>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6" name="Google Shape;126;p16"/>
          <p:cNvSpPr/>
          <p:nvPr/>
        </p:nvSpPr>
        <p:spPr>
          <a:xfrm>
            <a:off x="1631250" y="1287476"/>
            <a:ext cx="5687400" cy="3228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rPr b="1" lang="en-US" sz="1600">
                <a:latin typeface="Times New Roman"/>
                <a:ea typeface="Times New Roman"/>
                <a:cs typeface="Times New Roman"/>
                <a:sym typeface="Times New Roman"/>
              </a:rPr>
              <a:t>RESULTS: INCIDENT DETECTION</a:t>
            </a:r>
            <a:endParaRPr b="1" i="0" sz="1600" u="none" cap="none" strike="noStrike">
              <a:solidFill>
                <a:srgbClr val="000000"/>
              </a:solidFill>
              <a:latin typeface="Times New Roman"/>
              <a:ea typeface="Times New Roman"/>
              <a:cs typeface="Times New Roman"/>
              <a:sym typeface="Times New Roman"/>
            </a:endParaRPr>
          </a:p>
        </p:txBody>
      </p:sp>
      <p:pic>
        <p:nvPicPr>
          <p:cNvPr id="127" name="Google Shape;127;p16"/>
          <p:cNvPicPr preferRelativeResize="0"/>
          <p:nvPr/>
        </p:nvPicPr>
        <p:blipFill>
          <a:blip r:embed="rId4">
            <a:alphaModFix/>
          </a:blip>
          <a:stretch>
            <a:fillRect/>
          </a:stretch>
        </p:blipFill>
        <p:spPr>
          <a:xfrm>
            <a:off x="380000" y="1640000"/>
            <a:ext cx="5350000" cy="2372470"/>
          </a:xfrm>
          <a:prstGeom prst="rect">
            <a:avLst/>
          </a:prstGeom>
          <a:noFill/>
          <a:ln>
            <a:noFill/>
          </a:ln>
        </p:spPr>
      </p:pic>
      <p:sp>
        <p:nvSpPr>
          <p:cNvPr id="919" name="Results text 919"/>
          <p:cNvSpPr txBox="1"/>
          <p:nvPr/>
        </p:nvSpPr>
        <p:spPr>
          <a:xfrm>
            <a:off x="5850000" y="1600000"/>
            <a:ext cx="3050000" cy="3150000"/>
          </a:xfrm>
          <a:prstGeom prst="rect">
            <a:avLst/>
          </a:prstGeom>
          <a:noFill/>
          <a:ln>
            <a:noFill/>
          </a:ln>
        </p:spPr>
        <p:txBody>
          <a:bodyPr anchorCtr="0" anchor="t" bIns="45720" lIns="45720" spcFirstLastPara="1" rIns="45720" wrap="square" tIns="45720">
            <a:noAutofit/>
          </a:bodyPr>
          <a:lstStyle/>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CUSUM:</a:t>
            </a:r>
            <a:r>
              <a:rPr lang="en-US" sz="1200">
                <a:solidFill>
                  <a:schemeClr val="dk1"/>
                </a:solidFill>
                <a:latin typeface="Times New Roman"/>
                <a:ea typeface="Times New Roman"/>
                <a:cs typeface="Times New Roman"/>
                <a:sym typeface="Times New Roman"/>
              </a:rPr>
              <a:t xml:space="preserve"> 76–91% of outbreaks detected on bug-report streams, under 1 false alarm per 100 windows.</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z-score</a:t>
            </a:r>
            <a:r>
              <a:rPr lang="en-US" sz="1200">
                <a:solidFill>
                  <a:schemeClr val="dk1"/>
                </a:solidFill>
                <a:latin typeface="Times New Roman"/>
                <a:ea typeface="Times New Roman"/>
                <a:cs typeface="Times New Roman"/>
                <a:sym typeface="Times New Roman"/>
              </a:rPr>
              <a:t xml:space="preserve"> (used by feedback tools): 0% detected.</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Vague alarm:</a:t>
            </a:r>
            <a:r>
              <a:rPr lang="en-US" sz="1200">
                <a:solidFill>
                  <a:schemeClr val="dk1"/>
                </a:solidFill>
                <a:latin typeface="Times New Roman"/>
                <a:ea typeface="Times New Roman"/>
                <a:cs typeface="Times New Roman"/>
                <a:sym typeface="Times New Roman"/>
              </a:rPr>
              <a:t xml:space="preserve"> 100% of vague-only outages with 10+ complaints.</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End to end:</a:t>
            </a:r>
            <a:r>
              <a:rPr lang="en-US" sz="1200">
                <a:solidFill>
                  <a:schemeClr val="dk1"/>
                </a:solidFill>
                <a:latin typeface="Times New Roman"/>
                <a:ea typeface="Times New Roman"/>
                <a:cs typeface="Times New Roman"/>
                <a:sym typeface="Times New Roman"/>
              </a:rPr>
              <a:t xml:space="preserve"> 94% of incidents escalation-eligible within 12 h, 0 false alarms.</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5"/>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11" name="Google Shape;111;p15"/>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12" name="Google Shape;112;p15"/>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13" name="Google Shape;113;p15"/>
          <p:cNvSpPr txBox="1"/>
          <p:nvPr/>
        </p:nvSpPr>
        <p:spPr>
          <a:xfrm>
            <a:off x="850500" y="1271075"/>
            <a:ext cx="74430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lang="en-US" sz="1800">
                <a:latin typeface="Times New Roman"/>
                <a:ea typeface="Times New Roman"/>
                <a:cs typeface="Times New Roman"/>
                <a:sym typeface="Times New Roman"/>
              </a:rPr>
              <a:t>MATHEMATICAL FORMULATION</a:t>
            </a:r>
            <a:endParaRPr b="1" i="0" sz="1800" u="none" cap="none" strike="noStrike">
              <a:solidFill>
                <a:srgbClr val="000000"/>
              </a:solidFill>
              <a:latin typeface="Times New Roman"/>
              <a:ea typeface="Times New Roman"/>
              <a:cs typeface="Times New Roman"/>
              <a:sym typeface="Times New Roman"/>
            </a:endParaRPr>
          </a:p>
        </p:txBody>
      </p:sp>
      <p:sp>
        <p:nvSpPr>
          <p:cNvPr id="114" name="Google Shape;114;p15"/>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5" name="Google Shape;115;p15"/>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6" name="Google Shape;116;p15"/>
          <p:cNvSpPr txBox="1"/>
          <p:nvPr/>
        </p:nvSpPr>
        <p:spPr>
          <a:xfrm>
            <a:off x="713875" y="1579150"/>
            <a:ext cx="7408500" cy="2802300"/>
          </a:xfrm>
          <a:prstGeom prst="rect">
            <a:avLst/>
          </a:prstGeom>
          <a:noFill/>
          <a:ln>
            <a:noFill/>
          </a:ln>
        </p:spPr>
        <p:txBody>
          <a:bodyPr anchorCtr="0" anchor="t" bIns="91425" lIns="91425" spcFirstLastPara="1" rIns="91425" wrap="square" tIns="91425">
            <a:noAutofit/>
          </a:bodyPr>
          <a:lstStyle/>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Retrieval:</a:t>
            </a:r>
            <a:r>
              <a:rPr lang="en-US" sz="1200">
                <a:solidFill>
                  <a:schemeClr val="dk1"/>
                </a:solidFill>
                <a:latin typeface="Times New Roman"/>
                <a:ea typeface="Times New Roman"/>
                <a:cs typeface="Times New Roman"/>
                <a:sym typeface="Times New Roman"/>
              </a:rPr>
              <a:t xml:space="preserve"> e(x) = MiniLM(x) ∈ ℝ³⁸⁴ with ‖e‖ = 1;  S(x, C) = max over exemplars m ∈ E_C of e(x)·e(m);  keep the top 5 cases of the same product.</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Decision band:</a:t>
            </a:r>
            <a:r>
              <a:rPr lang="en-US" sz="1200">
                <a:solidFill>
                  <a:schemeClr val="dk1"/>
                </a:solidFill>
                <a:latin typeface="Times New Roman"/>
                <a:ea typeface="Times New Roman"/>
                <a:cs typeface="Times New Roman"/>
                <a:sym typeface="Times New Roman"/>
              </a:rPr>
              <a:t xml:space="preserve"> join automatically if S* ≥ t_high; open a new case if S* &lt; t_low; otherwise the LLM judge decides.</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Upper threshold:</a:t>
            </a:r>
            <a:r>
              <a:rPr lang="en-US" sz="1200">
                <a:solidFill>
                  <a:schemeClr val="dk1"/>
                </a:solidFill>
                <a:latin typeface="Times New Roman"/>
                <a:ea typeface="Times New Roman"/>
                <a:cs typeface="Times New Roman"/>
                <a:sym typeface="Times New Roman"/>
              </a:rPr>
              <a:t xml:space="preserve"> t_high = min{ t : Prec(t) ≥ 0.97 }, Prec(t) = share of true duplicates among tuning pairs with similarity ≥ t  →  0.8306.</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Lower threshold:</a:t>
            </a:r>
            <a:r>
              <a:rPr lang="en-US" sz="1200">
                <a:solidFill>
                  <a:schemeClr val="dk1"/>
                </a:solidFill>
                <a:latin typeface="Times New Roman"/>
                <a:ea typeface="Times New Roman"/>
                <a:cs typeface="Times New Roman"/>
                <a:sym typeface="Times New Roman"/>
              </a:rPr>
              <a:t xml:space="preserve"> t_low = 20th percentile of similarities of true duplicate pairs  →  0.26 for tickets and bug reports; 0.40 for short texts (app reviews, chat), confirmed on unseen apps.</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Spike CUSUM:</a:t>
            </a:r>
            <a:r>
              <a:rPr lang="en-US" sz="1200">
                <a:solidFill>
                  <a:schemeClr val="dk1"/>
                </a:solidFill>
                <a:latin typeface="Times New Roman"/>
                <a:ea typeface="Times New Roman"/>
                <a:cs typeface="Times New Roman"/>
                <a:sym typeface="Times New Roman"/>
              </a:rPr>
              <a:t xml:space="preserve"> λ = (Σ last 28 windows + 0.5) / (n + 7);  k = 1 / ln((λ + 1)/λ);  S = max(0, S + c − k);  alert when S ≥ 2.</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Vague alarm:</a:t>
            </a:r>
            <a:r>
              <a:rPr lang="en-US" sz="1200">
                <a:solidFill>
                  <a:schemeClr val="dk1"/>
                </a:solidFill>
                <a:latin typeface="Times New Roman"/>
                <a:ea typeface="Times New Roman"/>
                <a:cs typeface="Times New Roman"/>
                <a:sym typeface="Times New Roman"/>
              </a:rPr>
              <a:t xml:space="preserve"> alert when v ≥ 2 and P(X ≥ v) &lt; 0.001 with X ~ Poisson(λ).</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THRESHOLD CALIBRATION &amp; SENSITIVITY</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80000"/>
          <a:ext cx="8100000" cy="2800000"/>
        </p:xfrm>
        <a:graphic>
          <a:graphicData uri="http://schemas.openxmlformats.org/drawingml/2006/table">
            <a:tbl>
              <a:tblPr>
                <a:noFill/>
                <a:tableStyleId>{ADC876BD-21E3-499D-94FC-3D607E5DCE7B}</a:tableStyleId>
              </a:tblPr>
              <a:tblGrid>
                <a:gridCol w="2450000"/>
                <a:gridCol w="1300000"/>
                <a:gridCol w="1350000"/>
                <a:gridCol w="850000"/>
                <a:gridCol w="750000"/>
                <a:gridCol w="650000"/>
                <a:gridCol w="750000"/>
              </a:tblGrid>
              <a:tr h="280000">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Setting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t_low</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t_high</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Precision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Recall</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F1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LLM share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Short-text setting (deployed)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0.40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0.883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0.284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0.430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66%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Long-text setting (tickets, bug reports)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0.810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0.259</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0.392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86%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t_low ≈ 0.30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 + 0.04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0.803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0.256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0.388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81%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t_low ≈ 0.35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 + 0.09</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0.867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0.404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71%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t_high lowered by 0.08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 0.75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0.808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0.277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0.413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78%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Unseen apps: 0.26 → 0.40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 → 0.40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0.608 → 0.635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0.284 → 0.255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94% → 77%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Bug reports: 0.26 → 0.40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 → 0.40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0.908 → 0.912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0.578 → 0.571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96% → 90%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
        <p:nvSpPr>
          <p:cNvPr id="960" name="Results text 960"/>
          <p:cNvSpPr txBox="1"/>
          <p:nvPr/>
        </p:nvSpPr>
        <p:spPr>
          <a:xfrm>
            <a:off x="497000" y="4440000"/>
            <a:ext cx="8100000" cy="420000"/>
          </a:xfrm>
          <a:prstGeom prst="rect">
            <a:avLst/>
          </a:prstGeom>
          <a:noFill/>
          <a:ln>
            <a:noFill/>
          </a:ln>
        </p:spPr>
        <p:txBody>
          <a:bodyPr anchorCtr="0" anchor="t" bIns="45720" lIns="45720" spcFirstLastPara="1" rIns="45720" wrap="square" tIns="45720">
            <a:noAutofit/>
          </a:bodyPr>
          <a:lstStyle/>
          <a:p>
            <a:pPr indent="0" lvl="0" marL="0" rtl="0" algn="l">
              <a:spcBef>
                <a:spcPts val="0"/>
              </a:spcBef>
              <a:spcAft>
                <a:spcPts val="0"/>
              </a:spcAft>
              <a:buNone/>
            </a:pPr>
            <a:r>
              <a:rPr lang="en-US" sz="1000">
                <a:solidFill>
                  <a:schemeClr val="dk1"/>
                </a:solidFill>
                <a:latin typeface="Times New Roman"/>
                <a:ea typeface="Times New Roman"/>
                <a:cs typeface="Times New Roman"/>
                <a:sym typeface="Times New Roman"/>
              </a:rPr>
              <a:t xml:space="preserve">Play Store held-out halves pooled, live judge calls. t_high = 0.8306 (lowest similarity at which tuning pairs are ≥ 97% true duplicates) is used for every channel; t_low is 0.40 for app reviews and chat and 0.26 for tickets and bug reports, where raising it changed little. Before re-joining (see results).</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SPIKE DETECTOR CALIBRATION</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80000"/>
          <a:ext cx="8150000" cy="2920000"/>
        </p:xfrm>
        <a:graphic>
          <a:graphicData uri="http://schemas.openxmlformats.org/drawingml/2006/table">
            <a:tbl>
              <a:tblPr>
                <a:noFill/>
                <a:tableStyleId>{ADC876BD-21E3-499D-94FC-3D607E5DCE7B}</a:tableStyleId>
              </a:tblPr>
              <a:tblGrid>
                <a:gridCol w="2000000"/>
                <a:gridCol w="1450000"/>
                <a:gridCol w="1150000"/>
                <a:gridCol w="1150000"/>
                <a:gridCol w="1200000"/>
                <a:gridCol w="1200000"/>
              </a:tblGrid>
              <a:tr h="280000">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Detector</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Setting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Play Store detected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Play Store false / 100 windows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Bug reports detected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Bug reports false / 100 windows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Poisson CUSUM (deployed)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δ = 1, h = 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42%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76%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0.38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CUSUM</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δ = 1, h = 1.5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56%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0.78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86%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3.81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CUSUM</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δ = 1, h = 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25%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0.00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50%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0.01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CUSUM</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δ = 0.5, h = 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45%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78%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1.04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CUSUM</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δ = 2, h = 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33%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0.02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67%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0.10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EWMA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α = 0.2, L = 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55%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0.67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86%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3.19</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tail test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c ≥ 2, p &lt; 0.001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43%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71%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1.20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z-score (feedback tools)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z &gt; 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
        <p:nvSpPr>
          <p:cNvPr id="960" name="Results text 960"/>
          <p:cNvSpPr txBox="1"/>
          <p:nvPr/>
        </p:nvSpPr>
        <p:spPr>
          <a:xfrm>
            <a:off x="497000" y="4280000"/>
            <a:ext cx="8150000" cy="300000"/>
          </a:xfrm>
          <a:prstGeom prst="rect">
            <a:avLst/>
          </a:prstGeom>
          <a:noFill/>
          <a:ln>
            <a:noFill/>
          </a:ln>
        </p:spPr>
        <p:txBody>
          <a:bodyPr anchorCtr="0" anchor="t" bIns="45720" lIns="45720" spcFirstLastPara="1" rIns="45720" wrap="square" tIns="45720">
            <a:noAutofit/>
          </a:bodyPr>
          <a:lstStyle/>
          <a:p>
            <a:pPr indent="0" lvl="0" marL="0" rtl="0" algn="l">
              <a:spcBef>
                <a:spcPts val="0"/>
              </a:spcBef>
              <a:spcAft>
                <a:spcPts val="0"/>
              </a:spcAft>
              <a:buNone/>
            </a:pPr>
            <a:r>
              <a:rPr lang="en-US" sz="1000">
                <a:solidFill>
                  <a:schemeClr val="dk1"/>
                </a:solidFill>
                <a:latin typeface="Times New Roman"/>
                <a:ea typeface="Times New Roman"/>
                <a:cs typeface="Times New Roman"/>
                <a:sym typeface="Times New Roman"/>
              </a:rPr>
              <a:t xml:space="preserve">300 simulated outbreaks per dataset, case level. h = 2 is the knee: lower h buys little detection for many more false alarms. EWMA reaches CUSUM's detection only at about 9× its false alarms on bug reports.</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TEST DATASETS &amp; LABEL CREDIBILITY</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80000"/>
          <a:ext cx="8150000" cy="2980000"/>
        </p:xfrm>
        <a:graphic>
          <a:graphicData uri="http://schemas.openxmlformats.org/drawingml/2006/table">
            <a:tbl>
              <a:tblPr>
                <a:noFill/>
                <a:tableStyleId>{ADC876BD-21E3-499D-94FC-3D607E5DCE7B}</a:tableStyleId>
              </a:tblPr>
              <a:tblGrid>
                <a:gridCol w="1800000"/>
                <a:gridCol w="1100000"/>
                <a:gridCol w="1600000"/>
                <a:gridCol w="2150000"/>
                <a:gridCol w="1500000"/>
              </a:tblGrid>
              <a:tr h="280000">
                <a:tc>
                  <a:txBody>
                    <a:bodyPr/>
                    <a:lstStyle/>
                    <a:p>
                      <a:pPr indent="0" lvl="0" marL="0" rtl="0" algn="l">
                        <a:spcBef>
                          <a:spcPts val="0"/>
                        </a:spcBef>
                        <a:spcAft>
                          <a:spcPts val="0"/>
                        </a:spcAft>
                        <a:buNone/>
                      </a:pPr>
                      <a:r>
                        <a:rPr b="1" lang="en-US" sz="980">
                          <a:latin typeface="Times New Roman"/>
                          <a:ea typeface="Times New Roman"/>
                          <a:cs typeface="Times New Roman"/>
                          <a:sym typeface="Times New Roman"/>
                        </a:rPr>
                        <a:t>Dataset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80">
                          <a:latin typeface="Times New Roman"/>
                          <a:ea typeface="Times New Roman"/>
                          <a:cs typeface="Times New Roman"/>
                          <a:sym typeface="Times New Roman"/>
                        </a:rPr>
                        <a:t>Size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80">
                          <a:latin typeface="Times New Roman"/>
                          <a:ea typeface="Times New Roman"/>
                          <a:cs typeface="Times New Roman"/>
                          <a:sym typeface="Times New Roman"/>
                        </a:rPr>
                        <a:t>Ground truth</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80">
                          <a:latin typeface="Times New Roman"/>
                          <a:ea typeface="Times New Roman"/>
                          <a:cs typeface="Times New Roman"/>
                          <a:sym typeface="Times New Roman"/>
                        </a:rPr>
                        <a:t>Credibility</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80">
                          <a:latin typeface="Times New Roman"/>
                          <a:ea typeface="Times New Roman"/>
                          <a:cs typeface="Times New Roman"/>
                          <a:sym typeface="Times New Roman"/>
                        </a:rPr>
                        <a:t>Used for</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Play Store reviews (6 help-desk apps)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338 labelled of 450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3 team annotators, written codebook</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Fleiss κ = 0.74 across all 3; LLM labellers agree with humans at κ 0.68–0.70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Tuning and held-out evaluation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Firefox and Thunderbird (Bugzilla)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437 + 452 reports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Mozilla triagers' duplicate links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Independent of us; some duplicates unlinked, so precision is conservative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Transfer test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BugHub split: Firefox, Thunderbird, Eclipse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233,521 reports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Public duplicate links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Standard public benchmark</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Duplicate retrieval (top-5)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Unseen apps: Intercom, Jira SM, ServiceNow</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588 reviews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Agreed key of 2 LLM labellers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κ 0.38 between LLMs; 50-pair human check pending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Secondary transfer test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Endava IT tickets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1,000 tickets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Ticket categories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Case precision 0.90 vs 0.66 (cross-encoder); F1 tied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Third domain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Synthetic complaints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488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Generator ground truth</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Sanity check only</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Never a headline result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5"/>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11" name="Google Shape;111;p15"/>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12" name="Google Shape;112;p15"/>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13" name="Google Shape;113;p15"/>
          <p:cNvSpPr txBox="1"/>
          <p:nvPr/>
        </p:nvSpPr>
        <p:spPr>
          <a:xfrm>
            <a:off x="850500" y="1271075"/>
            <a:ext cx="74430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lang="en-US" sz="1800">
                <a:latin typeface="Times New Roman"/>
                <a:ea typeface="Times New Roman"/>
                <a:cs typeface="Times New Roman"/>
                <a:sym typeface="Times New Roman"/>
              </a:rPr>
              <a:t>SENTIMENT &amp; TOPIC CLUSTERING</a:t>
            </a:r>
            <a:endParaRPr b="1" i="0" sz="1800" u="none" cap="none" strike="noStrike">
              <a:solidFill>
                <a:srgbClr val="000000"/>
              </a:solidFill>
              <a:latin typeface="Times New Roman"/>
              <a:ea typeface="Times New Roman"/>
              <a:cs typeface="Times New Roman"/>
              <a:sym typeface="Times New Roman"/>
            </a:endParaRPr>
          </a:p>
        </p:txBody>
      </p:sp>
      <p:sp>
        <p:nvSpPr>
          <p:cNvPr id="114" name="Google Shape;114;p15"/>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5" name="Google Shape;115;p15"/>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6" name="Google Shape;116;p15"/>
          <p:cNvSpPr txBox="1"/>
          <p:nvPr/>
        </p:nvSpPr>
        <p:spPr>
          <a:xfrm>
            <a:off x="713875" y="1579150"/>
            <a:ext cx="7408500" cy="2802300"/>
          </a:xfrm>
          <a:prstGeom prst="rect">
            <a:avLst/>
          </a:prstGeom>
          <a:noFill/>
          <a:ln>
            <a:noFill/>
          </a:ln>
        </p:spPr>
        <p:txBody>
          <a:bodyPr anchorCtr="0" anchor="t" bIns="91425" lIns="91425" spcFirstLastPara="1" rIns="91425" wrap="square" tIns="91425">
            <a:noAutofit/>
          </a:bodyPr>
          <a:lstStyle/>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Sentiment model:</a:t>
            </a:r>
            <a:r>
              <a:rPr lang="en-US" sz="1200">
                <a:solidFill>
                  <a:schemeClr val="dk1"/>
                </a:solidFill>
                <a:latin typeface="Times New Roman"/>
                <a:ea typeface="Times New Roman"/>
                <a:cs typeface="Times New Roman"/>
                <a:sym typeface="Times New Roman"/>
              </a:rPr>
              <a:t xml:space="preserve"> RoBERTa (cardiffnlp twitter-roberta-base-sentiment-latest), 3 classes (negative, neutral, positive) with a confidence per case.</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How it was evaluated:</a:t>
            </a:r>
            <a:r>
              <a:rPr lang="en-US" sz="1200">
                <a:solidFill>
                  <a:schemeClr val="dk1"/>
                </a:solidFill>
                <a:latin typeface="Times New Roman"/>
                <a:ea typeface="Times New Roman"/>
                <a:cs typeface="Times New Roman"/>
                <a:sym typeface="Times New Roman"/>
              </a:rPr>
              <a:t xml:space="preserve"> on real Play Store reviews against star ratings (1–2 negative, 3 neutral, 4–5 positive): accuracy 0.707; negative complaints precision 0.81, recall 0.85.</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Why RoBERTa:</a:t>
            </a:r>
            <a:r>
              <a:rPr lang="en-US" sz="1200">
                <a:solidFill>
                  <a:schemeClr val="dk1"/>
                </a:solidFill>
                <a:latin typeface="Times New Roman"/>
                <a:ea typeface="Times New Roman"/>
                <a:cs typeface="Times New Roman"/>
                <a:sym typeface="Times New Roman"/>
              </a:rPr>
              <a:t xml:space="preserve"> DistilBERT reached accuracy 0.713 but is binary and cannot say neutral; RoBERTa is more precise on negatives (0.81 vs 0.77).</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Topic clustering:</a:t>
            </a:r>
            <a:r>
              <a:rPr lang="en-US" sz="1200">
                <a:solidFill>
                  <a:schemeClr val="dk1"/>
                </a:solidFill>
                <a:latin typeface="Times New Roman"/>
                <a:ea typeface="Times New Roman"/>
                <a:cs typeface="Times New Roman"/>
                <a:sym typeface="Times New Roman"/>
              </a:rPr>
              <a:t xml:space="preserve"> BERTopic over case texts: UMAP (12 neighbours, 5 dimensions, cosine), then HDBSCAN (minimum cluster size 3, minimum samples 1), keywords from 1–2-word c-TF-IDF.</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Result:</a:t>
            </a:r>
            <a:r>
              <a:rPr lang="en-US" sz="1200">
                <a:solidFill>
                  <a:schemeClr val="dk1"/>
                </a:solidFill>
                <a:latin typeface="Times New Roman"/>
                <a:ea typeface="Times New Roman"/>
                <a:cs typeface="Times New Roman"/>
                <a:sym typeface="Times New Roman"/>
              </a:rPr>
              <a:t xml:space="preserve"> 319 staging cases formed 49 topics with 11.9% outliers; each topic's keywords map to a department (Authentication, Engineering, Customer Success) that receives escalations.</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Upkeep:</a:t>
            </a:r>
            <a:r>
              <a:rPr lang="en-US" sz="1200">
                <a:solidFill>
                  <a:schemeClr val="dk1"/>
                </a:solidFill>
                <a:latin typeface="Times New Roman"/>
                <a:ea typeface="Times New Roman"/>
                <a:cs typeface="Times New Roman"/>
                <a:sym typeface="Times New Roman"/>
              </a:rPr>
              <a:t xml:space="preserve"> re-clustered automatically every 6 hours when cases grow by 20% or outliers exceed 15%.</a:t>
            </a: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sp>
        <p:nvSpPr>
          <p:cNvPr id="88" name="Google Shape;88;p13"/>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89" name="Google Shape;89;p13"/>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90" name="Google Shape;90;p13"/>
          <p:cNvPicPr preferRelativeResize="0"/>
          <p:nvPr/>
        </p:nvPicPr>
        <p:blipFill rotWithShape="1">
          <a:blip r:embed="rId3">
            <a:alphaModFix/>
          </a:blip>
          <a:srcRect/>
          <a:stretch/>
        </p:blipFill>
        <p:spPr>
          <a:xfrm>
            <a:off x="0" y="0"/>
            <a:ext cx="9143999" cy="1332186"/>
          </a:xfrm>
          <a:prstGeom prst="rect">
            <a:avLst/>
          </a:prstGeom>
          <a:noFill/>
          <a:ln>
            <a:noFill/>
          </a:ln>
        </p:spPr>
      </p:pic>
      <p:sp>
        <p:nvSpPr>
          <p:cNvPr id="91" name="Google Shape;91;p13"/>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92" name="Google Shape;92;p13"/>
          <p:cNvSpPr/>
          <p:nvPr/>
        </p:nvSpPr>
        <p:spPr>
          <a:xfrm>
            <a:off x="8909371" y="1288085"/>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93" name="Google Shape;93;p13"/>
          <p:cNvSpPr/>
          <p:nvPr/>
        </p:nvSpPr>
        <p:spPr>
          <a:xfrm>
            <a:off x="1728300" y="1219200"/>
            <a:ext cx="5687400" cy="3228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000000"/>
                </a:solidFill>
                <a:latin typeface="Times New Roman"/>
                <a:ea typeface="Times New Roman"/>
                <a:cs typeface="Times New Roman"/>
                <a:sym typeface="Times New Roman"/>
              </a:rPr>
              <a:t>SYSTEM ARCHITECTURE</a:t>
            </a:r>
            <a:endParaRPr b="1" i="0" sz="1600" u="none" cap="none" strike="noStrike">
              <a:solidFill>
                <a:srgbClr val="000000"/>
              </a:solidFill>
              <a:latin typeface="Times New Roman"/>
              <a:ea typeface="Times New Roman"/>
              <a:cs typeface="Times New Roman"/>
              <a:sym typeface="Times New Roman"/>
            </a:endParaRPr>
          </a:p>
        </p:txBody>
      </p:sp>
      <p:pic>
        <p:nvPicPr>
          <p:cNvPr id="94" name="Google Shape;94;p13" title="InsightDesk_flowchart.png"/>
          <p:cNvPicPr preferRelativeResize="0"/>
          <p:nvPr/>
        </p:nvPicPr>
        <p:blipFill rotWithShape="1">
          <a:blip r:embed="rId4">
            <a:alphaModFix/>
          </a:blip>
          <a:srcRect/>
          <a:stretch/>
        </p:blipFill>
        <p:spPr>
          <a:xfrm>
            <a:off x="870000" y="1450000"/>
            <a:ext cx="7400000" cy="3259523"/>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