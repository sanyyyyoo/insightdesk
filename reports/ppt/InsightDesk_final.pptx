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80" r:id="rId31"/>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arch.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 &amp; Architecture</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SYSTEM ARCHITECTURE</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420000" y="1520000"/>
            <a:ext cx="2950000" cy="3083891"/>
          </a:xfrm>
          <a:prstGeom prst="rect">
            <a:avLst/>
          </a:prstGeom>
          <a:noFill/>
          <a:ln>
            <a:noFill/>
          </a:ln>
        </p:spPr>
      </p:pic>
      <p:sp>
        <p:nvSpPr>
          <p:cNvPr id="990" name="Results text 990"/>
          <p:cNvSpPr txBox="1"/>
          <p:nvPr/>
        </p:nvSpPr>
        <p:spPr>
          <a:xfrm>
            <a:off x="3800000" y="1450000"/>
            <a:ext cx="4950000" cy="330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Two stores:</a:t>
            </a:r>
            <a:r>
              <a:rPr lang="en-US" sz="1150">
                <a:solidFill>
                  <a:schemeClr val="dk1"/>
                </a:solidFill>
                <a:latin typeface="Times New Roman"/>
                <a:ea typeface="Times New Roman"/>
                <a:cs typeface="Times New Roman"/>
                <a:sym typeface="Times New Roman"/>
              </a:rPr>
              <a:t xml:space="preserve"> Supabase (PostgreSQL) holds complaints, cases, 6-hour windows, the vague pool and root causes; Pinecone holds up to 5 exemplar vectors per case.</a:t>
            </a:r>
          </a:p>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Phases 1–4, on arrival:</a:t>
            </a:r>
            <a:r>
              <a:rPr lang="en-US" sz="1150">
                <a:solidFill>
                  <a:schemeClr val="dk1"/>
                </a:solidFill>
                <a:latin typeface="Times New Roman"/>
                <a:ea typeface="Times New Roman"/>
                <a:cs typeface="Times New Roman"/>
                <a:sym typeface="Times New Roman"/>
              </a:rPr>
              <a:t xml:space="preserve"> cleaning, MiniLM retrieval of the top-5 cases, the calibrated band (t_high 0.8306; t_low 0.40 short / 0.26 long), and the LLM judge for uncertain matches.</a:t>
            </a:r>
          </a:p>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Phases 5–6, every 6 h:</a:t>
            </a:r>
            <a:r>
              <a:rPr lang="en-US" sz="1150">
                <a:solidFill>
                  <a:schemeClr val="dk1"/>
                </a:solidFill>
                <a:latin typeface="Times New Roman"/>
                <a:ea typeface="Times New Roman"/>
                <a:cs typeface="Times New Roman"/>
                <a:sym typeface="Times New Roman"/>
              </a:rPr>
              <a:t xml:space="preserve"> LLM re-joining merges split cases and moves their vectors; RoBERTa sentiment and BERTopic topics map each case to a department.</a:t>
            </a:r>
          </a:p>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Phases 7–8, signals:</a:t>
            </a:r>
            <a:r>
              <a:rPr lang="en-US" sz="1150">
                <a:solidFill>
                  <a:schemeClr val="dk1"/>
                </a:solidFill>
                <a:latin typeface="Times New Roman"/>
                <a:ea typeface="Times New Roman"/>
                <a:cs typeface="Times New Roman"/>
                <a:sym typeface="Times New Roman"/>
              </a:rPr>
              <a:t xml:space="preserve"> Poisson CUSUM per case and alert group; a separate alarm for vague complaints per product.</a:t>
            </a:r>
          </a:p>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Phase 9, action:</a:t>
            </a:r>
            <a:r>
              <a:rPr lang="en-US" sz="1150">
                <a:solidFill>
                  <a:schemeClr val="dk1"/>
                </a:solidFill>
                <a:latin typeface="Times New Roman"/>
                <a:ea typeface="Times New Roman"/>
                <a:cs typeface="Times New Roman"/>
                <a:sym typeface="Times New Roman"/>
              </a:rPr>
              <a:t xml:space="preserve"> an eligible case gets an LLM root cause (JSON); email goes out only after human approval.</a:t>
            </a:r>
          </a:p>
          <a:p>
            <a:pPr indent="-285750" lvl="0" marL="342900" rtl="0" algn="l">
              <a:spcBef>
                <a:spcPts val="0"/>
              </a:spcBef>
              <a:spcAft>
                <a:spcPts val="300"/>
              </a:spcAft>
              <a:buClr>
                <a:schemeClr val="dk1"/>
              </a:buClr>
              <a:buSzPts val="1150"/>
              <a:buFont typeface="Times New Roman"/>
              <a:buChar char="●"/>
            </a:pPr>
            <a:r>
              <a:rPr b="1" lang="en-US" sz="1150">
                <a:solidFill>
                  <a:schemeClr val="dk1"/>
                </a:solidFill>
                <a:latin typeface="Times New Roman"/>
                <a:ea typeface="Times New Roman"/>
                <a:cs typeface="Times New Roman"/>
                <a:sym typeface="Times New Roman"/>
              </a:rPr>
              <a:t xml:space="preserve">Feedback loop:</a:t>
            </a:r>
            <a:r>
              <a:rPr lang="en-US" sz="1150">
                <a:solidFill>
                  <a:schemeClr val="dk1"/>
                </a:solidFill>
                <a:latin typeface="Times New Roman"/>
                <a:ea typeface="Times New Roman"/>
                <a:cs typeface="Times New Roman"/>
                <a:sym typeface="Times New Roman"/>
              </a:rPr>
              <a:t xml:space="preserve"> re-joining updates the exemplars that retrieval reads for every new complaint.</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