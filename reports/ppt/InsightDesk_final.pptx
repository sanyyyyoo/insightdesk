
<file path=[Content_Types].xml><?xml version="1.0" encoding="utf-8"?>
<Types xmlns="http://schemas.openxmlformats.org/package/2006/content-types">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tableStyles+xml" PartName="/ppt/tableStyles.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xml"/>
  <Override ContentType="application/vnd.openxmlformats-officedocument.presentationml.slideLayout+xml" PartName="/ppt/slideLayouts/slideLayout6.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Override ContentType="application/vnd.openxmlformats-officedocument.presentationml.viewProps+xml" PartName="/ppt/viewProps.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654" r:id="rId5"/>
  </p:sldMasterIdLst>
  <p:notesMasterIdLst>
    <p:notesMasterId r:id="rId6"/>
  </p:notesMasterIdLst>
  <p:sldIdLst>
    <p:sldId id="256" r:id="rId7"/>
    <p:sldId id="257" r:id="rId8"/>
    <p:sldId id="258" r:id="rId9"/>
    <p:sldId id="259" r:id="rId10"/>
    <p:sldId id="271" r:id="rId22"/>
    <p:sldId id="272" r:id="rId23"/>
    <p:sldId id="260" r:id="rId11"/>
    <p:sldId id="261" r:id="rId12"/>
    <p:sldId id="280" r:id="rId31"/>
    <p:sldId id="262" r:id="rId13"/>
    <p:sldId id="263" r:id="rId14"/>
    <p:sldId id="275" r:id="rId26"/>
    <p:sldId id="279" r:id="rId30"/>
    <p:sldId id="278" r:id="rId29"/>
    <p:sldId id="276" r:id="rId27"/>
    <p:sldId id="277" r:id="rId28"/>
    <p:sldId id="264" r:id="rId15"/>
    <p:sldId id="273" r:id="rId24"/>
    <p:sldId id="274" r:id="rId25"/>
    <p:sldId id="265" r:id="rId16"/>
    <p:sldId id="266" r:id="rId17"/>
    <p:sldId id="267" r:id="rId18"/>
    <p:sldId id="268" r:id="rId19"/>
    <p:sldId id="269" r:id="rId20"/>
    <p:sldId id="270" r:id="rId21"/>
  </p:sldIdLst>
  <p:sldSz cy="5143500" cx="9144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162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tableStyles.xml><?xml version="1.0" encoding="utf-8"?>
<a:tblStyleLst xmlns:a="http://schemas.openxmlformats.org/drawingml/2006/main" xmlns:r="http://schemas.openxmlformats.org/officeDocument/2006/relationships" def="{A570A505-9C83-4DA2-BAA3-34EB322FA7B9}">
  <a:tblStyle styleId="{A570A505-9C83-4DA2-BAA3-34EB322FA7B9}" styleName="Table_0">
    <a:wholeTbl>
      <a:tcTxStyle b="off" i="off">
        <a:font>
          <a:latin typeface="Arial"/>
          <a:ea typeface="Arial"/>
          <a:cs typeface="Arial"/>
        </a:font>
        <a:srgbClr val="000000"/>
      </a:tcTxStyle>
      <a:tcStyle>
        <a:tcBdr>
          <a:left>
            <a:ln cap="flat" cmpd="sng" w="9525">
              <a:solidFill>
                <a:srgbClr val="9E9E9E"/>
              </a:solidFill>
              <a:prstDash val="solid"/>
              <a:round/>
              <a:headEnd len="sm" w="sm" type="none"/>
              <a:tailEnd len="sm" w="sm" type="none"/>
            </a:ln>
          </a:left>
          <a:right>
            <a:ln cap="flat" cmpd="sng" w="9525">
              <a:solidFill>
                <a:srgbClr val="9E9E9E"/>
              </a:solidFill>
              <a:prstDash val="solid"/>
              <a:round/>
              <a:headEnd len="sm" w="sm" type="none"/>
              <a:tailEnd len="sm" w="sm" type="none"/>
            </a:ln>
          </a:right>
          <a:top>
            <a:ln cap="flat" cmpd="sng" w="9525">
              <a:solidFill>
                <a:srgbClr val="9E9E9E"/>
              </a:solidFill>
              <a:prstDash val="solid"/>
              <a:round/>
              <a:headEnd len="sm" w="sm" type="none"/>
              <a:tailEnd len="sm" w="sm" type="none"/>
            </a:ln>
          </a:top>
          <a:bottom>
            <a:ln cap="flat" cmpd="sng" w="9525">
              <a:solidFill>
                <a:srgbClr val="9E9E9E"/>
              </a:solidFill>
              <a:prstDash val="solid"/>
              <a:round/>
              <a:headEnd len="sm" w="sm" type="none"/>
              <a:tailEnd len="sm" w="sm" type="none"/>
            </a:ln>
          </a:bottom>
          <a:insideH>
            <a:ln cap="flat" cmpd="sng" w="9525">
              <a:solidFill>
                <a:srgbClr val="9E9E9E"/>
              </a:solidFill>
              <a:prstDash val="solid"/>
              <a:round/>
              <a:headEnd len="sm" w="sm" type="none"/>
              <a:tailEnd len="sm" w="sm" type="none"/>
            </a:ln>
          </a:insideH>
          <a:insideV>
            <a:ln cap="flat" cmpd="sng" w="9525">
              <a:solidFill>
                <a:srgbClr val="9E9E9E"/>
              </a:solidFill>
              <a:prstDash val="solid"/>
              <a:round/>
              <a:headEnd len="sm" w="sm" type="none"/>
              <a:tailEnd len="sm" w="sm" type="none"/>
            </a:ln>
          </a:insideV>
        </a:tcBdr>
      </a:tcStyle>
    </a:wholeTbl>
    <a:band1H>
      <a:tcTxStyle b="off" i="off"/>
    </a:band1H>
    <a:band2H>
      <a:tcTxStyle b="off" i="off"/>
    </a:band2H>
    <a:band1V>
      <a:tcTxStyle b="off" i="off"/>
    </a:band1V>
    <a:band2V>
      <a:tcTxStyle b="off" i="off"/>
    </a:band2V>
    <a:lastCol>
      <a:tcTxStyle b="off" i="off"/>
    </a:lastCol>
    <a:firstCol>
      <a:tcTxStyle b="off" i="off"/>
    </a:firstCol>
    <a:lastRow>
      <a:tcTxStyle b="off" i="off"/>
    </a:lastRow>
    <a:seCell>
      <a:tcTxStyle b="off" i="off"/>
    </a:seCell>
    <a:swCell>
      <a:tcTxStyle b="off" i="off"/>
    </a:swCell>
    <a:firstRow>
      <a:tcTxStyle b="off" i="off"/>
    </a:firstRow>
    <a:neCell>
      <a:tcTxStyle b="off" i="off"/>
    </a:neCell>
    <a:nwCell>
      <a:tcTxStyle b="off" i="off"/>
    </a:nwCell>
  </a:tblStyle>
  <a:tblStyle styleId="{ADC876BD-21E3-499D-94FC-3D607E5DCE7B}" styleName="Table_1">
    <a:wholeTbl>
      <a:tcTxStyle>
        <a:font>
          <a:latin typeface="Arial"/>
          <a:ea typeface="Arial"/>
          <a:cs typeface="Arial"/>
        </a:font>
        <a:srgbClr val="000000"/>
      </a:tcTxStyle>
      <a:tcStyle>
        <a:tcBdr>
          <a:left>
            <a:ln cap="flat" cmpd="sng" w="9525">
              <a:solidFill>
                <a:srgbClr val="9E9E9E"/>
              </a:solidFill>
              <a:prstDash val="solid"/>
              <a:round/>
              <a:headEnd len="sm" w="sm" type="none"/>
              <a:tailEnd len="sm" w="sm" type="none"/>
            </a:ln>
          </a:left>
          <a:right>
            <a:ln cap="flat" cmpd="sng" w="9525">
              <a:solidFill>
                <a:srgbClr val="9E9E9E"/>
              </a:solidFill>
              <a:prstDash val="solid"/>
              <a:round/>
              <a:headEnd len="sm" w="sm" type="none"/>
              <a:tailEnd len="sm" w="sm" type="none"/>
            </a:ln>
          </a:right>
          <a:top>
            <a:ln cap="flat" cmpd="sng" w="9525">
              <a:solidFill>
                <a:srgbClr val="9E9E9E"/>
              </a:solidFill>
              <a:prstDash val="solid"/>
              <a:round/>
              <a:headEnd len="sm" w="sm" type="none"/>
              <a:tailEnd len="sm" w="sm" type="none"/>
            </a:ln>
          </a:top>
          <a:bottom>
            <a:ln cap="flat" cmpd="sng" w="9525">
              <a:solidFill>
                <a:srgbClr val="9E9E9E"/>
              </a:solidFill>
              <a:prstDash val="solid"/>
              <a:round/>
              <a:headEnd len="sm" w="sm" type="none"/>
              <a:tailEnd len="sm" w="sm" type="none"/>
            </a:ln>
          </a:bottom>
          <a:insideH>
            <a:ln cap="flat" cmpd="sng" w="9525">
              <a:solidFill>
                <a:srgbClr val="9E9E9E"/>
              </a:solidFill>
              <a:prstDash val="solid"/>
              <a:round/>
              <a:headEnd len="sm" w="sm" type="none"/>
              <a:tailEnd len="sm" w="sm" type="none"/>
            </a:ln>
          </a:insideH>
          <a:insideV>
            <a:ln cap="flat" cmpd="sng" w="9525">
              <a:solidFill>
                <a:srgbClr val="9E9E9E"/>
              </a:solidFill>
              <a:prstDash val="solid"/>
              <a:round/>
              <a:headEnd len="sm" w="sm" type="none"/>
              <a:tailEnd len="sm" w="sm" type="none"/>
            </a:ln>
          </a:insideV>
        </a:tcBdr>
      </a:tcStyle>
    </a:wholeTbl>
    <a:band1H>
      <a:tcTxStyle/>
    </a:band1H>
    <a:band2H>
      <a:tcTxStyle/>
    </a:band2H>
    <a:band1V>
      <a:tcTxStyle/>
    </a:band1V>
    <a:band2V>
      <a:tcTxStyle/>
    </a:band2V>
    <a:lastCol>
      <a:tcTxStyle/>
    </a:lastCol>
    <a:firstCol>
      <a:tcTxStyle/>
    </a:firstCol>
    <a:lastRow>
      <a:tcTxStyle/>
    </a:lastRow>
    <a:seCell>
      <a:tcTxStyle/>
    </a:seCell>
    <a:swCell>
      <a:tcTxStyle/>
    </a:swCell>
    <a:firstRow>
      <a:tcTxStyle/>
    </a:firstRow>
    <a:neCell>
      <a:tcTxStyle/>
    </a:neCell>
    <a:nwCell>
      <a:tcTxStyle/>
    </a:nwCell>
  </a:tblStyle>
  <a:tblStyle styleId="{AE357F98-E37F-4722-A336-238EF99134D1}" styleName="Table_2">
    <a:wholeTbl>
      <a:tcTxStyle>
        <a:font>
          <a:latin typeface="Arial"/>
          <a:ea typeface="Arial"/>
          <a:cs typeface="Arial"/>
        </a:font>
        <a:srgbClr val="000000"/>
      </a:tcTxStyle>
    </a:wholeTbl>
    <a:band1H>
      <a:tcTxStyle/>
    </a:band1H>
    <a:band2H>
      <a:tcTxStyle/>
    </a:band2H>
    <a:band1V>
      <a:tcTxStyle/>
    </a:band1V>
    <a:band2V>
      <a:tcTxStyle/>
    </a:band2V>
    <a:lastCol>
      <a:tcTxStyle/>
    </a:lastCol>
    <a:firstCol>
      <a:tcTxStyle/>
    </a:firstCol>
    <a:lastRow>
      <a:tcTxStyle/>
    </a:lastRow>
    <a:seCell>
      <a:tcTxStyle/>
    </a:seCell>
    <a:swCell>
      <a:tcTxStyle/>
    </a:swCell>
    <a:firstRow>
      <a:tcTxStyle/>
    </a:firstRow>
    <a:neCell>
      <a:tcTxStyle/>
    </a:neCell>
    <a:nwCell>
      <a:tcTxStyle/>
    </a:nwCell>
  </a:tblStyle>
</a:tblStyleLst>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1620" orient="horz"/>
        <p:guide pos="2880"/>
      </p:guideLst>
    </p:cSldViewPr>
  </p:slideViewPr>
</p:viewPr>
</file>

<file path=ppt/_rels/presentation.xml.rels><?xml version="1.0" encoding="UTF-8" standalone="yes"?>
<Relationships xmlns="http://schemas.openxmlformats.org/package/2006/relationships"><Relationship Id="rId20" Type="http://schemas.openxmlformats.org/officeDocument/2006/relationships/slide" Target="slides/slide14.xml"/><Relationship Id="rId11" Type="http://schemas.openxmlformats.org/officeDocument/2006/relationships/slide" Target="slides/slide5.xml"/><Relationship Id="rId10" Type="http://schemas.openxmlformats.org/officeDocument/2006/relationships/slide" Target="slides/slide4.xml"/><Relationship Id="rId21" Type="http://schemas.openxmlformats.org/officeDocument/2006/relationships/slide" Target="slides/slide15.xml"/><Relationship Id="rId13" Type="http://schemas.openxmlformats.org/officeDocument/2006/relationships/slide" Target="slides/slide7.xml"/><Relationship Id="rId12" Type="http://schemas.openxmlformats.org/officeDocument/2006/relationships/slide" Target="slides/slide6.xml"/><Relationship Id="rId1" Type="http://schemas.openxmlformats.org/officeDocument/2006/relationships/theme" Target="theme/theme2.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tableStyles" Target="tableStyles.xml"/><Relationship Id="rId9" Type="http://schemas.openxmlformats.org/officeDocument/2006/relationships/slide" Target="slides/slide3.xml"/><Relationship Id="rId15" Type="http://schemas.openxmlformats.org/officeDocument/2006/relationships/slide" Target="slides/slide9.xml"/><Relationship Id="rId14" Type="http://schemas.openxmlformats.org/officeDocument/2006/relationships/slide" Target="slides/slide8.xml"/><Relationship Id="rId17" Type="http://schemas.openxmlformats.org/officeDocument/2006/relationships/slide" Target="slides/slide11.xml"/><Relationship Id="rId16" Type="http://schemas.openxmlformats.org/officeDocument/2006/relationships/slide" Target="slides/slide10.xml"/><Relationship Id="rId5" Type="http://schemas.openxmlformats.org/officeDocument/2006/relationships/slideMaster" Target="slideMasters/slideMaster1.xml"/><Relationship Id="rId19" Type="http://schemas.openxmlformats.org/officeDocument/2006/relationships/slide" Target="slides/slide13.xml"/><Relationship Id="rId6" Type="http://schemas.openxmlformats.org/officeDocument/2006/relationships/notesMaster" Target="notesMasters/notesMaster1.xml"/><Relationship Id="rId18" Type="http://schemas.openxmlformats.org/officeDocument/2006/relationships/slide" Target="slides/slide12.xml"/><Relationship Id="rId7" Type="http://schemas.openxmlformats.org/officeDocument/2006/relationships/slide" Target="slides/slide1.xml"/><Relationship Id="rId8" Type="http://schemas.openxmlformats.org/officeDocument/2006/relationships/slide" Target="slides/slide2.xml"/>  <Relationship Id="rId22" Type="http://schemas.openxmlformats.org/officeDocument/2006/relationships/slide" Target="slides/slide16.xml"/>
  <Relationship Id="rId23" Type="http://schemas.openxmlformats.org/officeDocument/2006/relationships/slide" Target="slides/slide17.xml"/>
  <Relationship Id="rId24" Type="http://schemas.openxmlformats.org/officeDocument/2006/relationships/slide" Target="slides/slide18.xml"/>
  <Relationship Id="rId25" Type="http://schemas.openxmlformats.org/officeDocument/2006/relationships/slide" Target="slides/slide19.xml"/>
  <Relationship Id="rId26" Type="http://schemas.openxmlformats.org/officeDocument/2006/relationships/slide" Target="slides/slide20.xml"/>
  <Relationship Id="rId27" Type="http://schemas.openxmlformats.org/officeDocument/2006/relationships/slide" Target="slides/slide21.xml"/>
  <Relationship Id="rId28" Type="http://schemas.openxmlformats.org/officeDocument/2006/relationships/slide" Target="slides/slide22.xml"/>
  <Relationship Id="rId29" Type="http://schemas.openxmlformats.org/officeDocument/2006/relationships/slide" Target="slides/slide23.xml"/>
  <Relationship Id="rId30" Type="http://schemas.openxmlformats.org/officeDocument/2006/relationships/slide" Target="slides/slide24.xml"/>
  <Relationship Id="rId31" Type="http://schemas.openxmlformats.org/officeDocument/2006/relationships/slide" Target="slides/slide25.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1pPr>
            <a:lvl2pPr indent="-298450" lvl="1" marL="9144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2pPr>
            <a:lvl3pPr indent="-298450" lvl="2" marL="13716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3pPr>
            <a:lvl4pPr indent="-298450" lvl="3" marL="18288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4pPr>
            <a:lvl5pPr indent="-298450" lvl="4" marL="22860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5pPr>
            <a:lvl6pPr indent="-298450" lvl="5" marL="27432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6pPr>
            <a:lvl7pPr indent="-298450" lvl="6" marL="32004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7pPr>
            <a:lvl8pPr indent="-298450" lvl="7" marL="36576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8pPr>
            <a:lvl9pPr indent="-298450" lvl="8" marL="4114800" marR="0" rtl="0" algn="l">
              <a:lnSpc>
                <a:spcPct val="100000"/>
              </a:lnSpc>
              <a:spcBef>
                <a:spcPts val="0"/>
              </a:spcBef>
              <a:spcAft>
                <a:spcPts val="0"/>
              </a:spcAft>
              <a:buClr>
                <a:srgbClr val="000000"/>
              </a:buClr>
              <a:buSzPts val="1100"/>
              <a:buFont typeface="Arial"/>
              <a:buChar char="■"/>
              <a:defRPr b="0" i="0" sz="1100" u="none" cap="none" strike="noStrike">
                <a:solidFill>
                  <a:srgbClr val="000000"/>
                </a:solidFill>
                <a:latin typeface="Arial"/>
                <a:ea typeface="Arial"/>
                <a:cs typeface="Arial"/>
                <a:sym typeface="Arial"/>
              </a:defRPr>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2" name="Shape 32"/>
        <p:cNvGrpSpPr/>
        <p:nvPr/>
      </p:nvGrpSpPr>
      <p:grpSpPr>
        <a:xfrm>
          <a:off x="0" y="0"/>
          <a:ext cx="0" cy="0"/>
          <a:chOff x="0" y="0"/>
          <a:chExt cx="0" cy="0"/>
        </a:xfrm>
      </p:grpSpPr>
      <p:sp>
        <p:nvSpPr>
          <p:cNvPr id="33" name="Google Shape;33;p1: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34" name="Google Shape;34;p1: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3" name="Shape 43"/>
        <p:cNvGrpSpPr/>
        <p:nvPr/>
      </p:nvGrpSpPr>
      <p:grpSpPr>
        <a:xfrm>
          <a:off x="0" y="0"/>
          <a:ext cx="0" cy="0"/>
          <a:chOff x="0" y="0"/>
          <a:chExt cx="0" cy="0"/>
        </a:xfrm>
      </p:grpSpPr>
      <p:sp>
        <p:nvSpPr>
          <p:cNvPr id="44" name="Google Shape;44;p2: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5" name="Google Shape;45;p2: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3" name="Shape 53"/>
        <p:cNvGrpSpPr/>
        <p:nvPr/>
      </p:nvGrpSpPr>
      <p:grpSpPr>
        <a:xfrm>
          <a:off x="0" y="0"/>
          <a:ext cx="0" cy="0"/>
          <a:chOff x="0" y="0"/>
          <a:chExt cx="0" cy="0"/>
        </a:xfrm>
      </p:grpSpPr>
      <p:sp>
        <p:nvSpPr>
          <p:cNvPr id="54" name="Google Shape;54;p3: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55" name="Google Shape;55;p3: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3" name="Shape 63"/>
        <p:cNvGrpSpPr/>
        <p:nvPr/>
      </p:nvGrpSpPr>
      <p:grpSpPr>
        <a:xfrm>
          <a:off x="0" y="0"/>
          <a:ext cx="0" cy="0"/>
          <a:chOff x="0" y="0"/>
          <a:chExt cx="0" cy="0"/>
        </a:xfrm>
      </p:grpSpPr>
      <p:sp>
        <p:nvSpPr>
          <p:cNvPr id="64" name="Google Shape;64;g3d1e4f3ba1c_0_11: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65" name="Google Shape;65;g3d1e4f3ba1c_0_11: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76" name="Shape 76"/>
        <p:cNvGrpSpPr/>
        <p:nvPr/>
      </p:nvGrpSpPr>
      <p:grpSpPr>
        <a:xfrm>
          <a:off x="0" y="0"/>
          <a:ext cx="0" cy="0"/>
          <a:chOff x="0" y="0"/>
          <a:chExt cx="0" cy="0"/>
        </a:xfrm>
      </p:grpSpPr>
      <p:sp>
        <p:nvSpPr>
          <p:cNvPr id="77" name="Google Shape;77;p4: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78" name="Google Shape;78;p4: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4" name="Shape 84"/>
        <p:cNvGrpSpPr/>
        <p:nvPr/>
      </p:nvGrpSpPr>
      <p:grpSpPr>
        <a:xfrm>
          <a:off x="0" y="0"/>
          <a:ext cx="0" cy="0"/>
          <a:chOff x="0" y="0"/>
          <a:chExt cx="0" cy="0"/>
        </a:xfrm>
      </p:grpSpPr>
      <p:sp>
        <p:nvSpPr>
          <p:cNvPr id="85" name="Google Shape;85;p7: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86" name="Google Shape;86;p7: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5" name="Shape 95"/>
        <p:cNvGrpSpPr/>
        <p:nvPr/>
      </p:nvGrpSpPr>
      <p:grpSpPr>
        <a:xfrm>
          <a:off x="0" y="0"/>
          <a:ext cx="0" cy="0"/>
          <a:chOff x="0" y="0"/>
          <a:chExt cx="0" cy="0"/>
        </a:xfrm>
      </p:grpSpPr>
      <p:sp>
        <p:nvSpPr>
          <p:cNvPr id="96" name="Google Shape;96;p5: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97" name="Google Shape;97;p5: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6" name="Shape 106"/>
        <p:cNvGrpSpPr/>
        <p:nvPr/>
      </p:nvGrpSpPr>
      <p:grpSpPr>
        <a:xfrm>
          <a:off x="0" y="0"/>
          <a:ext cx="0" cy="0"/>
          <a:chOff x="0" y="0"/>
          <a:chExt cx="0" cy="0"/>
        </a:xfrm>
      </p:grpSpPr>
      <p:sp>
        <p:nvSpPr>
          <p:cNvPr id="107" name="Google Shape;107;p6: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108" name="Google Shape;108;p6: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7" name="Shape 117"/>
        <p:cNvGrpSpPr/>
        <p:nvPr/>
      </p:nvGrpSpPr>
      <p:grpSpPr>
        <a:xfrm>
          <a:off x="0" y="0"/>
          <a:ext cx="0" cy="0"/>
          <a:chOff x="0" y="0"/>
          <a:chExt cx="0" cy="0"/>
        </a:xfrm>
      </p:grpSpPr>
      <p:sp>
        <p:nvSpPr>
          <p:cNvPr id="118" name="Google Shape;118;g3d1e4f3ba1c_0_20: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119" name="Google Shape;119;g3d1e4f3ba1c_0_20: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8" name="Shape 128"/>
        <p:cNvGrpSpPr/>
        <p:nvPr/>
      </p:nvGrpSpPr>
      <p:grpSpPr>
        <a:xfrm>
          <a:off x="0" y="0"/>
          <a:ext cx="0" cy="0"/>
          <a:chOff x="0" y="0"/>
          <a:chExt cx="0" cy="0"/>
        </a:xfrm>
      </p:grpSpPr>
      <p:sp>
        <p:nvSpPr>
          <p:cNvPr id="129" name="Google Shape;129;p8: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130" name="Google Shape;130;p8: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38" name="Shape 138"/>
        <p:cNvGrpSpPr/>
        <p:nvPr/>
      </p:nvGrpSpPr>
      <p:grpSpPr>
        <a:xfrm>
          <a:off x="0" y="0"/>
          <a:ext cx="0" cy="0"/>
          <a:chOff x="0" y="0"/>
          <a:chExt cx="0" cy="0"/>
        </a:xfrm>
      </p:grpSpPr>
      <p:sp>
        <p:nvSpPr>
          <p:cNvPr id="139" name="Google Shape;139;p9: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140" name="Google Shape;140;p9: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8" name="Shape 148"/>
        <p:cNvGrpSpPr/>
        <p:nvPr/>
      </p:nvGrpSpPr>
      <p:grpSpPr>
        <a:xfrm>
          <a:off x="0" y="0"/>
          <a:ext cx="0" cy="0"/>
          <a:chOff x="0" y="0"/>
          <a:chExt cx="0" cy="0"/>
        </a:xfrm>
      </p:grpSpPr>
      <p:sp>
        <p:nvSpPr>
          <p:cNvPr id="149" name="Google Shape;149;p10: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150" name="Google Shape;150;p10: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9" name="Shape 159"/>
        <p:cNvGrpSpPr/>
        <p:nvPr/>
      </p:nvGrpSpPr>
      <p:grpSpPr>
        <a:xfrm>
          <a:off x="0" y="0"/>
          <a:ext cx="0" cy="0"/>
          <a:chOff x="0" y="0"/>
          <a:chExt cx="0" cy="0"/>
        </a:xfrm>
      </p:grpSpPr>
      <p:sp>
        <p:nvSpPr>
          <p:cNvPr id="160" name="Google Shape;160;g3d1e4f3ba1c_0_33: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161" name="Google Shape;161;g3d1e4f3ba1c_0_33: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9" name="Shape 169"/>
        <p:cNvGrpSpPr/>
        <p:nvPr/>
      </p:nvGrpSpPr>
      <p:grpSpPr>
        <a:xfrm>
          <a:off x="0" y="0"/>
          <a:ext cx="0" cy="0"/>
          <a:chOff x="0" y="0"/>
          <a:chExt cx="0" cy="0"/>
        </a:xfrm>
      </p:grpSpPr>
      <p:sp>
        <p:nvSpPr>
          <p:cNvPr id="170" name="Google Shape;170;g3d1e4f3ba1c_0_53: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171" name="Google Shape;171;g3d1e4f3ba1c_0_53: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0" name="Shape 180"/>
        <p:cNvGrpSpPr/>
        <p:nvPr/>
      </p:nvGrpSpPr>
      <p:grpSpPr>
        <a:xfrm>
          <a:off x="0" y="0"/>
          <a:ext cx="0" cy="0"/>
          <a:chOff x="0" y="0"/>
          <a:chExt cx="0" cy="0"/>
        </a:xfrm>
      </p:grpSpPr>
      <p:sp>
        <p:nvSpPr>
          <p:cNvPr id="181" name="Google Shape;181;p11:notes"/>
          <p:cNvSpPr/>
          <p:nvPr>
            <p:ph idx="2" type="sldImg"/>
          </p:nvPr>
        </p:nvSpPr>
        <p:spPr>
          <a:xfrm>
            <a:off x="381000" y="685800"/>
            <a:ext cx="6096000"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182" name="Google Shape;182;p11:notes"/>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p>
            <a:pPr indent="0" lvl="0" marL="0" rtl="0" algn="l">
              <a:lnSpc>
                <a:spcPct val="100000"/>
              </a:lnSpc>
              <a:spcBef>
                <a:spcPts val="0"/>
              </a:spcBef>
              <a:spcAft>
                <a:spcPts val="0"/>
              </a:spcAft>
              <a:buSzPts val="1100"/>
              <a:buNone/>
            </a:pPr>
            <a:r>
              <a:t/>
            </a:r>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9" name="Shape 9"/>
        <p:cNvGrpSpPr/>
        <p:nvPr/>
      </p:nvGrpSpPr>
      <p:grpSpPr>
        <a:xfrm>
          <a:off x="0" y="0"/>
          <a:ext cx="0" cy="0"/>
          <a:chOff x="0" y="0"/>
          <a:chExt cx="0" cy="0"/>
        </a:xfrm>
      </p:grpSpPr>
      <p:sp>
        <p:nvSpPr>
          <p:cNvPr id="10" name="Google Shape;10;p2"/>
          <p:cNvSpPr txBox="1"/>
          <p:nvPr>
            <p:ph type="ctrTitle"/>
          </p:nvPr>
        </p:nvSpPr>
        <p:spPr>
          <a:xfrm>
            <a:off x="311708" y="744575"/>
            <a:ext cx="8520600" cy="2052600"/>
          </a:xfrm>
          <a:prstGeom prst="rect">
            <a:avLst/>
          </a:prstGeom>
          <a:noFill/>
          <a:ln>
            <a:noFill/>
          </a:ln>
        </p:spPr>
        <p:txBody>
          <a:bodyPr anchorCtr="0" anchor="b" bIns="91425" lIns="91425" spcFirstLastPara="1" rIns="91425" wrap="square" tIns="91425">
            <a:normAutofit/>
          </a:bodyPr>
          <a:lstStyle>
            <a:lvl1pPr lvl="0" algn="ctr">
              <a:lnSpc>
                <a:spcPct val="100000"/>
              </a:lnSpc>
              <a:spcBef>
                <a:spcPts val="0"/>
              </a:spcBef>
              <a:spcAft>
                <a:spcPts val="0"/>
              </a:spcAft>
              <a:buSzPts val="5200"/>
              <a:buNone/>
              <a:defRPr sz="5200"/>
            </a:lvl1pPr>
            <a:lvl2pPr lvl="1" algn="ctr">
              <a:lnSpc>
                <a:spcPct val="100000"/>
              </a:lnSpc>
              <a:spcBef>
                <a:spcPts val="0"/>
              </a:spcBef>
              <a:spcAft>
                <a:spcPts val="0"/>
              </a:spcAft>
              <a:buSzPts val="5200"/>
              <a:buNone/>
              <a:defRPr sz="5200"/>
            </a:lvl2pPr>
            <a:lvl3pPr lvl="2" algn="ctr">
              <a:lnSpc>
                <a:spcPct val="100000"/>
              </a:lnSpc>
              <a:spcBef>
                <a:spcPts val="0"/>
              </a:spcBef>
              <a:spcAft>
                <a:spcPts val="0"/>
              </a:spcAft>
              <a:buSzPts val="5200"/>
              <a:buNone/>
              <a:defRPr sz="5200"/>
            </a:lvl3pPr>
            <a:lvl4pPr lvl="3" algn="ctr">
              <a:lnSpc>
                <a:spcPct val="100000"/>
              </a:lnSpc>
              <a:spcBef>
                <a:spcPts val="0"/>
              </a:spcBef>
              <a:spcAft>
                <a:spcPts val="0"/>
              </a:spcAft>
              <a:buSzPts val="5200"/>
              <a:buNone/>
              <a:defRPr sz="5200"/>
            </a:lvl4pPr>
            <a:lvl5pPr lvl="4" algn="ctr">
              <a:lnSpc>
                <a:spcPct val="100000"/>
              </a:lnSpc>
              <a:spcBef>
                <a:spcPts val="0"/>
              </a:spcBef>
              <a:spcAft>
                <a:spcPts val="0"/>
              </a:spcAft>
              <a:buSzPts val="5200"/>
              <a:buNone/>
              <a:defRPr sz="5200"/>
            </a:lvl5pPr>
            <a:lvl6pPr lvl="5" algn="ctr">
              <a:lnSpc>
                <a:spcPct val="100000"/>
              </a:lnSpc>
              <a:spcBef>
                <a:spcPts val="0"/>
              </a:spcBef>
              <a:spcAft>
                <a:spcPts val="0"/>
              </a:spcAft>
              <a:buSzPts val="5200"/>
              <a:buNone/>
              <a:defRPr sz="5200"/>
            </a:lvl6pPr>
            <a:lvl7pPr lvl="6" algn="ctr">
              <a:lnSpc>
                <a:spcPct val="100000"/>
              </a:lnSpc>
              <a:spcBef>
                <a:spcPts val="0"/>
              </a:spcBef>
              <a:spcAft>
                <a:spcPts val="0"/>
              </a:spcAft>
              <a:buSzPts val="5200"/>
              <a:buNone/>
              <a:defRPr sz="5200"/>
            </a:lvl7pPr>
            <a:lvl8pPr lvl="7" algn="ctr">
              <a:lnSpc>
                <a:spcPct val="100000"/>
              </a:lnSpc>
              <a:spcBef>
                <a:spcPts val="0"/>
              </a:spcBef>
              <a:spcAft>
                <a:spcPts val="0"/>
              </a:spcAft>
              <a:buSzPts val="5200"/>
              <a:buNone/>
              <a:defRPr sz="5200"/>
            </a:lvl8pPr>
            <a:lvl9pPr lvl="8" algn="ctr">
              <a:lnSpc>
                <a:spcPct val="100000"/>
              </a:lnSpc>
              <a:spcBef>
                <a:spcPts val="0"/>
              </a:spcBef>
              <a:spcAft>
                <a:spcPts val="0"/>
              </a:spcAft>
              <a:buSzPts val="5200"/>
              <a:buNone/>
              <a:defRPr sz="5200"/>
            </a:lvl9pPr>
          </a:lstStyle>
          <a:p/>
        </p:txBody>
      </p:sp>
      <p:sp>
        <p:nvSpPr>
          <p:cNvPr id="11" name="Google Shape;11;p2"/>
          <p:cNvSpPr txBox="1"/>
          <p:nvPr>
            <p:ph idx="1" type="subTitle"/>
          </p:nvPr>
        </p:nvSpPr>
        <p:spPr>
          <a:xfrm>
            <a:off x="311700" y="2834125"/>
            <a:ext cx="8520600" cy="792600"/>
          </a:xfrm>
          <a:prstGeom prst="rect">
            <a:avLst/>
          </a:prstGeom>
          <a:noFill/>
          <a:ln>
            <a:noFill/>
          </a:ln>
        </p:spPr>
        <p:txBody>
          <a:bodyPr anchorCtr="0" anchor="t" bIns="91425" lIns="91425" spcFirstLastPara="1" rIns="91425" wrap="square" tIns="91425">
            <a:normAutofit/>
          </a:bodyPr>
          <a:lstStyle>
            <a:lvl1pPr lvl="0" algn="ctr">
              <a:lnSpc>
                <a:spcPct val="100000"/>
              </a:lnSpc>
              <a:spcBef>
                <a:spcPts val="0"/>
              </a:spcBef>
              <a:spcAft>
                <a:spcPts val="0"/>
              </a:spcAft>
              <a:buSzPts val="2800"/>
              <a:buNone/>
              <a:defRPr sz="2800"/>
            </a:lvl1pPr>
            <a:lvl2pPr lvl="1" algn="ctr">
              <a:lnSpc>
                <a:spcPct val="100000"/>
              </a:lnSpc>
              <a:spcBef>
                <a:spcPts val="0"/>
              </a:spcBef>
              <a:spcAft>
                <a:spcPts val="0"/>
              </a:spcAft>
              <a:buSzPts val="2800"/>
              <a:buNone/>
              <a:defRPr sz="2800"/>
            </a:lvl2pPr>
            <a:lvl3pPr lvl="2" algn="ctr">
              <a:lnSpc>
                <a:spcPct val="100000"/>
              </a:lnSpc>
              <a:spcBef>
                <a:spcPts val="0"/>
              </a:spcBef>
              <a:spcAft>
                <a:spcPts val="0"/>
              </a:spcAft>
              <a:buSzPts val="2800"/>
              <a:buNone/>
              <a:defRPr sz="2800"/>
            </a:lvl3pPr>
            <a:lvl4pPr lvl="3" algn="ctr">
              <a:lnSpc>
                <a:spcPct val="100000"/>
              </a:lnSpc>
              <a:spcBef>
                <a:spcPts val="0"/>
              </a:spcBef>
              <a:spcAft>
                <a:spcPts val="0"/>
              </a:spcAft>
              <a:buSzPts val="2800"/>
              <a:buNone/>
              <a:defRPr sz="2800"/>
            </a:lvl4pPr>
            <a:lvl5pPr lvl="4" algn="ctr">
              <a:lnSpc>
                <a:spcPct val="100000"/>
              </a:lnSpc>
              <a:spcBef>
                <a:spcPts val="0"/>
              </a:spcBef>
              <a:spcAft>
                <a:spcPts val="0"/>
              </a:spcAft>
              <a:buSzPts val="2800"/>
              <a:buNone/>
              <a:defRPr sz="2800"/>
            </a:lvl5pPr>
            <a:lvl6pPr lvl="5" algn="ctr">
              <a:lnSpc>
                <a:spcPct val="100000"/>
              </a:lnSpc>
              <a:spcBef>
                <a:spcPts val="0"/>
              </a:spcBef>
              <a:spcAft>
                <a:spcPts val="0"/>
              </a:spcAft>
              <a:buSzPts val="2800"/>
              <a:buNone/>
              <a:defRPr sz="2800"/>
            </a:lvl6pPr>
            <a:lvl7pPr lvl="6" algn="ctr">
              <a:lnSpc>
                <a:spcPct val="100000"/>
              </a:lnSpc>
              <a:spcBef>
                <a:spcPts val="0"/>
              </a:spcBef>
              <a:spcAft>
                <a:spcPts val="0"/>
              </a:spcAft>
              <a:buSzPts val="2800"/>
              <a:buNone/>
              <a:defRPr sz="2800"/>
            </a:lvl7pPr>
            <a:lvl8pPr lvl="7" algn="ctr">
              <a:lnSpc>
                <a:spcPct val="100000"/>
              </a:lnSpc>
              <a:spcBef>
                <a:spcPts val="0"/>
              </a:spcBef>
              <a:spcAft>
                <a:spcPts val="0"/>
              </a:spcAft>
              <a:buSzPts val="2800"/>
              <a:buNone/>
              <a:defRPr sz="2800"/>
            </a:lvl8pPr>
            <a:lvl9pPr lvl="8" algn="ctr">
              <a:lnSpc>
                <a:spcPct val="100000"/>
              </a:lnSpc>
              <a:spcBef>
                <a:spcPts val="0"/>
              </a:spcBef>
              <a:spcAft>
                <a:spcPts val="0"/>
              </a:spcAft>
              <a:buSzPts val="2800"/>
              <a:buNone/>
              <a:defRPr sz="2800"/>
            </a:lvl9pPr>
          </a:lstStyle>
          <a:p/>
        </p:txBody>
      </p:sp>
      <p:sp>
        <p:nvSpPr>
          <p:cNvPr id="12" name="Google Shape;12;p2"/>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 text">
  <p:cSld name="ONE_COLUMN_TEXT">
    <p:spTree>
      <p:nvGrpSpPr>
        <p:cNvPr id="13" name="Shape 13"/>
        <p:cNvGrpSpPr/>
        <p:nvPr/>
      </p:nvGrpSpPr>
      <p:grpSpPr>
        <a:xfrm>
          <a:off x="0" y="0"/>
          <a:ext cx="0" cy="0"/>
          <a:chOff x="0" y="0"/>
          <a:chExt cx="0" cy="0"/>
        </a:xfrm>
      </p:grpSpPr>
      <p:sp>
        <p:nvSpPr>
          <p:cNvPr id="14" name="Google Shape;14;p3"/>
          <p:cNvSpPr txBox="1"/>
          <p:nvPr>
            <p:ph type="title"/>
          </p:nvPr>
        </p:nvSpPr>
        <p:spPr>
          <a:xfrm>
            <a:off x="311700" y="555600"/>
            <a:ext cx="2808000" cy="755700"/>
          </a:xfrm>
          <a:prstGeom prst="rect">
            <a:avLst/>
          </a:prstGeom>
          <a:noFill/>
          <a:ln>
            <a:noFill/>
          </a:ln>
        </p:spPr>
        <p:txBody>
          <a:bodyPr anchorCtr="0" anchor="b" bIns="91425" lIns="91425" spcFirstLastPara="1" rIns="91425" wrap="square" tIns="91425">
            <a:normAutofit/>
          </a:bodyPr>
          <a:lstStyle>
            <a:lvl1pPr lvl="0" algn="l">
              <a:lnSpc>
                <a:spcPct val="100000"/>
              </a:lnSpc>
              <a:spcBef>
                <a:spcPts val="0"/>
              </a:spcBef>
              <a:spcAft>
                <a:spcPts val="0"/>
              </a:spcAft>
              <a:buSzPts val="2400"/>
              <a:buNone/>
              <a:defRPr sz="2400"/>
            </a:lvl1pPr>
            <a:lvl2pPr lvl="1" algn="l">
              <a:lnSpc>
                <a:spcPct val="100000"/>
              </a:lnSpc>
              <a:spcBef>
                <a:spcPts val="0"/>
              </a:spcBef>
              <a:spcAft>
                <a:spcPts val="0"/>
              </a:spcAft>
              <a:buSzPts val="2400"/>
              <a:buNone/>
              <a:defRPr sz="2400"/>
            </a:lvl2pPr>
            <a:lvl3pPr lvl="2" algn="l">
              <a:lnSpc>
                <a:spcPct val="100000"/>
              </a:lnSpc>
              <a:spcBef>
                <a:spcPts val="0"/>
              </a:spcBef>
              <a:spcAft>
                <a:spcPts val="0"/>
              </a:spcAft>
              <a:buSzPts val="2400"/>
              <a:buNone/>
              <a:defRPr sz="2400"/>
            </a:lvl3pPr>
            <a:lvl4pPr lvl="3" algn="l">
              <a:lnSpc>
                <a:spcPct val="100000"/>
              </a:lnSpc>
              <a:spcBef>
                <a:spcPts val="0"/>
              </a:spcBef>
              <a:spcAft>
                <a:spcPts val="0"/>
              </a:spcAft>
              <a:buSzPts val="2400"/>
              <a:buNone/>
              <a:defRPr sz="2400"/>
            </a:lvl4pPr>
            <a:lvl5pPr lvl="4" algn="l">
              <a:lnSpc>
                <a:spcPct val="100000"/>
              </a:lnSpc>
              <a:spcBef>
                <a:spcPts val="0"/>
              </a:spcBef>
              <a:spcAft>
                <a:spcPts val="0"/>
              </a:spcAft>
              <a:buSzPts val="2400"/>
              <a:buNone/>
              <a:defRPr sz="2400"/>
            </a:lvl5pPr>
            <a:lvl6pPr lvl="5" algn="l">
              <a:lnSpc>
                <a:spcPct val="100000"/>
              </a:lnSpc>
              <a:spcBef>
                <a:spcPts val="0"/>
              </a:spcBef>
              <a:spcAft>
                <a:spcPts val="0"/>
              </a:spcAft>
              <a:buSzPts val="2400"/>
              <a:buNone/>
              <a:defRPr sz="2400"/>
            </a:lvl6pPr>
            <a:lvl7pPr lvl="6" algn="l">
              <a:lnSpc>
                <a:spcPct val="100000"/>
              </a:lnSpc>
              <a:spcBef>
                <a:spcPts val="0"/>
              </a:spcBef>
              <a:spcAft>
                <a:spcPts val="0"/>
              </a:spcAft>
              <a:buSzPts val="2400"/>
              <a:buNone/>
              <a:defRPr sz="2400"/>
            </a:lvl7pPr>
            <a:lvl8pPr lvl="7" algn="l">
              <a:lnSpc>
                <a:spcPct val="100000"/>
              </a:lnSpc>
              <a:spcBef>
                <a:spcPts val="0"/>
              </a:spcBef>
              <a:spcAft>
                <a:spcPts val="0"/>
              </a:spcAft>
              <a:buSzPts val="2400"/>
              <a:buNone/>
              <a:defRPr sz="2400"/>
            </a:lvl8pPr>
            <a:lvl9pPr lvl="8" algn="l">
              <a:lnSpc>
                <a:spcPct val="100000"/>
              </a:lnSpc>
              <a:spcBef>
                <a:spcPts val="0"/>
              </a:spcBef>
              <a:spcAft>
                <a:spcPts val="0"/>
              </a:spcAft>
              <a:buSzPts val="2400"/>
              <a:buNone/>
              <a:defRPr sz="2400"/>
            </a:lvl9pPr>
          </a:lstStyle>
          <a:p/>
        </p:txBody>
      </p:sp>
      <p:sp>
        <p:nvSpPr>
          <p:cNvPr id="15" name="Google Shape;15;p3"/>
          <p:cNvSpPr txBox="1"/>
          <p:nvPr>
            <p:ph idx="1" type="body"/>
          </p:nvPr>
        </p:nvSpPr>
        <p:spPr>
          <a:xfrm>
            <a:off x="311700" y="1389600"/>
            <a:ext cx="2808000" cy="3179400"/>
          </a:xfrm>
          <a:prstGeom prst="rect">
            <a:avLst/>
          </a:prstGeom>
          <a:noFill/>
          <a:ln>
            <a:noFill/>
          </a:ln>
        </p:spPr>
        <p:txBody>
          <a:bodyPr anchorCtr="0" anchor="t" bIns="91425" lIns="91425" spcFirstLastPara="1" rIns="91425" wrap="square" tIns="91425">
            <a:normAutofit/>
          </a:bodyPr>
          <a:lstStyle>
            <a:lvl1pPr indent="-304800" lvl="0" marL="457200" algn="l">
              <a:lnSpc>
                <a:spcPct val="115000"/>
              </a:lnSpc>
              <a:spcBef>
                <a:spcPts val="0"/>
              </a:spcBef>
              <a:spcAft>
                <a:spcPts val="0"/>
              </a:spcAft>
              <a:buSzPts val="1200"/>
              <a:buChar char="●"/>
              <a:defRPr sz="12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16" name="Google Shape;16;p3"/>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17" name="Shape 17"/>
        <p:cNvGrpSpPr/>
        <p:nvPr/>
      </p:nvGrpSpPr>
      <p:grpSpPr>
        <a:xfrm>
          <a:off x="0" y="0"/>
          <a:ext cx="0" cy="0"/>
          <a:chOff x="0" y="0"/>
          <a:chExt cx="0" cy="0"/>
        </a:xfrm>
      </p:grpSpPr>
      <p:sp>
        <p:nvSpPr>
          <p:cNvPr id="18" name="Google Shape;18;p4"/>
          <p:cNvSpPr/>
          <p:nvPr/>
        </p:nvSpPr>
        <p:spPr>
          <a:xfrm>
            <a:off x="4572000" y="-125"/>
            <a:ext cx="4572000" cy="5143500"/>
          </a:xfrm>
          <a:prstGeom prst="rect">
            <a:avLst/>
          </a:prstGeom>
          <a:solidFill>
            <a:schemeClr val="l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9" name="Google Shape;19;p4"/>
          <p:cNvSpPr txBox="1"/>
          <p:nvPr>
            <p:ph type="title"/>
          </p:nvPr>
        </p:nvSpPr>
        <p:spPr>
          <a:xfrm>
            <a:off x="265500" y="1233175"/>
            <a:ext cx="4045200" cy="1482300"/>
          </a:xfrm>
          <a:prstGeom prst="rect">
            <a:avLst/>
          </a:prstGeom>
          <a:noFill/>
          <a:ln>
            <a:noFill/>
          </a:ln>
        </p:spPr>
        <p:txBody>
          <a:bodyPr anchorCtr="0" anchor="b" bIns="91425" lIns="91425" spcFirstLastPara="1" rIns="91425" wrap="square" tIns="91425">
            <a:normAutofit/>
          </a:bodyPr>
          <a:lstStyle>
            <a:lvl1pPr lvl="0" algn="ctr">
              <a:lnSpc>
                <a:spcPct val="100000"/>
              </a:lnSpc>
              <a:spcBef>
                <a:spcPts val="0"/>
              </a:spcBef>
              <a:spcAft>
                <a:spcPts val="0"/>
              </a:spcAft>
              <a:buSzPts val="4200"/>
              <a:buNone/>
              <a:defRPr sz="4200"/>
            </a:lvl1pPr>
            <a:lvl2pPr lvl="1" algn="ctr">
              <a:lnSpc>
                <a:spcPct val="100000"/>
              </a:lnSpc>
              <a:spcBef>
                <a:spcPts val="0"/>
              </a:spcBef>
              <a:spcAft>
                <a:spcPts val="0"/>
              </a:spcAft>
              <a:buSzPts val="4200"/>
              <a:buNone/>
              <a:defRPr sz="4200"/>
            </a:lvl2pPr>
            <a:lvl3pPr lvl="2" algn="ctr">
              <a:lnSpc>
                <a:spcPct val="100000"/>
              </a:lnSpc>
              <a:spcBef>
                <a:spcPts val="0"/>
              </a:spcBef>
              <a:spcAft>
                <a:spcPts val="0"/>
              </a:spcAft>
              <a:buSzPts val="4200"/>
              <a:buNone/>
              <a:defRPr sz="4200"/>
            </a:lvl3pPr>
            <a:lvl4pPr lvl="3" algn="ctr">
              <a:lnSpc>
                <a:spcPct val="100000"/>
              </a:lnSpc>
              <a:spcBef>
                <a:spcPts val="0"/>
              </a:spcBef>
              <a:spcAft>
                <a:spcPts val="0"/>
              </a:spcAft>
              <a:buSzPts val="4200"/>
              <a:buNone/>
              <a:defRPr sz="4200"/>
            </a:lvl4pPr>
            <a:lvl5pPr lvl="4" algn="ctr">
              <a:lnSpc>
                <a:spcPct val="100000"/>
              </a:lnSpc>
              <a:spcBef>
                <a:spcPts val="0"/>
              </a:spcBef>
              <a:spcAft>
                <a:spcPts val="0"/>
              </a:spcAft>
              <a:buSzPts val="4200"/>
              <a:buNone/>
              <a:defRPr sz="4200"/>
            </a:lvl5pPr>
            <a:lvl6pPr lvl="5" algn="ctr">
              <a:lnSpc>
                <a:spcPct val="100000"/>
              </a:lnSpc>
              <a:spcBef>
                <a:spcPts val="0"/>
              </a:spcBef>
              <a:spcAft>
                <a:spcPts val="0"/>
              </a:spcAft>
              <a:buSzPts val="4200"/>
              <a:buNone/>
              <a:defRPr sz="4200"/>
            </a:lvl6pPr>
            <a:lvl7pPr lvl="6" algn="ctr">
              <a:lnSpc>
                <a:spcPct val="100000"/>
              </a:lnSpc>
              <a:spcBef>
                <a:spcPts val="0"/>
              </a:spcBef>
              <a:spcAft>
                <a:spcPts val="0"/>
              </a:spcAft>
              <a:buSzPts val="4200"/>
              <a:buNone/>
              <a:defRPr sz="4200"/>
            </a:lvl7pPr>
            <a:lvl8pPr lvl="7" algn="ctr">
              <a:lnSpc>
                <a:spcPct val="100000"/>
              </a:lnSpc>
              <a:spcBef>
                <a:spcPts val="0"/>
              </a:spcBef>
              <a:spcAft>
                <a:spcPts val="0"/>
              </a:spcAft>
              <a:buSzPts val="4200"/>
              <a:buNone/>
              <a:defRPr sz="4200"/>
            </a:lvl8pPr>
            <a:lvl9pPr lvl="8" algn="ctr">
              <a:lnSpc>
                <a:spcPct val="100000"/>
              </a:lnSpc>
              <a:spcBef>
                <a:spcPts val="0"/>
              </a:spcBef>
              <a:spcAft>
                <a:spcPts val="0"/>
              </a:spcAft>
              <a:buSzPts val="4200"/>
              <a:buNone/>
              <a:defRPr sz="4200"/>
            </a:lvl9pPr>
          </a:lstStyle>
          <a:p/>
        </p:txBody>
      </p:sp>
      <p:sp>
        <p:nvSpPr>
          <p:cNvPr id="20" name="Google Shape;20;p4"/>
          <p:cNvSpPr txBox="1"/>
          <p:nvPr>
            <p:ph idx="1" type="subTitle"/>
          </p:nvPr>
        </p:nvSpPr>
        <p:spPr>
          <a:xfrm>
            <a:off x="265500" y="2803075"/>
            <a:ext cx="4045200" cy="1235100"/>
          </a:xfrm>
          <a:prstGeom prst="rect">
            <a:avLst/>
          </a:prstGeom>
          <a:noFill/>
          <a:ln>
            <a:noFill/>
          </a:ln>
        </p:spPr>
        <p:txBody>
          <a:bodyPr anchorCtr="0" anchor="t" bIns="91425" lIns="91425" spcFirstLastPara="1" rIns="91425" wrap="square" tIns="91425">
            <a:normAutofit/>
          </a:bodyPr>
          <a:lstStyle>
            <a:lvl1pPr lvl="0" algn="ctr">
              <a:lnSpc>
                <a:spcPct val="100000"/>
              </a:lnSpc>
              <a:spcBef>
                <a:spcPts val="0"/>
              </a:spcBef>
              <a:spcAft>
                <a:spcPts val="0"/>
              </a:spcAft>
              <a:buSzPts val="2100"/>
              <a:buNone/>
              <a:defRPr sz="2100"/>
            </a:lvl1pPr>
            <a:lvl2pPr lvl="1" algn="ctr">
              <a:lnSpc>
                <a:spcPct val="100000"/>
              </a:lnSpc>
              <a:spcBef>
                <a:spcPts val="0"/>
              </a:spcBef>
              <a:spcAft>
                <a:spcPts val="0"/>
              </a:spcAft>
              <a:buSzPts val="2100"/>
              <a:buNone/>
              <a:defRPr sz="2100"/>
            </a:lvl2pPr>
            <a:lvl3pPr lvl="2" algn="ctr">
              <a:lnSpc>
                <a:spcPct val="100000"/>
              </a:lnSpc>
              <a:spcBef>
                <a:spcPts val="0"/>
              </a:spcBef>
              <a:spcAft>
                <a:spcPts val="0"/>
              </a:spcAft>
              <a:buSzPts val="2100"/>
              <a:buNone/>
              <a:defRPr sz="2100"/>
            </a:lvl3pPr>
            <a:lvl4pPr lvl="3" algn="ctr">
              <a:lnSpc>
                <a:spcPct val="100000"/>
              </a:lnSpc>
              <a:spcBef>
                <a:spcPts val="0"/>
              </a:spcBef>
              <a:spcAft>
                <a:spcPts val="0"/>
              </a:spcAft>
              <a:buSzPts val="2100"/>
              <a:buNone/>
              <a:defRPr sz="2100"/>
            </a:lvl4pPr>
            <a:lvl5pPr lvl="4" algn="ctr">
              <a:lnSpc>
                <a:spcPct val="100000"/>
              </a:lnSpc>
              <a:spcBef>
                <a:spcPts val="0"/>
              </a:spcBef>
              <a:spcAft>
                <a:spcPts val="0"/>
              </a:spcAft>
              <a:buSzPts val="2100"/>
              <a:buNone/>
              <a:defRPr sz="2100"/>
            </a:lvl5pPr>
            <a:lvl6pPr lvl="5" algn="ctr">
              <a:lnSpc>
                <a:spcPct val="100000"/>
              </a:lnSpc>
              <a:spcBef>
                <a:spcPts val="0"/>
              </a:spcBef>
              <a:spcAft>
                <a:spcPts val="0"/>
              </a:spcAft>
              <a:buSzPts val="2100"/>
              <a:buNone/>
              <a:defRPr sz="2100"/>
            </a:lvl6pPr>
            <a:lvl7pPr lvl="6" algn="ctr">
              <a:lnSpc>
                <a:spcPct val="100000"/>
              </a:lnSpc>
              <a:spcBef>
                <a:spcPts val="0"/>
              </a:spcBef>
              <a:spcAft>
                <a:spcPts val="0"/>
              </a:spcAft>
              <a:buSzPts val="2100"/>
              <a:buNone/>
              <a:defRPr sz="2100"/>
            </a:lvl7pPr>
            <a:lvl8pPr lvl="7" algn="ctr">
              <a:lnSpc>
                <a:spcPct val="100000"/>
              </a:lnSpc>
              <a:spcBef>
                <a:spcPts val="0"/>
              </a:spcBef>
              <a:spcAft>
                <a:spcPts val="0"/>
              </a:spcAft>
              <a:buSzPts val="2100"/>
              <a:buNone/>
              <a:defRPr sz="2100"/>
            </a:lvl8pPr>
            <a:lvl9pPr lvl="8" algn="ctr">
              <a:lnSpc>
                <a:spcPct val="100000"/>
              </a:lnSpc>
              <a:spcBef>
                <a:spcPts val="0"/>
              </a:spcBef>
              <a:spcAft>
                <a:spcPts val="0"/>
              </a:spcAft>
              <a:buSzPts val="2100"/>
              <a:buNone/>
              <a:defRPr sz="2100"/>
            </a:lvl9pPr>
          </a:lstStyle>
          <a:p/>
        </p:txBody>
      </p:sp>
      <p:sp>
        <p:nvSpPr>
          <p:cNvPr id="21" name="Google Shape;21;p4"/>
          <p:cNvSpPr txBox="1"/>
          <p:nvPr>
            <p:ph idx="2" type="body"/>
          </p:nvPr>
        </p:nvSpPr>
        <p:spPr>
          <a:xfrm>
            <a:off x="4939500" y="724075"/>
            <a:ext cx="3837000" cy="3695100"/>
          </a:xfrm>
          <a:prstGeom prst="rect">
            <a:avLst/>
          </a:prstGeom>
          <a:noFill/>
          <a:ln>
            <a:noFill/>
          </a:ln>
        </p:spPr>
        <p:txBody>
          <a:bodyPr anchorCtr="0" anchor="ctr" bIns="91425" lIns="91425" spcFirstLastPara="1" rIns="91425" wrap="square" tIns="91425">
            <a:normAutofit/>
          </a:bodyPr>
          <a:lstStyle>
            <a:lvl1pPr indent="-342900" lvl="0" marL="457200" algn="l">
              <a:lnSpc>
                <a:spcPct val="115000"/>
              </a:lnSpc>
              <a:spcBef>
                <a:spcPts val="0"/>
              </a:spcBef>
              <a:spcAft>
                <a:spcPts val="0"/>
              </a:spcAft>
              <a:buSzPts val="1800"/>
              <a:buChar char="●"/>
              <a:defRPr/>
            </a:lvl1pPr>
            <a:lvl2pPr indent="-317500" lvl="1" marL="914400" algn="l">
              <a:lnSpc>
                <a:spcPct val="115000"/>
              </a:lnSpc>
              <a:spcBef>
                <a:spcPts val="0"/>
              </a:spcBef>
              <a:spcAft>
                <a:spcPts val="0"/>
              </a:spcAft>
              <a:buSzPts val="1400"/>
              <a:buChar char="○"/>
              <a:defRPr/>
            </a:lvl2pPr>
            <a:lvl3pPr indent="-317500" lvl="2" marL="1371600" algn="l">
              <a:lnSpc>
                <a:spcPct val="115000"/>
              </a:lnSpc>
              <a:spcBef>
                <a:spcPts val="0"/>
              </a:spcBef>
              <a:spcAft>
                <a:spcPts val="0"/>
              </a:spcAft>
              <a:buSzPts val="1400"/>
              <a:buChar char="■"/>
              <a:defRPr/>
            </a:lvl3pPr>
            <a:lvl4pPr indent="-317500" lvl="3" marL="1828800" algn="l">
              <a:lnSpc>
                <a:spcPct val="115000"/>
              </a:lnSpc>
              <a:spcBef>
                <a:spcPts val="0"/>
              </a:spcBef>
              <a:spcAft>
                <a:spcPts val="0"/>
              </a:spcAft>
              <a:buSzPts val="1400"/>
              <a:buChar char="●"/>
              <a:defRPr/>
            </a:lvl4pPr>
            <a:lvl5pPr indent="-317500" lvl="4" marL="2286000" algn="l">
              <a:lnSpc>
                <a:spcPct val="115000"/>
              </a:lnSpc>
              <a:spcBef>
                <a:spcPts val="0"/>
              </a:spcBef>
              <a:spcAft>
                <a:spcPts val="0"/>
              </a:spcAft>
              <a:buSzPts val="1400"/>
              <a:buChar char="○"/>
              <a:defRPr/>
            </a:lvl5pPr>
            <a:lvl6pPr indent="-317500" lvl="5" marL="2743200" algn="l">
              <a:lnSpc>
                <a:spcPct val="115000"/>
              </a:lnSpc>
              <a:spcBef>
                <a:spcPts val="0"/>
              </a:spcBef>
              <a:spcAft>
                <a:spcPts val="0"/>
              </a:spcAft>
              <a:buSzPts val="1400"/>
              <a:buChar char="■"/>
              <a:defRPr/>
            </a:lvl6pPr>
            <a:lvl7pPr indent="-317500" lvl="6" marL="3200400" algn="l">
              <a:lnSpc>
                <a:spcPct val="115000"/>
              </a:lnSpc>
              <a:spcBef>
                <a:spcPts val="0"/>
              </a:spcBef>
              <a:spcAft>
                <a:spcPts val="0"/>
              </a:spcAft>
              <a:buSzPts val="1400"/>
              <a:buChar char="●"/>
              <a:defRPr/>
            </a:lvl7pPr>
            <a:lvl8pPr indent="-317500" lvl="7" marL="3657600" algn="l">
              <a:lnSpc>
                <a:spcPct val="115000"/>
              </a:lnSpc>
              <a:spcBef>
                <a:spcPts val="0"/>
              </a:spcBef>
              <a:spcAft>
                <a:spcPts val="0"/>
              </a:spcAft>
              <a:buSzPts val="1400"/>
              <a:buChar char="○"/>
              <a:defRPr/>
            </a:lvl8pPr>
            <a:lvl9pPr indent="-317500" lvl="8" marL="4114800" algn="l">
              <a:lnSpc>
                <a:spcPct val="115000"/>
              </a:lnSpc>
              <a:spcBef>
                <a:spcPts val="0"/>
              </a:spcBef>
              <a:spcAft>
                <a:spcPts val="0"/>
              </a:spcAft>
              <a:buSzPts val="1400"/>
              <a:buChar char="■"/>
              <a:defRPr/>
            </a:lvl9pPr>
          </a:lstStyle>
          <a:p/>
        </p:txBody>
      </p:sp>
      <p:sp>
        <p:nvSpPr>
          <p:cNvPr id="22" name="Google Shape;22;p4"/>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23" name="Shape 23"/>
        <p:cNvGrpSpPr/>
        <p:nvPr/>
      </p:nvGrpSpPr>
      <p:grpSpPr>
        <a:xfrm>
          <a:off x="0" y="0"/>
          <a:ext cx="0" cy="0"/>
          <a:chOff x="0" y="0"/>
          <a:chExt cx="0" cy="0"/>
        </a:xfrm>
      </p:grpSpPr>
      <p:sp>
        <p:nvSpPr>
          <p:cNvPr id="24" name="Google Shape;24;p5"/>
          <p:cNvSpPr txBox="1"/>
          <p:nvPr>
            <p:ph idx="1" type="body"/>
          </p:nvPr>
        </p:nvSpPr>
        <p:spPr>
          <a:xfrm>
            <a:off x="311700" y="4230575"/>
            <a:ext cx="5998800" cy="605100"/>
          </a:xfrm>
          <a:prstGeom prst="rect">
            <a:avLst/>
          </a:prstGeom>
          <a:noFill/>
          <a:ln>
            <a:noFill/>
          </a:ln>
        </p:spPr>
        <p:txBody>
          <a:bodyPr anchorCtr="0" anchor="ctr" bIns="91425" lIns="91425" spcFirstLastPara="1" rIns="91425" wrap="square" tIns="91425">
            <a:normAutofit/>
          </a:bodyPr>
          <a:lstStyle>
            <a:lvl1pPr indent="-228600" lvl="0" marL="457200" algn="l">
              <a:lnSpc>
                <a:spcPct val="100000"/>
              </a:lnSpc>
              <a:spcBef>
                <a:spcPts val="0"/>
              </a:spcBef>
              <a:spcAft>
                <a:spcPts val="0"/>
              </a:spcAft>
              <a:buSzPts val="1800"/>
              <a:buNone/>
              <a:defRPr/>
            </a:lvl1pPr>
          </a:lstStyle>
          <a:p/>
        </p:txBody>
      </p:sp>
      <p:sp>
        <p:nvSpPr>
          <p:cNvPr id="25" name="Google Shape;25;p5"/>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spTree>
      <p:nvGrpSpPr>
        <p:cNvPr id="26" name="Shape 26"/>
        <p:cNvGrpSpPr/>
        <p:nvPr/>
      </p:nvGrpSpPr>
      <p:grpSpPr>
        <a:xfrm>
          <a:off x="0" y="0"/>
          <a:ext cx="0" cy="0"/>
          <a:chOff x="0" y="0"/>
          <a:chExt cx="0" cy="0"/>
        </a:xfrm>
      </p:grpSpPr>
      <p:sp>
        <p:nvSpPr>
          <p:cNvPr id="27" name="Google Shape;27;p6"/>
          <p:cNvSpPr txBox="1"/>
          <p:nvPr>
            <p:ph hasCustomPrompt="1" type="title"/>
          </p:nvPr>
        </p:nvSpPr>
        <p:spPr>
          <a:xfrm>
            <a:off x="311700" y="1106125"/>
            <a:ext cx="8520600" cy="1963500"/>
          </a:xfrm>
          <a:prstGeom prst="rect">
            <a:avLst/>
          </a:prstGeom>
          <a:noFill/>
          <a:ln>
            <a:noFill/>
          </a:ln>
        </p:spPr>
        <p:txBody>
          <a:bodyPr anchorCtr="0" anchor="b" bIns="91425" lIns="91425" spcFirstLastPara="1" rIns="91425" wrap="square" tIns="91425">
            <a:normAutofit/>
          </a:bodyPr>
          <a:lstStyle>
            <a:lvl1pPr lvl="0" algn="ctr">
              <a:lnSpc>
                <a:spcPct val="100000"/>
              </a:lnSpc>
              <a:spcBef>
                <a:spcPts val="0"/>
              </a:spcBef>
              <a:spcAft>
                <a:spcPts val="0"/>
              </a:spcAft>
              <a:buSzPts val="12000"/>
              <a:buNone/>
              <a:defRPr sz="12000"/>
            </a:lvl1pPr>
            <a:lvl2pPr lvl="1" algn="ctr">
              <a:lnSpc>
                <a:spcPct val="100000"/>
              </a:lnSpc>
              <a:spcBef>
                <a:spcPts val="0"/>
              </a:spcBef>
              <a:spcAft>
                <a:spcPts val="0"/>
              </a:spcAft>
              <a:buSzPts val="12000"/>
              <a:buNone/>
              <a:defRPr sz="12000"/>
            </a:lvl2pPr>
            <a:lvl3pPr lvl="2" algn="ctr">
              <a:lnSpc>
                <a:spcPct val="100000"/>
              </a:lnSpc>
              <a:spcBef>
                <a:spcPts val="0"/>
              </a:spcBef>
              <a:spcAft>
                <a:spcPts val="0"/>
              </a:spcAft>
              <a:buSzPts val="12000"/>
              <a:buNone/>
              <a:defRPr sz="12000"/>
            </a:lvl3pPr>
            <a:lvl4pPr lvl="3" algn="ctr">
              <a:lnSpc>
                <a:spcPct val="100000"/>
              </a:lnSpc>
              <a:spcBef>
                <a:spcPts val="0"/>
              </a:spcBef>
              <a:spcAft>
                <a:spcPts val="0"/>
              </a:spcAft>
              <a:buSzPts val="12000"/>
              <a:buNone/>
              <a:defRPr sz="12000"/>
            </a:lvl4pPr>
            <a:lvl5pPr lvl="4" algn="ctr">
              <a:lnSpc>
                <a:spcPct val="100000"/>
              </a:lnSpc>
              <a:spcBef>
                <a:spcPts val="0"/>
              </a:spcBef>
              <a:spcAft>
                <a:spcPts val="0"/>
              </a:spcAft>
              <a:buSzPts val="12000"/>
              <a:buNone/>
              <a:defRPr sz="12000"/>
            </a:lvl5pPr>
            <a:lvl6pPr lvl="5" algn="ctr">
              <a:lnSpc>
                <a:spcPct val="100000"/>
              </a:lnSpc>
              <a:spcBef>
                <a:spcPts val="0"/>
              </a:spcBef>
              <a:spcAft>
                <a:spcPts val="0"/>
              </a:spcAft>
              <a:buSzPts val="12000"/>
              <a:buNone/>
              <a:defRPr sz="12000"/>
            </a:lvl6pPr>
            <a:lvl7pPr lvl="6" algn="ctr">
              <a:lnSpc>
                <a:spcPct val="100000"/>
              </a:lnSpc>
              <a:spcBef>
                <a:spcPts val="0"/>
              </a:spcBef>
              <a:spcAft>
                <a:spcPts val="0"/>
              </a:spcAft>
              <a:buSzPts val="12000"/>
              <a:buNone/>
              <a:defRPr sz="12000"/>
            </a:lvl7pPr>
            <a:lvl8pPr lvl="7" algn="ctr">
              <a:lnSpc>
                <a:spcPct val="100000"/>
              </a:lnSpc>
              <a:spcBef>
                <a:spcPts val="0"/>
              </a:spcBef>
              <a:spcAft>
                <a:spcPts val="0"/>
              </a:spcAft>
              <a:buSzPts val="12000"/>
              <a:buNone/>
              <a:defRPr sz="12000"/>
            </a:lvl8pPr>
            <a:lvl9pPr lvl="8" algn="ctr">
              <a:lnSpc>
                <a:spcPct val="100000"/>
              </a:lnSpc>
              <a:spcBef>
                <a:spcPts val="0"/>
              </a:spcBef>
              <a:spcAft>
                <a:spcPts val="0"/>
              </a:spcAft>
              <a:buSzPts val="12000"/>
              <a:buNone/>
              <a:defRPr sz="12000"/>
            </a:lvl9pPr>
          </a:lstStyle>
          <a:p>
            <a:r>
              <a:t>xx%</a:t>
            </a:r>
          </a:p>
        </p:txBody>
      </p:sp>
      <p:sp>
        <p:nvSpPr>
          <p:cNvPr id="28" name="Google Shape;28;p6"/>
          <p:cNvSpPr txBox="1"/>
          <p:nvPr>
            <p:ph idx="1" type="body"/>
          </p:nvPr>
        </p:nvSpPr>
        <p:spPr>
          <a:xfrm>
            <a:off x="311700" y="3152225"/>
            <a:ext cx="8520600" cy="1300800"/>
          </a:xfrm>
          <a:prstGeom prst="rect">
            <a:avLst/>
          </a:prstGeom>
          <a:noFill/>
          <a:ln>
            <a:noFill/>
          </a:ln>
        </p:spPr>
        <p:txBody>
          <a:bodyPr anchorCtr="0" anchor="t" bIns="91425" lIns="91425" spcFirstLastPara="1" rIns="91425" wrap="square" tIns="91425">
            <a:normAutofit/>
          </a:bodyPr>
          <a:lstStyle>
            <a:lvl1pPr indent="-342900" lvl="0" marL="457200" algn="ctr">
              <a:lnSpc>
                <a:spcPct val="115000"/>
              </a:lnSpc>
              <a:spcBef>
                <a:spcPts val="0"/>
              </a:spcBef>
              <a:spcAft>
                <a:spcPts val="0"/>
              </a:spcAft>
              <a:buSzPts val="1800"/>
              <a:buChar char="●"/>
              <a:defRPr/>
            </a:lvl1pPr>
            <a:lvl2pPr indent="-317500" lvl="1" marL="914400" algn="ctr">
              <a:lnSpc>
                <a:spcPct val="115000"/>
              </a:lnSpc>
              <a:spcBef>
                <a:spcPts val="0"/>
              </a:spcBef>
              <a:spcAft>
                <a:spcPts val="0"/>
              </a:spcAft>
              <a:buSzPts val="1400"/>
              <a:buChar char="○"/>
              <a:defRPr/>
            </a:lvl2pPr>
            <a:lvl3pPr indent="-317500" lvl="2" marL="1371600" algn="ctr">
              <a:lnSpc>
                <a:spcPct val="115000"/>
              </a:lnSpc>
              <a:spcBef>
                <a:spcPts val="0"/>
              </a:spcBef>
              <a:spcAft>
                <a:spcPts val="0"/>
              </a:spcAft>
              <a:buSzPts val="1400"/>
              <a:buChar char="■"/>
              <a:defRPr/>
            </a:lvl3pPr>
            <a:lvl4pPr indent="-317500" lvl="3" marL="1828800" algn="ctr">
              <a:lnSpc>
                <a:spcPct val="115000"/>
              </a:lnSpc>
              <a:spcBef>
                <a:spcPts val="0"/>
              </a:spcBef>
              <a:spcAft>
                <a:spcPts val="0"/>
              </a:spcAft>
              <a:buSzPts val="1400"/>
              <a:buChar char="●"/>
              <a:defRPr/>
            </a:lvl4pPr>
            <a:lvl5pPr indent="-317500" lvl="4" marL="2286000" algn="ctr">
              <a:lnSpc>
                <a:spcPct val="115000"/>
              </a:lnSpc>
              <a:spcBef>
                <a:spcPts val="0"/>
              </a:spcBef>
              <a:spcAft>
                <a:spcPts val="0"/>
              </a:spcAft>
              <a:buSzPts val="1400"/>
              <a:buChar char="○"/>
              <a:defRPr/>
            </a:lvl5pPr>
            <a:lvl6pPr indent="-317500" lvl="5" marL="2743200" algn="ctr">
              <a:lnSpc>
                <a:spcPct val="115000"/>
              </a:lnSpc>
              <a:spcBef>
                <a:spcPts val="0"/>
              </a:spcBef>
              <a:spcAft>
                <a:spcPts val="0"/>
              </a:spcAft>
              <a:buSzPts val="1400"/>
              <a:buChar char="■"/>
              <a:defRPr/>
            </a:lvl6pPr>
            <a:lvl7pPr indent="-317500" lvl="6" marL="3200400" algn="ctr">
              <a:lnSpc>
                <a:spcPct val="115000"/>
              </a:lnSpc>
              <a:spcBef>
                <a:spcPts val="0"/>
              </a:spcBef>
              <a:spcAft>
                <a:spcPts val="0"/>
              </a:spcAft>
              <a:buSzPts val="1400"/>
              <a:buChar char="●"/>
              <a:defRPr/>
            </a:lvl7pPr>
            <a:lvl8pPr indent="-317500" lvl="7" marL="3657600" algn="ctr">
              <a:lnSpc>
                <a:spcPct val="115000"/>
              </a:lnSpc>
              <a:spcBef>
                <a:spcPts val="0"/>
              </a:spcBef>
              <a:spcAft>
                <a:spcPts val="0"/>
              </a:spcAft>
              <a:buSzPts val="1400"/>
              <a:buChar char="○"/>
              <a:defRPr/>
            </a:lvl8pPr>
            <a:lvl9pPr indent="-317500" lvl="8" marL="4114800" algn="ctr">
              <a:lnSpc>
                <a:spcPct val="115000"/>
              </a:lnSpc>
              <a:spcBef>
                <a:spcPts val="0"/>
              </a:spcBef>
              <a:spcAft>
                <a:spcPts val="0"/>
              </a:spcAft>
              <a:buSzPts val="1400"/>
              <a:buChar char="■"/>
              <a:defRPr/>
            </a:lvl9pPr>
          </a:lstStyle>
          <a:p/>
        </p:txBody>
      </p:sp>
      <p:sp>
        <p:nvSpPr>
          <p:cNvPr id="29" name="Google Shape;29;p6"/>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30" name="Shape 30"/>
        <p:cNvGrpSpPr/>
        <p:nvPr/>
      </p:nvGrpSpPr>
      <p:grpSpPr>
        <a:xfrm>
          <a:off x="0" y="0"/>
          <a:ext cx="0" cy="0"/>
          <a:chOff x="0" y="0"/>
          <a:chExt cx="0" cy="0"/>
        </a:xfrm>
      </p:grpSpPr>
      <p:sp>
        <p:nvSpPr>
          <p:cNvPr id="31" name="Google Shape;31;p7"/>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theme" Target="../theme/theme2.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rmAutofit/>
          </a:bodyPr>
          <a:lstStyle>
            <a:lvl1pPr lvl="0" marR="0" rtl="0" algn="l">
              <a:lnSpc>
                <a:spcPct val="100000"/>
              </a:lnSpc>
              <a:spcBef>
                <a:spcPts val="0"/>
              </a:spcBef>
              <a:spcAft>
                <a:spcPts val="0"/>
              </a:spcAft>
              <a:buClr>
                <a:schemeClr val="dk1"/>
              </a:buClr>
              <a:buSzPts val="2800"/>
              <a:buFont typeface="Arial"/>
              <a:buNone/>
              <a:defRPr b="0" i="0" sz="2800" u="none" cap="none" strike="noStrike">
                <a:solidFill>
                  <a:schemeClr val="dk1"/>
                </a:solidFill>
                <a:latin typeface="Arial"/>
                <a:ea typeface="Arial"/>
                <a:cs typeface="Arial"/>
                <a:sym typeface="Arial"/>
              </a:defRPr>
            </a:lvl1pPr>
            <a:lvl2pPr lvl="1" marR="0" rtl="0" algn="l">
              <a:lnSpc>
                <a:spcPct val="100000"/>
              </a:lnSpc>
              <a:spcBef>
                <a:spcPts val="0"/>
              </a:spcBef>
              <a:spcAft>
                <a:spcPts val="0"/>
              </a:spcAft>
              <a:buClr>
                <a:schemeClr val="dk1"/>
              </a:buClr>
              <a:buSzPts val="2800"/>
              <a:buFont typeface="Arial"/>
              <a:buNone/>
              <a:defRPr b="0" i="0" sz="2800" u="none" cap="none" strike="noStrike">
                <a:solidFill>
                  <a:schemeClr val="dk1"/>
                </a:solidFill>
                <a:latin typeface="Arial"/>
                <a:ea typeface="Arial"/>
                <a:cs typeface="Arial"/>
                <a:sym typeface="Arial"/>
              </a:defRPr>
            </a:lvl2pPr>
            <a:lvl3pPr lvl="2" marR="0" rtl="0" algn="l">
              <a:lnSpc>
                <a:spcPct val="100000"/>
              </a:lnSpc>
              <a:spcBef>
                <a:spcPts val="0"/>
              </a:spcBef>
              <a:spcAft>
                <a:spcPts val="0"/>
              </a:spcAft>
              <a:buClr>
                <a:schemeClr val="dk1"/>
              </a:buClr>
              <a:buSzPts val="2800"/>
              <a:buFont typeface="Arial"/>
              <a:buNone/>
              <a:defRPr b="0" i="0" sz="2800" u="none" cap="none" strike="noStrike">
                <a:solidFill>
                  <a:schemeClr val="dk1"/>
                </a:solidFill>
                <a:latin typeface="Arial"/>
                <a:ea typeface="Arial"/>
                <a:cs typeface="Arial"/>
                <a:sym typeface="Arial"/>
              </a:defRPr>
            </a:lvl3pPr>
            <a:lvl4pPr lvl="3" marR="0" rtl="0" algn="l">
              <a:lnSpc>
                <a:spcPct val="100000"/>
              </a:lnSpc>
              <a:spcBef>
                <a:spcPts val="0"/>
              </a:spcBef>
              <a:spcAft>
                <a:spcPts val="0"/>
              </a:spcAft>
              <a:buClr>
                <a:schemeClr val="dk1"/>
              </a:buClr>
              <a:buSzPts val="2800"/>
              <a:buFont typeface="Arial"/>
              <a:buNone/>
              <a:defRPr b="0" i="0" sz="2800" u="none" cap="none" strike="noStrike">
                <a:solidFill>
                  <a:schemeClr val="dk1"/>
                </a:solidFill>
                <a:latin typeface="Arial"/>
                <a:ea typeface="Arial"/>
                <a:cs typeface="Arial"/>
                <a:sym typeface="Arial"/>
              </a:defRPr>
            </a:lvl4pPr>
            <a:lvl5pPr lvl="4" marR="0" rtl="0" algn="l">
              <a:lnSpc>
                <a:spcPct val="100000"/>
              </a:lnSpc>
              <a:spcBef>
                <a:spcPts val="0"/>
              </a:spcBef>
              <a:spcAft>
                <a:spcPts val="0"/>
              </a:spcAft>
              <a:buClr>
                <a:schemeClr val="dk1"/>
              </a:buClr>
              <a:buSzPts val="2800"/>
              <a:buFont typeface="Arial"/>
              <a:buNone/>
              <a:defRPr b="0" i="0" sz="2800" u="none" cap="none" strike="noStrike">
                <a:solidFill>
                  <a:schemeClr val="dk1"/>
                </a:solidFill>
                <a:latin typeface="Arial"/>
                <a:ea typeface="Arial"/>
                <a:cs typeface="Arial"/>
                <a:sym typeface="Arial"/>
              </a:defRPr>
            </a:lvl5pPr>
            <a:lvl6pPr lvl="5" marR="0" rtl="0" algn="l">
              <a:lnSpc>
                <a:spcPct val="100000"/>
              </a:lnSpc>
              <a:spcBef>
                <a:spcPts val="0"/>
              </a:spcBef>
              <a:spcAft>
                <a:spcPts val="0"/>
              </a:spcAft>
              <a:buClr>
                <a:schemeClr val="dk1"/>
              </a:buClr>
              <a:buSzPts val="2800"/>
              <a:buFont typeface="Arial"/>
              <a:buNone/>
              <a:defRPr b="0" i="0" sz="2800" u="none" cap="none" strike="noStrike">
                <a:solidFill>
                  <a:schemeClr val="dk1"/>
                </a:solidFill>
                <a:latin typeface="Arial"/>
                <a:ea typeface="Arial"/>
                <a:cs typeface="Arial"/>
                <a:sym typeface="Arial"/>
              </a:defRPr>
            </a:lvl6pPr>
            <a:lvl7pPr lvl="6" marR="0" rtl="0" algn="l">
              <a:lnSpc>
                <a:spcPct val="100000"/>
              </a:lnSpc>
              <a:spcBef>
                <a:spcPts val="0"/>
              </a:spcBef>
              <a:spcAft>
                <a:spcPts val="0"/>
              </a:spcAft>
              <a:buClr>
                <a:schemeClr val="dk1"/>
              </a:buClr>
              <a:buSzPts val="2800"/>
              <a:buFont typeface="Arial"/>
              <a:buNone/>
              <a:defRPr b="0" i="0" sz="2800" u="none" cap="none" strike="noStrike">
                <a:solidFill>
                  <a:schemeClr val="dk1"/>
                </a:solidFill>
                <a:latin typeface="Arial"/>
                <a:ea typeface="Arial"/>
                <a:cs typeface="Arial"/>
                <a:sym typeface="Arial"/>
              </a:defRPr>
            </a:lvl7pPr>
            <a:lvl8pPr lvl="7" marR="0" rtl="0" algn="l">
              <a:lnSpc>
                <a:spcPct val="100000"/>
              </a:lnSpc>
              <a:spcBef>
                <a:spcPts val="0"/>
              </a:spcBef>
              <a:spcAft>
                <a:spcPts val="0"/>
              </a:spcAft>
              <a:buClr>
                <a:schemeClr val="dk1"/>
              </a:buClr>
              <a:buSzPts val="2800"/>
              <a:buFont typeface="Arial"/>
              <a:buNone/>
              <a:defRPr b="0" i="0" sz="2800" u="none" cap="none" strike="noStrike">
                <a:solidFill>
                  <a:schemeClr val="dk1"/>
                </a:solidFill>
                <a:latin typeface="Arial"/>
                <a:ea typeface="Arial"/>
                <a:cs typeface="Arial"/>
                <a:sym typeface="Arial"/>
              </a:defRPr>
            </a:lvl8pPr>
            <a:lvl9pPr lvl="8" marR="0" rtl="0" algn="l">
              <a:lnSpc>
                <a:spcPct val="100000"/>
              </a:lnSpc>
              <a:spcBef>
                <a:spcPts val="0"/>
              </a:spcBef>
              <a:spcAft>
                <a:spcPts val="0"/>
              </a:spcAft>
              <a:buClr>
                <a:schemeClr val="dk1"/>
              </a:buClr>
              <a:buSzPts val="2800"/>
              <a:buFont typeface="Arial"/>
              <a:buNone/>
              <a:defRPr b="0" i="0" sz="2800" u="none" cap="none" strike="noStrike">
                <a:solidFill>
                  <a:schemeClr val="dk1"/>
                </a:solidFill>
                <a:latin typeface="Arial"/>
                <a:ea typeface="Arial"/>
                <a:cs typeface="Arial"/>
                <a:sym typeface="Arial"/>
              </a:defRPr>
            </a:lvl9pPr>
          </a:lstStyle>
          <a:p/>
        </p:txBody>
      </p:sp>
      <p:sp>
        <p:nvSpPr>
          <p:cNvPr id="7" name="Google Shape;7;p1"/>
          <p:cNvSpPr txBox="1"/>
          <p:nvPr>
            <p:ph idx="1" type="body"/>
          </p:nvPr>
        </p:nvSpPr>
        <p:spPr>
          <a:xfrm>
            <a:off x="311700" y="1152475"/>
            <a:ext cx="8520600" cy="3416400"/>
          </a:xfrm>
          <a:prstGeom prst="rect">
            <a:avLst/>
          </a:prstGeom>
          <a:noFill/>
          <a:ln>
            <a:noFill/>
          </a:ln>
        </p:spPr>
        <p:txBody>
          <a:bodyPr anchorCtr="0" anchor="t" bIns="91425" lIns="91425" spcFirstLastPara="1" rIns="91425" wrap="square" tIns="91425">
            <a:normAutofit/>
          </a:bodyPr>
          <a:lstStyle>
            <a:lvl1pPr indent="-342900" lvl="0" marL="457200" marR="0" rtl="0" algn="l">
              <a:lnSpc>
                <a:spcPct val="115000"/>
              </a:lnSpc>
              <a:spcBef>
                <a:spcPts val="0"/>
              </a:spcBef>
              <a:spcAft>
                <a:spcPts val="0"/>
              </a:spcAft>
              <a:buClr>
                <a:schemeClr val="dk2"/>
              </a:buClr>
              <a:buSzPts val="1800"/>
              <a:buFont typeface="Arial"/>
              <a:buChar char="●"/>
              <a:defRPr b="0" i="0" sz="1800" u="none" cap="none" strike="noStrike">
                <a:solidFill>
                  <a:schemeClr val="dk2"/>
                </a:solidFill>
                <a:latin typeface="Arial"/>
                <a:ea typeface="Arial"/>
                <a:cs typeface="Arial"/>
                <a:sym typeface="Arial"/>
              </a:defRPr>
            </a:lvl1pPr>
            <a:lvl2pPr indent="-317500" lvl="1" marL="914400" marR="0" rtl="0" algn="l">
              <a:lnSpc>
                <a:spcPct val="115000"/>
              </a:lnSpc>
              <a:spcBef>
                <a:spcPts val="0"/>
              </a:spcBef>
              <a:spcAft>
                <a:spcPts val="0"/>
              </a:spcAft>
              <a:buClr>
                <a:schemeClr val="dk2"/>
              </a:buClr>
              <a:buSzPts val="1400"/>
              <a:buFont typeface="Arial"/>
              <a:buChar char="○"/>
              <a:defRPr b="0" i="0" sz="1400" u="none" cap="none" strike="noStrike">
                <a:solidFill>
                  <a:schemeClr val="dk2"/>
                </a:solidFill>
                <a:latin typeface="Arial"/>
                <a:ea typeface="Arial"/>
                <a:cs typeface="Arial"/>
                <a:sym typeface="Arial"/>
              </a:defRPr>
            </a:lvl2pPr>
            <a:lvl3pPr indent="-317500" lvl="2" marL="1371600" marR="0" rtl="0" algn="l">
              <a:lnSpc>
                <a:spcPct val="115000"/>
              </a:lnSpc>
              <a:spcBef>
                <a:spcPts val="0"/>
              </a:spcBef>
              <a:spcAft>
                <a:spcPts val="0"/>
              </a:spcAft>
              <a:buClr>
                <a:schemeClr val="dk2"/>
              </a:buClr>
              <a:buSzPts val="1400"/>
              <a:buFont typeface="Arial"/>
              <a:buChar char="■"/>
              <a:defRPr b="0" i="0" sz="1400" u="none" cap="none" strike="noStrike">
                <a:solidFill>
                  <a:schemeClr val="dk2"/>
                </a:solidFill>
                <a:latin typeface="Arial"/>
                <a:ea typeface="Arial"/>
                <a:cs typeface="Arial"/>
                <a:sym typeface="Arial"/>
              </a:defRPr>
            </a:lvl3pPr>
            <a:lvl4pPr indent="-317500" lvl="3" marL="1828800" marR="0" rtl="0" algn="l">
              <a:lnSpc>
                <a:spcPct val="115000"/>
              </a:lnSpc>
              <a:spcBef>
                <a:spcPts val="0"/>
              </a:spcBef>
              <a:spcAft>
                <a:spcPts val="0"/>
              </a:spcAft>
              <a:buClr>
                <a:schemeClr val="dk2"/>
              </a:buClr>
              <a:buSzPts val="1400"/>
              <a:buFont typeface="Arial"/>
              <a:buChar char="●"/>
              <a:defRPr b="0" i="0" sz="1400" u="none" cap="none" strike="noStrike">
                <a:solidFill>
                  <a:schemeClr val="dk2"/>
                </a:solidFill>
                <a:latin typeface="Arial"/>
                <a:ea typeface="Arial"/>
                <a:cs typeface="Arial"/>
                <a:sym typeface="Arial"/>
              </a:defRPr>
            </a:lvl4pPr>
            <a:lvl5pPr indent="-317500" lvl="4" marL="2286000" marR="0" rtl="0" algn="l">
              <a:lnSpc>
                <a:spcPct val="115000"/>
              </a:lnSpc>
              <a:spcBef>
                <a:spcPts val="0"/>
              </a:spcBef>
              <a:spcAft>
                <a:spcPts val="0"/>
              </a:spcAft>
              <a:buClr>
                <a:schemeClr val="dk2"/>
              </a:buClr>
              <a:buSzPts val="1400"/>
              <a:buFont typeface="Arial"/>
              <a:buChar char="○"/>
              <a:defRPr b="0" i="0" sz="1400" u="none" cap="none" strike="noStrike">
                <a:solidFill>
                  <a:schemeClr val="dk2"/>
                </a:solidFill>
                <a:latin typeface="Arial"/>
                <a:ea typeface="Arial"/>
                <a:cs typeface="Arial"/>
                <a:sym typeface="Arial"/>
              </a:defRPr>
            </a:lvl5pPr>
            <a:lvl6pPr indent="-317500" lvl="5" marL="2743200" marR="0" rtl="0" algn="l">
              <a:lnSpc>
                <a:spcPct val="115000"/>
              </a:lnSpc>
              <a:spcBef>
                <a:spcPts val="0"/>
              </a:spcBef>
              <a:spcAft>
                <a:spcPts val="0"/>
              </a:spcAft>
              <a:buClr>
                <a:schemeClr val="dk2"/>
              </a:buClr>
              <a:buSzPts val="1400"/>
              <a:buFont typeface="Arial"/>
              <a:buChar char="■"/>
              <a:defRPr b="0" i="0" sz="1400" u="none" cap="none" strike="noStrike">
                <a:solidFill>
                  <a:schemeClr val="dk2"/>
                </a:solidFill>
                <a:latin typeface="Arial"/>
                <a:ea typeface="Arial"/>
                <a:cs typeface="Arial"/>
                <a:sym typeface="Arial"/>
              </a:defRPr>
            </a:lvl6pPr>
            <a:lvl7pPr indent="-317500" lvl="6" marL="3200400" marR="0" rtl="0" algn="l">
              <a:lnSpc>
                <a:spcPct val="115000"/>
              </a:lnSpc>
              <a:spcBef>
                <a:spcPts val="0"/>
              </a:spcBef>
              <a:spcAft>
                <a:spcPts val="0"/>
              </a:spcAft>
              <a:buClr>
                <a:schemeClr val="dk2"/>
              </a:buClr>
              <a:buSzPts val="1400"/>
              <a:buFont typeface="Arial"/>
              <a:buChar char="●"/>
              <a:defRPr b="0" i="0" sz="1400" u="none" cap="none" strike="noStrike">
                <a:solidFill>
                  <a:schemeClr val="dk2"/>
                </a:solidFill>
                <a:latin typeface="Arial"/>
                <a:ea typeface="Arial"/>
                <a:cs typeface="Arial"/>
                <a:sym typeface="Arial"/>
              </a:defRPr>
            </a:lvl7pPr>
            <a:lvl8pPr indent="-317500" lvl="7" marL="3657600" marR="0" rtl="0" algn="l">
              <a:lnSpc>
                <a:spcPct val="115000"/>
              </a:lnSpc>
              <a:spcBef>
                <a:spcPts val="0"/>
              </a:spcBef>
              <a:spcAft>
                <a:spcPts val="0"/>
              </a:spcAft>
              <a:buClr>
                <a:schemeClr val="dk2"/>
              </a:buClr>
              <a:buSzPts val="1400"/>
              <a:buFont typeface="Arial"/>
              <a:buChar char="○"/>
              <a:defRPr b="0" i="0" sz="1400" u="none" cap="none" strike="noStrike">
                <a:solidFill>
                  <a:schemeClr val="dk2"/>
                </a:solidFill>
                <a:latin typeface="Arial"/>
                <a:ea typeface="Arial"/>
                <a:cs typeface="Arial"/>
                <a:sym typeface="Arial"/>
              </a:defRPr>
            </a:lvl8pPr>
            <a:lvl9pPr indent="-317500" lvl="8" marL="4114800" marR="0" rtl="0" algn="l">
              <a:lnSpc>
                <a:spcPct val="115000"/>
              </a:lnSpc>
              <a:spcBef>
                <a:spcPts val="0"/>
              </a:spcBef>
              <a:spcAft>
                <a:spcPts val="0"/>
              </a:spcAft>
              <a:buClr>
                <a:schemeClr val="dk2"/>
              </a:buClr>
              <a:buSzPts val="1400"/>
              <a:buFont typeface="Arial"/>
              <a:buChar char="■"/>
              <a:defRPr b="0" i="0" sz="1400" u="none" cap="none" strike="noStrike">
                <a:solidFill>
                  <a:schemeClr val="dk2"/>
                </a:solidFill>
                <a:latin typeface="Arial"/>
                <a:ea typeface="Arial"/>
                <a:cs typeface="Arial"/>
                <a:sym typeface="Arial"/>
              </a:defRPr>
            </a:lvl9pPr>
          </a:lstStyle>
          <a:p/>
        </p:txBody>
      </p:sp>
      <p:sp>
        <p:nvSpPr>
          <p:cNvPr id="8" name="Google Shape;8;p1"/>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Arial"/>
                <a:ea typeface="Arial"/>
                <a:cs typeface="Arial"/>
                <a:sym typeface="Arial"/>
              </a:defRPr>
            </a:lvl9pPr>
          </a:lstStyle>
          <a:p>
            <a:pPr indent="0" lvl="0" marL="0" rtl="0" algn="r">
              <a:spcBef>
                <a:spcPts val="0"/>
              </a:spcBef>
              <a:spcAft>
                <a:spcPts val="0"/>
              </a:spcAft>
              <a:buNone/>
            </a:pPr>
            <a:fld id="{00000000-1234-1234-1234-123412341234}" type="slidenum">
              <a:rPr lang="en-US"/>
              <a:t>‹#›</a:t>
            </a:fld>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 Id="rId3"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 Id="rId3"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 Id="rId3"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 Id="rId3" Type="http://schemas.openxmlformats.org/officeDocument/2006/relationships/image" Target="../media/image1.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 Id="rId3" Type="http://schemas.openxmlformats.org/officeDocument/2006/relationships/image" Target="../media/image1.png"/><Relationship Id="rId4" Type="http://schemas.openxmlformats.org/officeDocument/2006/relationships/image" Target="../media/flow_final.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 Id="rId3" Type="http://schemas.openxmlformats.org/officeDocument/2006/relationships/image" Target="../media/image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 Id="rId3" Type="http://schemas.openxmlformats.org/officeDocument/2006/relationships/image" Target="../media/image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 Id="rId3" Type="http://schemas.openxmlformats.org/officeDocument/2006/relationships/image" Target="../media/image1.png"/><Relationship Id="rId4" Type="http://schemas.openxmlformats.org/officeDocument/2006/relationships/image" Target="../media/res_f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 Id="rId3" Type="http://schemas.openxmlformats.org/officeDocument/2006/relationships/image" Target="../media/image1.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 Id="rId3" Type="http://schemas.openxmlformats.org/officeDocument/2006/relationships/image" Target="../media/image1.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 Id="rId3" Type="http://schemas.openxmlformats.org/officeDocument/2006/relationships/image" Target="../media/image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 Id="rId3" Type="http://schemas.openxmlformats.org/officeDocument/2006/relationships/image" Target="../media/image1.png"/><Relationship Id="rId4" Type="http://schemas.openxmlformats.org/officeDocument/2006/relationships/hyperlink" Target="https://www.diva-portal.org/smash/get/diva2:1875371/FULLTEXT01.pdf" TargetMode="External"/><Relationship Id="rId5" Type="http://schemas.openxmlformats.org/officeDocument/2006/relationships/hyperlink" Target="https://www.rapidops.com/blog/ai-dashboards/" TargetMode="Externa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 Id="rId3" Type="http://schemas.openxmlformats.org/officeDocument/2006/relationships/image" Target="../media/image1.png"/><Relationship Id="rId4" Type="http://schemas.openxmlformats.org/officeDocument/2006/relationships/hyperlink" Target="https://towardsai.net/p/l/topic-modeling-on-customer-reviews-using-bertopic-and-llama2" TargetMode="External"/><Relationship Id="rId5" Type="http://schemas.openxmlformats.org/officeDocument/2006/relationships/hyperlink" Target="https://dl.acm.org/doi/10.1007/s42979-023-01989-6" TargetMode="External"/><Relationship Id="rId6" Type="http://schemas.openxmlformats.org/officeDocument/2006/relationships/hyperlink" Target="https://www.emergentmind.com/topics/sentiment-analysis-of-help-desk-tickets" TargetMode="External"/><Relationship Id="rId7" Type="http://schemas.openxmlformats.org/officeDocument/2006/relationships/hyperlink" Target="https://towardsai.net/p/l/topic-modeling-on-customer-reviews-using-bertopic-and-llama2"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 Id="rId3" Type="http://schemas.openxmlformats.org/officeDocument/2006/relationships/image" Target="../media/image1.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3" Type="http://schemas.openxmlformats.org/officeDocument/2006/relationships/image" Target="../media/image1.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3" Type="http://schemas.openxmlformats.org/officeDocument/2006/relationships/image" Target="../media/image1.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3" Type="http://schemas.openxmlformats.org/officeDocument/2006/relationships/image" Target="../media/image1.png"/><Relationship Id="rId4" Type="http://schemas.openxmlformats.org/officeDocument/2006/relationships/image" Target="../media/res_pr.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3" Type="http://schemas.openxmlformats.org/officeDocument/2006/relationships/image" Target="../media/image1.png"/><Relationship Id="rId4" Type="http://schemas.openxmlformats.org/officeDocument/2006/relationships/image" Target="../media/res_spike.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3" Type="http://schemas.openxmlformats.org/officeDocument/2006/relationships/image" Target="../media/image1.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3" Type="http://schemas.openxmlformats.org/officeDocument/2006/relationships/image" Target="../media/image1.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3" Type="http://schemas.openxmlformats.org/officeDocument/2006/relationships/image" Target="../media/image1.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3" Type="http://schemas.openxmlformats.org/officeDocument/2006/relationships/image" Target="../media/image1.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3" Type="http://schemas.openxmlformats.org/officeDocument/2006/relationships/image" Target="../media/image1.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3" Type="http://schemas.openxmlformats.org/officeDocument/2006/relationships/image" Target="../media/image1.png"/><Relationship Id="rId4" Type="http://schemas.openxmlformats.org/officeDocument/2006/relationships/image" Target="../media/methodology.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5" name="Shape 35"/>
        <p:cNvGrpSpPr/>
        <p:nvPr/>
      </p:nvGrpSpPr>
      <p:grpSpPr>
        <a:xfrm>
          <a:off x="0" y="0"/>
          <a:ext cx="0" cy="0"/>
          <a:chOff x="0" y="0"/>
          <a:chExt cx="0" cy="0"/>
        </a:xfrm>
      </p:grpSpPr>
      <p:sp>
        <p:nvSpPr>
          <p:cNvPr id="36" name="Google Shape;36;p8"/>
          <p:cNvSpPr txBox="1"/>
          <p:nvPr/>
        </p:nvSpPr>
        <p:spPr>
          <a:xfrm>
            <a:off x="61475" y="4375400"/>
            <a:ext cx="8678700" cy="400200"/>
          </a:xfrm>
          <a:prstGeom prst="rect">
            <a:avLst/>
          </a:prstGeom>
          <a:noFill/>
          <a:ln>
            <a:noFill/>
          </a:ln>
        </p:spPr>
        <p:txBody>
          <a:bodyPr anchorCtr="0" anchor="t" bIns="91425" lIns="91425" spcFirstLastPara="1" rIns="91425" wrap="square" tIns="91425">
            <a:spAutoFit/>
          </a:bodyPr>
          <a:lstStyle/>
          <a:p>
            <a:pPr indent="0" lvl="0" marL="0" marR="0" rtl="0" algn="l">
              <a:lnSpc>
                <a:spcPct val="100000"/>
              </a:lnSpc>
              <a:spcBef>
                <a:spcPts val="0"/>
              </a:spcBef>
              <a:spcAft>
                <a:spcPts val="0"/>
              </a:spcAft>
              <a:buClr>
                <a:srgbClr val="000000"/>
              </a:buClr>
              <a:buSzPts val="1400"/>
              <a:buFont typeface="Arial"/>
              <a:buNone/>
            </a:pPr>
            <a:r>
              <a:rPr b="0" i="0" lang="en-US" sz="1400" u="none" cap="none" strike="noStrike">
                <a:solidFill>
                  <a:srgbClr val="000000"/>
                </a:solidFill>
                <a:latin typeface="Times New Roman"/>
                <a:ea typeface="Times New Roman"/>
                <a:cs typeface="Times New Roman"/>
                <a:sym typeface="Times New Roman"/>
              </a:rPr>
              <a:t>Department of AI-DS, K.J. Somaiya Institute of Technology, Sion, Mumbai 400022</a:t>
            </a:r>
            <a:endParaRPr b="0" i="0" sz="1400" u="none" cap="none" strike="noStrike">
              <a:solidFill>
                <a:srgbClr val="000000"/>
              </a:solidFill>
              <a:latin typeface="Times New Roman"/>
              <a:ea typeface="Times New Roman"/>
              <a:cs typeface="Times New Roman"/>
              <a:sym typeface="Times New Roman"/>
            </a:endParaRPr>
          </a:p>
        </p:txBody>
      </p:sp>
      <p:sp>
        <p:nvSpPr>
          <p:cNvPr id="37" name="Google Shape;37;p8"/>
          <p:cNvSpPr txBox="1"/>
          <p:nvPr/>
        </p:nvSpPr>
        <p:spPr>
          <a:xfrm>
            <a:off x="1037275" y="1245476"/>
            <a:ext cx="7129800" cy="1326300"/>
          </a:xfrm>
          <a:prstGeom prst="rect">
            <a:avLst/>
          </a:prstGeom>
          <a:noFill/>
          <a:ln>
            <a:noFill/>
          </a:ln>
        </p:spPr>
        <p:txBody>
          <a:bodyPr anchorCtr="0" anchor="t"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600"/>
              <a:buFont typeface="Arial"/>
              <a:buNone/>
            </a:pPr>
            <a:r>
              <a:t/>
            </a:r>
            <a:endParaRPr b="1" i="0" sz="600" u="none" cap="none" strike="noStrike">
              <a:solidFill>
                <a:srgbClr val="1F3864"/>
              </a:solidFill>
              <a:latin typeface="Arial"/>
              <a:ea typeface="Arial"/>
              <a:cs typeface="Arial"/>
              <a:sym typeface="Arial"/>
            </a:endParaRPr>
          </a:p>
          <a:p>
            <a:pPr indent="0" lvl="0" marL="0" marR="0" rtl="0" algn="ctr">
              <a:lnSpc>
                <a:spcPct val="100000"/>
              </a:lnSpc>
              <a:spcBef>
                <a:spcPts val="0"/>
              </a:spcBef>
              <a:spcAft>
                <a:spcPts val="0"/>
              </a:spcAft>
              <a:buClr>
                <a:srgbClr val="000000"/>
              </a:buClr>
              <a:buSzPts val="1675"/>
              <a:buFont typeface="Arial"/>
              <a:buNone/>
            </a:pPr>
            <a:r>
              <a:rPr b="1" lang="en-US" sz="1675">
                <a:solidFill>
                  <a:srgbClr val="1F3864"/>
                </a:solidFill>
                <a:latin typeface="Times New Roman"/>
                <a:ea typeface="Times New Roman"/>
                <a:cs typeface="Times New Roman"/>
                <a:sym typeface="Times New Roman"/>
              </a:rPr>
              <a:t>L</a:t>
            </a:r>
            <a:r>
              <a:rPr b="1" i="0" lang="en-US" sz="1675" u="none" cap="none" strike="noStrike">
                <a:solidFill>
                  <a:srgbClr val="1F3864"/>
                </a:solidFill>
                <a:latin typeface="Times New Roman"/>
                <a:ea typeface="Times New Roman"/>
                <a:cs typeface="Times New Roman"/>
                <a:sym typeface="Times New Roman"/>
              </a:rPr>
              <a:t>.Y B Major Project Presentation</a:t>
            </a:r>
            <a:endParaRPr b="1" i="0" sz="1675" u="none" cap="none" strike="noStrike">
              <a:solidFill>
                <a:srgbClr val="1F3864"/>
              </a:solidFill>
              <a:latin typeface="Times New Roman"/>
              <a:ea typeface="Times New Roman"/>
              <a:cs typeface="Times New Roman"/>
              <a:sym typeface="Times New Roman"/>
            </a:endParaRPr>
          </a:p>
          <a:p>
            <a:pPr indent="0" lvl="0" marL="0" marR="0" rtl="0" algn="ctr">
              <a:lnSpc>
                <a:spcPct val="100000"/>
              </a:lnSpc>
              <a:spcBef>
                <a:spcPts val="0"/>
              </a:spcBef>
              <a:spcAft>
                <a:spcPts val="0"/>
              </a:spcAft>
              <a:buClr>
                <a:srgbClr val="000000"/>
              </a:buClr>
              <a:buSzPts val="1675"/>
              <a:buFont typeface="Arial"/>
              <a:buNone/>
            </a:pPr>
            <a:r>
              <a:t/>
            </a:r>
            <a:endParaRPr b="1" sz="1675">
              <a:solidFill>
                <a:srgbClr val="1F3864"/>
              </a:solidFill>
              <a:latin typeface="Times New Roman"/>
              <a:ea typeface="Times New Roman"/>
              <a:cs typeface="Times New Roman"/>
              <a:sym typeface="Times New Roman"/>
            </a:endParaRPr>
          </a:p>
          <a:p>
            <a:pPr indent="0" lvl="0" marL="0" marR="0" rtl="0" algn="ctr">
              <a:lnSpc>
                <a:spcPct val="100000"/>
              </a:lnSpc>
              <a:spcBef>
                <a:spcPts val="0"/>
              </a:spcBef>
              <a:spcAft>
                <a:spcPts val="0"/>
              </a:spcAft>
              <a:buClr>
                <a:srgbClr val="000000"/>
              </a:buClr>
              <a:buSzPts val="1859"/>
              <a:buFont typeface="Arial"/>
              <a:buNone/>
            </a:pPr>
            <a:r>
              <a:rPr b="1" i="0" lang="en-US" sz="1860" u="none" cap="none" strike="noStrike">
                <a:solidFill>
                  <a:srgbClr val="C00000"/>
                </a:solidFill>
                <a:latin typeface="Times New Roman"/>
                <a:ea typeface="Times New Roman"/>
                <a:cs typeface="Times New Roman"/>
                <a:sym typeface="Times New Roman"/>
              </a:rPr>
              <a:t>“</a:t>
            </a:r>
            <a:r>
              <a:rPr b="1" lang="en-US" sz="1860">
                <a:solidFill>
                  <a:srgbClr val="C00000"/>
                </a:solidFill>
                <a:latin typeface="Times New Roman"/>
                <a:ea typeface="Times New Roman"/>
                <a:cs typeface="Times New Roman"/>
                <a:sym typeface="Times New Roman"/>
              </a:rPr>
              <a:t>InsightDesk - Intelligent complaint triage system</a:t>
            </a:r>
            <a:r>
              <a:rPr b="1" i="0" lang="en-US" sz="1860" u="none" cap="none" strike="noStrike">
                <a:solidFill>
                  <a:srgbClr val="C00000"/>
                </a:solidFill>
                <a:latin typeface="Times New Roman"/>
                <a:ea typeface="Times New Roman"/>
                <a:cs typeface="Times New Roman"/>
                <a:sym typeface="Times New Roman"/>
              </a:rPr>
              <a:t>”</a:t>
            </a:r>
            <a:endParaRPr b="0" i="0" sz="1005" u="none" cap="none" strike="noStrike">
              <a:solidFill>
                <a:srgbClr val="000000"/>
              </a:solidFill>
              <a:latin typeface="Arial"/>
              <a:ea typeface="Arial"/>
              <a:cs typeface="Arial"/>
              <a:sym typeface="Arial"/>
            </a:endParaRPr>
          </a:p>
        </p:txBody>
      </p:sp>
      <p:sp>
        <p:nvSpPr>
          <p:cNvPr id="38" name="Google Shape;38;p8"/>
          <p:cNvSpPr txBox="1"/>
          <p:nvPr/>
        </p:nvSpPr>
        <p:spPr>
          <a:xfrm>
            <a:off x="2452225" y="2571750"/>
            <a:ext cx="3978000" cy="1754700"/>
          </a:xfrm>
          <a:prstGeom prst="rect">
            <a:avLst/>
          </a:prstGeom>
          <a:noFill/>
          <a:ln>
            <a:noFill/>
          </a:ln>
        </p:spPr>
        <p:txBody>
          <a:bodyPr anchorCtr="0" anchor="t" bIns="45700" lIns="91425" spcFirstLastPara="1" rIns="91425" wrap="square" tIns="45700">
            <a:spAutoFit/>
          </a:bodyPr>
          <a:lstStyle/>
          <a:p>
            <a:pPr indent="0" lvl="0" marL="0" marR="0" rtl="0" algn="ctr">
              <a:lnSpc>
                <a:spcPct val="100000"/>
              </a:lnSpc>
              <a:spcBef>
                <a:spcPts val="0"/>
              </a:spcBef>
              <a:spcAft>
                <a:spcPts val="0"/>
              </a:spcAft>
              <a:buClr>
                <a:srgbClr val="000000"/>
              </a:buClr>
              <a:buSzPts val="1800"/>
              <a:buFont typeface="Arial"/>
              <a:buNone/>
            </a:pPr>
            <a:r>
              <a:rPr b="1" i="0" lang="en-US" sz="1800" u="none" cap="none" strike="noStrike">
                <a:solidFill>
                  <a:srgbClr val="262626"/>
                </a:solidFill>
                <a:latin typeface="Times New Roman"/>
                <a:ea typeface="Times New Roman"/>
                <a:cs typeface="Times New Roman"/>
                <a:sym typeface="Times New Roman"/>
              </a:rPr>
              <a:t>Guide:Prof.</a:t>
            </a:r>
            <a:r>
              <a:rPr b="1" lang="en-US" sz="1800">
                <a:solidFill>
                  <a:srgbClr val="262626"/>
                </a:solidFill>
                <a:latin typeface="Times New Roman"/>
                <a:ea typeface="Times New Roman"/>
                <a:cs typeface="Times New Roman"/>
                <a:sym typeface="Times New Roman"/>
              </a:rPr>
              <a:t>Ganesh Wadmare</a:t>
            </a:r>
            <a:endParaRPr b="1" i="0" sz="1800" u="none" cap="none" strike="noStrike">
              <a:solidFill>
                <a:srgbClr val="FF0000"/>
              </a:solidFill>
              <a:latin typeface="Times New Roman"/>
              <a:ea typeface="Times New Roman"/>
              <a:cs typeface="Times New Roman"/>
              <a:sym typeface="Times New Roman"/>
            </a:endParaRPr>
          </a:p>
          <a:p>
            <a:pPr indent="0" lvl="0" marL="0" marR="0" rtl="0" algn="ctr">
              <a:lnSpc>
                <a:spcPct val="100000"/>
              </a:lnSpc>
              <a:spcBef>
                <a:spcPts val="0"/>
              </a:spcBef>
              <a:spcAft>
                <a:spcPts val="0"/>
              </a:spcAft>
              <a:buClr>
                <a:srgbClr val="000000"/>
              </a:buClr>
              <a:buSzPts val="1800"/>
              <a:buFont typeface="Arial"/>
              <a:buNone/>
            </a:pPr>
            <a:r>
              <a:rPr b="1" i="0" lang="en-US" sz="1800" u="none" cap="none" strike="noStrike">
                <a:solidFill>
                  <a:srgbClr val="262626"/>
                </a:solidFill>
                <a:latin typeface="Times New Roman"/>
                <a:ea typeface="Times New Roman"/>
                <a:cs typeface="Times New Roman"/>
                <a:sym typeface="Times New Roman"/>
              </a:rPr>
              <a:t>Group No:</a:t>
            </a:r>
            <a:r>
              <a:rPr b="1" lang="en-US" sz="1800">
                <a:solidFill>
                  <a:srgbClr val="262626"/>
                </a:solidFill>
                <a:latin typeface="Times New Roman"/>
                <a:ea typeface="Times New Roman"/>
                <a:cs typeface="Times New Roman"/>
                <a:sym typeface="Times New Roman"/>
              </a:rPr>
              <a:t>10</a:t>
            </a:r>
            <a:endParaRPr/>
          </a:p>
          <a:p>
            <a:pPr indent="0" lvl="0" marL="0" marR="0" rtl="0" algn="ctr">
              <a:lnSpc>
                <a:spcPct val="100000"/>
              </a:lnSpc>
              <a:spcBef>
                <a:spcPts val="0"/>
              </a:spcBef>
              <a:spcAft>
                <a:spcPts val="0"/>
              </a:spcAft>
              <a:buClr>
                <a:srgbClr val="000000"/>
              </a:buClr>
              <a:buSzPts val="1800"/>
              <a:buFont typeface="Arial"/>
              <a:buNone/>
            </a:pPr>
            <a:r>
              <a:rPr b="1" i="0" lang="en-US" sz="1800" u="none" cap="none" strike="noStrike">
                <a:solidFill>
                  <a:srgbClr val="262626"/>
                </a:solidFill>
                <a:latin typeface="Times New Roman"/>
                <a:ea typeface="Times New Roman"/>
                <a:cs typeface="Times New Roman"/>
                <a:sym typeface="Times New Roman"/>
              </a:rPr>
              <a:t>Team Members – </a:t>
            </a:r>
            <a:endParaRPr/>
          </a:p>
          <a:p>
            <a:pPr indent="0" lvl="0" marL="0" marR="0" rtl="0" algn="ctr">
              <a:lnSpc>
                <a:spcPct val="100000"/>
              </a:lnSpc>
              <a:spcBef>
                <a:spcPts val="0"/>
              </a:spcBef>
              <a:spcAft>
                <a:spcPts val="0"/>
              </a:spcAft>
              <a:buClr>
                <a:srgbClr val="000000"/>
              </a:buClr>
              <a:buSzPts val="1800"/>
              <a:buFont typeface="Arial"/>
              <a:buNone/>
            </a:pPr>
            <a:r>
              <a:rPr i="0" lang="en-US" sz="1800" u="none" cap="none" strike="noStrike">
                <a:solidFill>
                  <a:srgbClr val="262626"/>
                </a:solidFill>
                <a:latin typeface="Times New Roman"/>
                <a:ea typeface="Times New Roman"/>
                <a:cs typeface="Times New Roman"/>
                <a:sym typeface="Times New Roman"/>
              </a:rPr>
              <a:t>Krisha Sinnarkar(Roll No.</a:t>
            </a:r>
            <a:r>
              <a:rPr lang="en-US" sz="1800">
                <a:solidFill>
                  <a:srgbClr val="262626"/>
                </a:solidFill>
                <a:latin typeface="Times New Roman"/>
                <a:ea typeface="Times New Roman"/>
                <a:cs typeface="Times New Roman"/>
                <a:sym typeface="Times New Roman"/>
              </a:rPr>
              <a:t>-61)</a:t>
            </a:r>
            <a:endParaRPr i="0" sz="1800" u="none" cap="none" strike="noStrike">
              <a:solidFill>
                <a:srgbClr val="262626"/>
              </a:solidFill>
              <a:latin typeface="Times New Roman"/>
              <a:ea typeface="Times New Roman"/>
              <a:cs typeface="Times New Roman"/>
              <a:sym typeface="Times New Roman"/>
            </a:endParaRPr>
          </a:p>
          <a:p>
            <a:pPr indent="0" lvl="0" marL="0" marR="0" rtl="0" algn="ctr">
              <a:lnSpc>
                <a:spcPct val="100000"/>
              </a:lnSpc>
              <a:spcBef>
                <a:spcPts val="0"/>
              </a:spcBef>
              <a:spcAft>
                <a:spcPts val="0"/>
              </a:spcAft>
              <a:buClr>
                <a:srgbClr val="000000"/>
              </a:buClr>
              <a:buSzPts val="1800"/>
              <a:buFont typeface="Arial"/>
              <a:buNone/>
            </a:pPr>
            <a:r>
              <a:rPr i="0" lang="en-US" sz="1800" u="none" cap="none" strike="noStrike">
                <a:solidFill>
                  <a:srgbClr val="262626"/>
                </a:solidFill>
                <a:latin typeface="Times New Roman"/>
                <a:ea typeface="Times New Roman"/>
                <a:cs typeface="Times New Roman"/>
                <a:sym typeface="Times New Roman"/>
              </a:rPr>
              <a:t>Sanyogita Shinde</a:t>
            </a:r>
            <a:r>
              <a:rPr lang="en-US" sz="1800">
                <a:solidFill>
                  <a:srgbClr val="262626"/>
                </a:solidFill>
                <a:latin typeface="Times New Roman"/>
                <a:ea typeface="Times New Roman"/>
                <a:cs typeface="Times New Roman"/>
                <a:sym typeface="Times New Roman"/>
              </a:rPr>
              <a:t>(Roll No.-60)</a:t>
            </a:r>
            <a:endParaRPr/>
          </a:p>
          <a:p>
            <a:pPr indent="0" lvl="0" marL="0" marR="0" rtl="0" algn="ctr">
              <a:lnSpc>
                <a:spcPct val="100000"/>
              </a:lnSpc>
              <a:spcBef>
                <a:spcPts val="0"/>
              </a:spcBef>
              <a:spcAft>
                <a:spcPts val="0"/>
              </a:spcAft>
              <a:buClr>
                <a:srgbClr val="000000"/>
              </a:buClr>
              <a:buSzPts val="1800"/>
              <a:buFont typeface="Arial"/>
              <a:buNone/>
            </a:pPr>
            <a:r>
              <a:rPr i="0" lang="en-US" sz="1800" u="none" cap="none" strike="noStrike">
                <a:solidFill>
                  <a:srgbClr val="262626"/>
                </a:solidFill>
                <a:latin typeface="Times New Roman"/>
                <a:ea typeface="Times New Roman"/>
                <a:cs typeface="Times New Roman"/>
                <a:sym typeface="Times New Roman"/>
              </a:rPr>
              <a:t>Krushnam Sadrani</a:t>
            </a:r>
            <a:r>
              <a:rPr lang="en-US" sz="1800">
                <a:solidFill>
                  <a:srgbClr val="262626"/>
                </a:solidFill>
                <a:latin typeface="Times New Roman"/>
                <a:ea typeface="Times New Roman"/>
                <a:cs typeface="Times New Roman"/>
                <a:sym typeface="Times New Roman"/>
              </a:rPr>
              <a:t>(Roll No.- 40)</a:t>
            </a:r>
            <a:endParaRPr i="0" sz="1800" u="none" cap="none" strike="noStrike">
              <a:solidFill>
                <a:srgbClr val="000000"/>
              </a:solidFill>
              <a:latin typeface="Times New Roman"/>
              <a:ea typeface="Times New Roman"/>
              <a:cs typeface="Times New Roman"/>
              <a:sym typeface="Times New Roman"/>
            </a:endParaRPr>
          </a:p>
        </p:txBody>
      </p:sp>
      <p:sp>
        <p:nvSpPr>
          <p:cNvPr id="39" name="Google Shape;39;p8"/>
          <p:cNvSpPr txBox="1"/>
          <p:nvPr/>
        </p:nvSpPr>
        <p:spPr>
          <a:xfrm>
            <a:off x="257175" y="4836100"/>
            <a:ext cx="1343100" cy="2769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1200"/>
              <a:buFont typeface="Arial"/>
              <a:buNone/>
            </a:pPr>
            <a:r>
              <a:rPr b="0" i="0" lang="en-US" sz="1200" u="none" cap="none" strike="noStrike">
                <a:solidFill>
                  <a:schemeClr val="lt1"/>
                </a:solidFill>
                <a:latin typeface="Times New Roman"/>
                <a:ea typeface="Times New Roman"/>
                <a:cs typeface="Times New Roman"/>
                <a:sym typeface="Times New Roman"/>
              </a:rPr>
              <a:t>26/6/2023</a:t>
            </a:r>
            <a:endParaRPr b="0" i="0" sz="1200" u="none" cap="none" strike="noStrike">
              <a:solidFill>
                <a:schemeClr val="lt1"/>
              </a:solidFill>
              <a:latin typeface="Times New Roman"/>
              <a:ea typeface="Times New Roman"/>
              <a:cs typeface="Times New Roman"/>
              <a:sym typeface="Times New Roman"/>
            </a:endParaRPr>
          </a:p>
        </p:txBody>
      </p:sp>
      <p:pic>
        <p:nvPicPr>
          <p:cNvPr id="40" name="Google Shape;40;p8"/>
          <p:cNvPicPr preferRelativeResize="0"/>
          <p:nvPr/>
        </p:nvPicPr>
        <p:blipFill rotWithShape="1">
          <a:blip r:embed="rId3">
            <a:alphaModFix/>
          </a:blip>
          <a:srcRect b="0" l="0" r="0" t="0"/>
          <a:stretch/>
        </p:blipFill>
        <p:spPr>
          <a:xfrm>
            <a:off x="0" y="0"/>
            <a:ext cx="9143999" cy="1332186"/>
          </a:xfrm>
          <a:prstGeom prst="rect">
            <a:avLst/>
          </a:prstGeom>
          <a:noFill/>
          <a:ln>
            <a:noFill/>
          </a:ln>
        </p:spPr>
      </p:pic>
      <p:sp>
        <p:nvSpPr>
          <p:cNvPr id="41" name="Google Shape;41;p8"/>
          <p:cNvSpPr/>
          <p:nvPr/>
        </p:nvSpPr>
        <p:spPr>
          <a:xfrm>
            <a:off x="8910006" y="1217600"/>
            <a:ext cx="230400" cy="3941400"/>
          </a:xfrm>
          <a:prstGeom prst="rect">
            <a:avLst/>
          </a:prstGeom>
          <a:solidFill>
            <a:srgbClr val="C00000"/>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2493"/>
              <a:buFont typeface="Arial"/>
              <a:buNone/>
            </a:pPr>
            <a:r>
              <a:t/>
            </a:r>
            <a:endParaRPr b="0" i="0" sz="2495" u="none" cap="none" strike="noStrike">
              <a:solidFill>
                <a:schemeClr val="lt1"/>
              </a:solidFill>
              <a:latin typeface="Arial"/>
              <a:ea typeface="Arial"/>
              <a:cs typeface="Arial"/>
              <a:sym typeface="Arial"/>
            </a:endParaRPr>
          </a:p>
        </p:txBody>
      </p:sp>
      <p:sp>
        <p:nvSpPr>
          <p:cNvPr id="42" name="Google Shape;42;p8"/>
          <p:cNvSpPr/>
          <p:nvPr/>
        </p:nvSpPr>
        <p:spPr>
          <a:xfrm>
            <a:off x="2105025" y="4836100"/>
            <a:ext cx="6807300" cy="322800"/>
          </a:xfrm>
          <a:prstGeom prst="rect">
            <a:avLst/>
          </a:prstGeom>
          <a:solidFill>
            <a:srgbClr val="C00000"/>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2493"/>
              <a:buFont typeface="Arial"/>
              <a:buNone/>
            </a:pPr>
            <a:r>
              <a:t/>
            </a:r>
            <a:endParaRPr b="0" i="0" sz="2495" u="none" cap="none" strike="noStrike">
              <a:solidFill>
                <a:schemeClr val="lt1"/>
              </a:solidFill>
              <a:latin typeface="Arial"/>
              <a:ea typeface="Arial"/>
              <a:cs typeface="Arial"/>
              <a:sym typeface="Arial"/>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46" name="Shape 46"/>
        <p:cNvGrpSpPr/>
        <p:nvPr/>
      </p:nvGrpSpPr>
      <p:grpSpPr>
        <a:xfrm>
          <a:off x="0" y="0"/>
          <a:ext cx="0" cy="0"/>
          <a:chOff x="0" y="0"/>
          <a:chExt cx="0" cy="0"/>
        </a:xfrm>
      </p:grpSpPr>
      <p:sp>
        <p:nvSpPr>
          <p:cNvPr id="47" name="Google Shape;47;p9"/>
          <p:cNvSpPr txBox="1"/>
          <p:nvPr/>
        </p:nvSpPr>
        <p:spPr>
          <a:xfrm>
            <a:off x="257175" y="4836100"/>
            <a:ext cx="1343100" cy="2769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1200"/>
              <a:buFont typeface="Arial"/>
              <a:buNone/>
            </a:pPr>
            <a:r>
              <a:rPr b="0" i="0" lang="en-US" sz="1200" u="none" cap="none" strike="noStrike">
                <a:solidFill>
                  <a:schemeClr val="lt1"/>
                </a:solidFill>
                <a:latin typeface="Times New Roman"/>
                <a:ea typeface="Times New Roman"/>
                <a:cs typeface="Times New Roman"/>
                <a:sym typeface="Times New Roman"/>
              </a:rPr>
              <a:t>26/6/2023</a:t>
            </a:r>
            <a:endParaRPr b="0" i="0" sz="1200" u="none" cap="none" strike="noStrike">
              <a:solidFill>
                <a:schemeClr val="lt1"/>
              </a:solidFill>
              <a:latin typeface="Times New Roman"/>
              <a:ea typeface="Times New Roman"/>
              <a:cs typeface="Times New Roman"/>
              <a:sym typeface="Times New Roman"/>
            </a:endParaRPr>
          </a:p>
        </p:txBody>
      </p:sp>
      <p:sp>
        <p:nvSpPr>
          <p:cNvPr id="48" name="Google Shape;48;p9"/>
          <p:cNvSpPr/>
          <p:nvPr/>
        </p:nvSpPr>
        <p:spPr>
          <a:xfrm>
            <a:off x="8910006" y="1217600"/>
            <a:ext cx="230400" cy="3941400"/>
          </a:xfrm>
          <a:prstGeom prst="rect">
            <a:avLst/>
          </a:prstGeom>
          <a:solidFill>
            <a:srgbClr val="C00000"/>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2493"/>
              <a:buFont typeface="Arial"/>
              <a:buNone/>
            </a:pPr>
            <a:r>
              <a:t/>
            </a:r>
            <a:endParaRPr b="0" i="0" sz="2495" u="none" cap="none" strike="noStrike">
              <a:solidFill>
                <a:schemeClr val="lt1"/>
              </a:solidFill>
              <a:latin typeface="Arial"/>
              <a:ea typeface="Arial"/>
              <a:cs typeface="Arial"/>
              <a:sym typeface="Arial"/>
            </a:endParaRPr>
          </a:p>
        </p:txBody>
      </p:sp>
      <p:sp>
        <p:nvSpPr>
          <p:cNvPr id="49" name="Google Shape;49;p9"/>
          <p:cNvSpPr/>
          <p:nvPr/>
        </p:nvSpPr>
        <p:spPr>
          <a:xfrm>
            <a:off x="2105025" y="4836100"/>
            <a:ext cx="6807300" cy="322800"/>
          </a:xfrm>
          <a:prstGeom prst="rect">
            <a:avLst/>
          </a:prstGeom>
          <a:solidFill>
            <a:srgbClr val="C00000"/>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2493"/>
              <a:buFont typeface="Arial"/>
              <a:buNone/>
            </a:pPr>
            <a:r>
              <a:t/>
            </a:r>
            <a:endParaRPr b="0" i="0" sz="2495" u="none" cap="none" strike="noStrike">
              <a:solidFill>
                <a:schemeClr val="lt1"/>
              </a:solidFill>
              <a:latin typeface="Arial"/>
              <a:ea typeface="Arial"/>
              <a:cs typeface="Arial"/>
              <a:sym typeface="Arial"/>
            </a:endParaRPr>
          </a:p>
        </p:txBody>
      </p:sp>
      <p:pic>
        <p:nvPicPr>
          <p:cNvPr id="50" name="Google Shape;50;p9"/>
          <p:cNvPicPr preferRelativeResize="0"/>
          <p:nvPr/>
        </p:nvPicPr>
        <p:blipFill rotWithShape="1">
          <a:blip r:embed="rId3">
            <a:alphaModFix/>
          </a:blip>
          <a:srcRect b="0" l="0" r="0" t="0"/>
          <a:stretch/>
        </p:blipFill>
        <p:spPr>
          <a:xfrm>
            <a:off x="0" y="0"/>
            <a:ext cx="9143999" cy="1332186"/>
          </a:xfrm>
          <a:prstGeom prst="rect">
            <a:avLst/>
          </a:prstGeom>
          <a:noFill/>
          <a:ln>
            <a:noFill/>
          </a:ln>
        </p:spPr>
      </p:pic>
      <p:sp>
        <p:nvSpPr>
          <p:cNvPr id="51" name="Google Shape;51;p9"/>
          <p:cNvSpPr txBox="1"/>
          <p:nvPr/>
        </p:nvSpPr>
        <p:spPr>
          <a:xfrm>
            <a:off x="314200" y="1360125"/>
            <a:ext cx="3252300" cy="431100"/>
          </a:xfrm>
          <a:prstGeom prst="rect">
            <a:avLst/>
          </a:prstGeom>
          <a:noFill/>
          <a:ln>
            <a:noFill/>
          </a:ln>
        </p:spPr>
        <p:txBody>
          <a:bodyPr anchorCtr="0" anchor="t" bIns="91425" lIns="91425" spcFirstLastPara="1" rIns="91425" wrap="square" tIns="91425">
            <a:spAutoFit/>
          </a:bodyPr>
          <a:lstStyle/>
          <a:p>
            <a:pPr indent="0" lvl="0" marL="0" marR="0" rtl="0" algn="l">
              <a:lnSpc>
                <a:spcPct val="100000"/>
              </a:lnSpc>
              <a:spcBef>
                <a:spcPts val="0"/>
              </a:spcBef>
              <a:spcAft>
                <a:spcPts val="0"/>
              </a:spcAft>
              <a:buClr>
                <a:srgbClr val="000000"/>
              </a:buClr>
              <a:buSzPts val="1600"/>
              <a:buFont typeface="Arial"/>
              <a:buNone/>
            </a:pPr>
            <a:r>
              <a:rPr b="1" i="0" lang="en-US" sz="1600" u="none" cap="none" strike="noStrike">
                <a:solidFill>
                  <a:srgbClr val="000000"/>
                </a:solidFill>
                <a:latin typeface="Times New Roman"/>
                <a:ea typeface="Times New Roman"/>
                <a:cs typeface="Times New Roman"/>
                <a:sym typeface="Times New Roman"/>
              </a:rPr>
              <a:t> </a:t>
            </a:r>
            <a:r>
              <a:rPr b="1" i="0" lang="en-US" sz="1400" u="none" cap="none" strike="noStrike">
                <a:solidFill>
                  <a:srgbClr val="000000"/>
                </a:solidFill>
                <a:latin typeface="Times New Roman"/>
                <a:ea typeface="Times New Roman"/>
                <a:cs typeface="Times New Roman"/>
                <a:sym typeface="Times New Roman"/>
              </a:rPr>
              <a:t>TABLE OF CONTENTS</a:t>
            </a:r>
            <a:endParaRPr b="1" i="0" sz="1400" u="none" cap="none" strike="noStrike">
              <a:solidFill>
                <a:srgbClr val="000000"/>
              </a:solidFill>
              <a:latin typeface="Times New Roman"/>
              <a:ea typeface="Times New Roman"/>
              <a:cs typeface="Times New Roman"/>
              <a:sym typeface="Times New Roman"/>
            </a:endParaRPr>
          </a:p>
        </p:txBody>
      </p:sp>
      <p:graphicFrame>
        <p:nvGraphicFramePr>
          <p:cNvPr id="52" name="Google Shape;52;p9"/>
          <p:cNvGraphicFramePr/>
          <p:nvPr/>
        </p:nvGraphicFramePr>
        <p:xfrm>
          <a:off x="436250" y="1819175"/>
          <a:ext cx="3000000" cy="3000000"/>
        </p:xfrm>
        <a:graphic>
          <a:graphicData uri="http://schemas.openxmlformats.org/drawingml/2006/table">
            <a:tbl>
              <a:tblPr bandRow="1">
                <a:noFill/>
                <a:tableStyleId>{A570A505-9C83-4DA2-BAA3-34EB322FA7B9}</a:tableStyleId>
              </a:tblPr>
              <a:tblGrid>
                <a:gridCol w="867400"/>
                <a:gridCol w="3726075"/>
              </a:tblGrid>
              <a:tr h="365075">
                <a:tc>
                  <a:txBody>
                    <a:bodyPr/>
                    <a:lstStyle/>
                    <a:p>
                      <a:pPr indent="0" lvl="0" marL="0" marR="0" rtl="0" algn="ctr">
                        <a:lnSpc>
                          <a:spcPct val="115000"/>
                        </a:lnSpc>
                        <a:spcBef>
                          <a:spcPts val="0"/>
                        </a:spcBef>
                        <a:spcAft>
                          <a:spcPts val="0"/>
                        </a:spcAft>
                        <a:buClr>
                          <a:srgbClr val="000000"/>
                        </a:buClr>
                        <a:buSzPts val="1200"/>
                        <a:buFont typeface="Arial"/>
                        <a:buNone/>
                      </a:pPr>
                      <a:r>
                        <a:rPr lang="en-US" sz="1200" u="none" cap="none" strike="noStrike">
                          <a:latin typeface="Times New Roman"/>
                          <a:ea typeface="Times New Roman"/>
                          <a:cs typeface="Times New Roman"/>
                          <a:sym typeface="Times New Roman"/>
                        </a:rPr>
                        <a:t>Sr.No.</a:t>
                      </a:r>
                      <a:endParaRPr sz="1200" u="none" cap="none" strike="noStrike">
                        <a:latin typeface="Times New Roman"/>
                        <a:ea typeface="Times New Roman"/>
                        <a:cs typeface="Times New Roman"/>
                        <a:sym typeface="Times New Roman"/>
                      </a:endParaRPr>
                    </a:p>
                  </a:txBody>
                  <a:tcPr marT="0" marB="0" marR="68575" marL="68575"/>
                </a:tc>
                <a:tc>
                  <a:txBody>
                    <a:bodyPr/>
                    <a:lstStyle/>
                    <a:p>
                      <a:pPr indent="0" lvl="0" marL="0" marR="0" rtl="0" algn="l">
                        <a:lnSpc>
                          <a:spcPct val="115000"/>
                        </a:lnSpc>
                        <a:spcBef>
                          <a:spcPts val="0"/>
                        </a:spcBef>
                        <a:spcAft>
                          <a:spcPts val="0"/>
                        </a:spcAft>
                        <a:buClr>
                          <a:srgbClr val="000000"/>
                        </a:buClr>
                        <a:buSzPts val="1200"/>
                        <a:buFont typeface="Arial"/>
                        <a:buNone/>
                      </a:pPr>
                      <a:r>
                        <a:rPr lang="en-US" sz="1200" u="none" cap="none" strike="noStrike">
                          <a:latin typeface="Times New Roman"/>
                          <a:ea typeface="Times New Roman"/>
                          <a:cs typeface="Times New Roman"/>
                          <a:sym typeface="Times New Roman"/>
                        </a:rPr>
                        <a:t> Content</a:t>
                      </a:r>
                      <a:endParaRPr sz="1200" u="none" cap="none" strike="noStrike">
                        <a:latin typeface="Times New Roman"/>
                        <a:ea typeface="Times New Roman"/>
                        <a:cs typeface="Times New Roman"/>
                        <a:sym typeface="Times New Roman"/>
                      </a:endParaRPr>
                    </a:p>
                  </a:txBody>
                  <a:tcPr marT="0" marB="0" marR="68575" marL="68575"/>
                </a:tc>
              </a:tr>
              <a:tr h="218775">
                <a:tc>
                  <a:txBody>
                    <a:bodyPr/>
                    <a:lstStyle/>
                    <a:p>
                      <a:pPr indent="0" lvl="0" marL="0" marR="0" rtl="0" algn="ctr">
                        <a:lnSpc>
                          <a:spcPct val="115000"/>
                        </a:lnSpc>
                        <a:spcBef>
                          <a:spcPts val="0"/>
                        </a:spcBef>
                        <a:spcAft>
                          <a:spcPts val="0"/>
                        </a:spcAft>
                        <a:buClr>
                          <a:srgbClr val="000000"/>
                        </a:buClr>
                        <a:buSzPts val="1200"/>
                        <a:buFont typeface="Arial"/>
                        <a:buNone/>
                      </a:pPr>
                      <a:r>
                        <a:rPr lang="en-US" sz="1200" u="none" cap="none" strike="noStrike">
                          <a:latin typeface="Times New Roman"/>
                          <a:ea typeface="Times New Roman"/>
                          <a:cs typeface="Times New Roman"/>
                          <a:sym typeface="Times New Roman"/>
                        </a:rPr>
                        <a:t>1.</a:t>
                      </a:r>
                      <a:endParaRPr sz="1200" u="none" cap="none" strike="noStrike">
                        <a:latin typeface="Times New Roman"/>
                        <a:ea typeface="Times New Roman"/>
                        <a:cs typeface="Times New Roman"/>
                        <a:sym typeface="Times New Roman"/>
                      </a:endParaRPr>
                    </a:p>
                  </a:txBody>
                  <a:tcPr marT="0" marB="0" marR="68575" marL="68575"/>
                </a:tc>
                <a:tc>
                  <a:txBody>
                    <a:bodyPr/>
                    <a:lstStyle/>
                    <a:p>
                      <a:pPr indent="0" lvl="0" marL="0" marR="0" rtl="0" algn="l">
                        <a:lnSpc>
                          <a:spcPct val="115000"/>
                        </a:lnSpc>
                        <a:spcBef>
                          <a:spcPts val="0"/>
                        </a:spcBef>
                        <a:spcAft>
                          <a:spcPts val="0"/>
                        </a:spcAft>
                        <a:buClr>
                          <a:srgbClr val="000000"/>
                        </a:buClr>
                        <a:buSzPts val="1200"/>
                        <a:buFont typeface="Arial"/>
                        <a:buNone/>
                      </a:pPr>
                      <a:r>
                        <a:rPr lang="en-US" sz="1200" u="none" cap="none" strike="noStrike">
                          <a:latin typeface="Times New Roman"/>
                          <a:ea typeface="Times New Roman"/>
                          <a:cs typeface="Times New Roman"/>
                          <a:sym typeface="Times New Roman"/>
                        </a:rPr>
                        <a:t>Problem Statement</a:t>
                      </a:r>
                      <a:endParaRPr sz="1200" u="none" cap="none" strike="noStrike"/>
                    </a:p>
                  </a:txBody>
                  <a:tcPr marT="0" marB="0" marR="68575" marL="68575"/>
                </a:tc>
              </a:tr>
              <a:tr h="218775">
                <a:tc>
                  <a:txBody>
                    <a:bodyPr/>
                    <a:lstStyle/>
                    <a:p>
                      <a:pPr indent="0" lvl="0" marL="0" marR="0" rtl="0" algn="ctr">
                        <a:lnSpc>
                          <a:spcPct val="115000"/>
                        </a:lnSpc>
                        <a:spcBef>
                          <a:spcPts val="0"/>
                        </a:spcBef>
                        <a:spcAft>
                          <a:spcPts val="0"/>
                        </a:spcAft>
                        <a:buNone/>
                      </a:pPr>
                      <a:r>
                        <a:rPr lang="en-US" sz="1200">
                          <a:latin typeface="Times New Roman"/>
                          <a:ea typeface="Times New Roman"/>
                          <a:cs typeface="Times New Roman"/>
                          <a:sym typeface="Times New Roman"/>
                        </a:rPr>
                        <a:t>2.</a:t>
                      </a:r>
                      <a:endParaRPr sz="1200" u="none" cap="none" strike="noStrike">
                        <a:latin typeface="Times New Roman"/>
                        <a:ea typeface="Times New Roman"/>
                        <a:cs typeface="Times New Roman"/>
                        <a:sym typeface="Times New Roman"/>
                      </a:endParaRPr>
                    </a:p>
                  </a:txBody>
                  <a:tcPr marT="0" marB="0" marR="68575" marL="68575"/>
                </a:tc>
                <a:tc>
                  <a:txBody>
                    <a:bodyPr/>
                    <a:lstStyle/>
                    <a:p>
                      <a:pPr indent="0" lvl="0" marL="0" marR="0" rtl="0" algn="l">
                        <a:lnSpc>
                          <a:spcPct val="115000"/>
                        </a:lnSpc>
                        <a:spcBef>
                          <a:spcPts val="0"/>
                        </a:spcBef>
                        <a:spcAft>
                          <a:spcPts val="0"/>
                        </a:spcAft>
                        <a:buNone/>
                      </a:pPr>
                      <a:r>
                        <a:rPr lang="en-US" sz="1200">
                          <a:latin typeface="Times New Roman"/>
                          <a:ea typeface="Times New Roman"/>
                          <a:cs typeface="Times New Roman"/>
                          <a:sym typeface="Times New Roman"/>
                        </a:rPr>
                        <a:t>Literature Survey</a:t>
                      </a:r>
                      <a:endParaRPr sz="1200" u="none" cap="none" strike="noStrike">
                        <a:latin typeface="Times New Roman"/>
                        <a:ea typeface="Times New Roman"/>
                        <a:cs typeface="Times New Roman"/>
                        <a:sym typeface="Times New Roman"/>
                      </a:endParaRPr>
                    </a:p>
                  </a:txBody>
                  <a:tcPr marT="0" marB="0" marR="68575" marL="68575"/>
                </a:tc>
              </a:tr>
              <a:tr h="218775">
                <a:tc>
                  <a:txBody>
                    <a:bodyPr/>
                    <a:lstStyle/>
                    <a:p>
                      <a:pPr indent="0" lvl="0" marL="0" marR="0" rtl="0" algn="ctr">
                        <a:lnSpc>
                          <a:spcPct val="115000"/>
                        </a:lnSpc>
                        <a:spcBef>
                          <a:spcPts val="0"/>
                        </a:spcBef>
                        <a:spcAft>
                          <a:spcPts val="0"/>
                        </a:spcAft>
                        <a:buClr>
                          <a:srgbClr val="000000"/>
                        </a:buClr>
                        <a:buSzPts val="1200"/>
                        <a:buFont typeface="Arial"/>
                        <a:buNone/>
                      </a:pPr>
                      <a:r>
                        <a:rPr lang="en-US" sz="1200">
                          <a:latin typeface="Times New Roman"/>
                          <a:ea typeface="Times New Roman"/>
                          <a:cs typeface="Times New Roman"/>
                          <a:sym typeface="Times New Roman"/>
                        </a:rPr>
                        <a:t>3.</a:t>
                      </a:r>
                      <a:r>
                        <a:rPr lang="en-US" sz="1200" u="none" cap="none" strike="noStrike">
                          <a:latin typeface="Times New Roman"/>
                          <a:ea typeface="Times New Roman"/>
                          <a:cs typeface="Times New Roman"/>
                          <a:sym typeface="Times New Roman"/>
                        </a:rPr>
                        <a:t/>
                      </a:r>
                      <a:endParaRPr sz="1200" u="none" cap="none" strike="noStrike">
                        <a:latin typeface="Times New Roman"/>
                        <a:ea typeface="Times New Roman"/>
                        <a:cs typeface="Times New Roman"/>
                        <a:sym typeface="Times New Roman"/>
                      </a:endParaRPr>
                    </a:p>
                  </a:txBody>
                  <a:tcPr marT="0" marB="0" marR="68575" marL="68575"/>
                </a:tc>
                <a:tc>
                  <a:txBody>
                    <a:bodyPr/>
                    <a:lstStyle/>
                    <a:p>
                      <a:pPr indent="0" lvl="0" marL="0" marR="0" rtl="0" algn="l">
                        <a:lnSpc>
                          <a:spcPct val="100000"/>
                        </a:lnSpc>
                        <a:spcBef>
                          <a:spcPts val="0"/>
                        </a:spcBef>
                        <a:spcAft>
                          <a:spcPts val="0"/>
                        </a:spcAft>
                        <a:buClr>
                          <a:schemeClr val="dk1"/>
                        </a:buClr>
                        <a:buSzPts val="1200"/>
                        <a:buFont typeface="Arial"/>
                        <a:buNone/>
                      </a:pPr>
                      <a:r>
                        <a:rPr lang="en-US" sz="1200" u="none" cap="none" strike="noStrike">
                          <a:solidFill>
                            <a:schemeClr val="dk1"/>
                          </a:solidFill>
                          <a:latin typeface="Times New Roman"/>
                          <a:ea typeface="Times New Roman"/>
                          <a:cs typeface="Times New Roman"/>
                          <a:sym typeface="Times New Roman"/>
                        </a:rPr>
                        <a:t>Objectives</a:t>
                      </a:r>
                      <a:endParaRPr sz="1200">
                        <a:solidFill>
                          <a:schemeClr val="dk1"/>
                        </a:solidFill>
                        <a:latin typeface="Times New Roman"/>
                        <a:ea typeface="Times New Roman"/>
                        <a:cs typeface="Times New Roman"/>
                        <a:sym typeface="Times New Roman"/>
                      </a:endParaRPr>
                    </a:p>
                  </a:txBody>
                  <a:tcPr marT="0" marB="0" marR="68575" marL="68575"/>
                </a:tc>
              </a:tr>
              <a:tr h="218775">
                <a:tc>
                  <a:txBody>
                    <a:bodyPr/>
                    <a:lstStyle/>
                    <a:p>
                      <a:pPr indent="0" lvl="0" marL="0" marR="0" rtl="0" algn="ctr">
                        <a:lnSpc>
                          <a:spcPct val="115000"/>
                        </a:lnSpc>
                        <a:spcBef>
                          <a:spcPts val="0"/>
                        </a:spcBef>
                        <a:spcAft>
                          <a:spcPts val="0"/>
                        </a:spcAft>
                        <a:buClr>
                          <a:srgbClr val="000000"/>
                        </a:buClr>
                        <a:buSzPts val="1200"/>
                        <a:buFont typeface="Arial"/>
                        <a:buNone/>
                      </a:pPr>
                      <a:r>
                        <a:rPr lang="en-US" sz="1200">
                          <a:latin typeface="Times New Roman"/>
                          <a:ea typeface="Times New Roman"/>
                          <a:cs typeface="Times New Roman"/>
                          <a:sym typeface="Times New Roman"/>
                        </a:rPr>
                        <a:t>4.</a:t>
                      </a:r>
                      <a:r>
                        <a:rPr lang="en-US" sz="1200" u="none" cap="none" strike="noStrike">
                          <a:latin typeface="Times New Roman"/>
                          <a:ea typeface="Times New Roman"/>
                          <a:cs typeface="Times New Roman"/>
                          <a:sym typeface="Times New Roman"/>
                        </a:rPr>
                        <a:t/>
                      </a:r>
                      <a:endParaRPr sz="1200" u="none" cap="none" strike="noStrike">
                        <a:latin typeface="Times New Roman"/>
                        <a:ea typeface="Times New Roman"/>
                        <a:cs typeface="Times New Roman"/>
                        <a:sym typeface="Times New Roman"/>
                      </a:endParaRPr>
                    </a:p>
                  </a:txBody>
                  <a:tcPr marT="0" marB="0" marR="68575" marL="68575"/>
                </a:tc>
                <a:tc>
                  <a:txBody>
                    <a:bodyPr/>
                    <a:lstStyle/>
                    <a:p>
                      <a:pPr indent="0" lvl="0" marL="0" marR="0" rtl="0" algn="l">
                        <a:lnSpc>
                          <a:spcPct val="100000"/>
                        </a:lnSpc>
                        <a:spcBef>
                          <a:spcPts val="0"/>
                        </a:spcBef>
                        <a:spcAft>
                          <a:spcPts val="0"/>
                        </a:spcAft>
                        <a:buClr>
                          <a:schemeClr val="dk1"/>
                        </a:buClr>
                        <a:buSzPts val="1200"/>
                        <a:buFont typeface="Arial"/>
                        <a:buNone/>
                      </a:pPr>
                      <a:r>
                        <a:rPr lang="en-US" sz="1200">
                          <a:latin typeface="Times New Roman"/>
                          <a:ea typeface="Times New Roman"/>
                          <a:cs typeface="Times New Roman"/>
                          <a:sym typeface="Times New Roman"/>
                        </a:rPr>
                        <a:t>Flow Diagram &amp; Architecture</a:t>
                      </a:r>
                      <a:endParaRPr sz="1200" u="none" cap="none" strike="noStrike">
                        <a:latin typeface="Times New Roman"/>
                        <a:ea typeface="Times New Roman"/>
                        <a:cs typeface="Times New Roman"/>
                        <a:sym typeface="Times New Roman"/>
                      </a:endParaRPr>
                    </a:p>
                  </a:txBody>
                  <a:tcPr marT="0" marB="0" marR="68575" marL="68575"/>
                </a:tc>
              </a:tr>
              <a:tr h="218775">
                <a:tc>
                  <a:txBody>
                    <a:bodyPr/>
                    <a:lstStyle/>
                    <a:p>
                      <a:pPr indent="0" lvl="0" marL="0" marR="0" rtl="0" algn="ctr">
                        <a:lnSpc>
                          <a:spcPct val="115000"/>
                        </a:lnSpc>
                        <a:spcBef>
                          <a:spcPts val="0"/>
                        </a:spcBef>
                        <a:spcAft>
                          <a:spcPts val="0"/>
                        </a:spcAft>
                        <a:buClr>
                          <a:srgbClr val="000000"/>
                        </a:buClr>
                        <a:buSzPts val="1200"/>
                        <a:buFont typeface="Arial"/>
                        <a:buNone/>
                      </a:pPr>
                      <a:r>
                        <a:rPr lang="en-US" sz="1200">
                          <a:latin typeface="Times New Roman"/>
                          <a:ea typeface="Times New Roman"/>
                          <a:cs typeface="Times New Roman"/>
                          <a:sym typeface="Times New Roman"/>
                        </a:rPr>
                        <a:t>5.</a:t>
                      </a:r>
                      <a:r>
                        <a:rPr lang="en-US" sz="1200" u="none" cap="none" strike="noStrike">
                          <a:latin typeface="Times New Roman"/>
                          <a:ea typeface="Times New Roman"/>
                          <a:cs typeface="Times New Roman"/>
                          <a:sym typeface="Times New Roman"/>
                        </a:rPr>
                        <a:t/>
                      </a:r>
                      <a:endParaRPr sz="1200" u="none" cap="none" strike="noStrike">
                        <a:latin typeface="Times New Roman"/>
                        <a:ea typeface="Times New Roman"/>
                        <a:cs typeface="Times New Roman"/>
                        <a:sym typeface="Times New Roman"/>
                      </a:endParaRPr>
                    </a:p>
                  </a:txBody>
                  <a:tcPr marT="0" marB="0" marR="68575" marL="68575"/>
                </a:tc>
                <a:tc>
                  <a:txBody>
                    <a:bodyPr/>
                    <a:lstStyle/>
                    <a:p>
                      <a:pPr indent="0" lvl="0" marL="0" marR="0" rtl="0" algn="l">
                        <a:lnSpc>
                          <a:spcPct val="100000"/>
                        </a:lnSpc>
                        <a:spcBef>
                          <a:spcPts val="0"/>
                        </a:spcBef>
                        <a:spcAft>
                          <a:spcPts val="0"/>
                        </a:spcAft>
                        <a:buClr>
                          <a:schemeClr val="dk1"/>
                        </a:buClr>
                        <a:buSzPts val="1200"/>
                        <a:buFont typeface="Arial"/>
                        <a:buNone/>
                      </a:pPr>
                      <a:r>
                        <a:rPr lang="en-US" sz="1200" u="none" cap="none" strike="noStrike">
                          <a:solidFill>
                            <a:schemeClr val="dk1"/>
                          </a:solidFill>
                          <a:latin typeface="Times New Roman"/>
                          <a:ea typeface="Times New Roman"/>
                          <a:cs typeface="Times New Roman"/>
                          <a:sym typeface="Times New Roman"/>
                        </a:rPr>
                        <a:t>Implementation &amp; Formulation</a:t>
                      </a:r>
                      <a:endParaRPr sz="1200" u="none" cap="none" strike="noStrike"/>
                    </a:p>
                  </a:txBody>
                  <a:tcPr marT="0" marB="0" marR="68575" marL="68575"/>
                </a:tc>
              </a:tr>
              <a:tr h="218775">
                <a:tc>
                  <a:txBody>
                    <a:bodyPr/>
                    <a:lstStyle/>
                    <a:p>
                      <a:pPr indent="0" lvl="0" marL="0" marR="0" rtl="0" algn="ctr">
                        <a:lnSpc>
                          <a:spcPct val="115000"/>
                        </a:lnSpc>
                        <a:spcBef>
                          <a:spcPts val="0"/>
                        </a:spcBef>
                        <a:spcAft>
                          <a:spcPts val="0"/>
                        </a:spcAft>
                        <a:buClr>
                          <a:srgbClr val="000000"/>
                        </a:buClr>
                        <a:buSzPts val="1200"/>
                        <a:buFont typeface="Arial"/>
                        <a:buNone/>
                      </a:pPr>
                      <a:r>
                        <a:rPr lang="en-US" sz="1200">
                          <a:latin typeface="Times New Roman"/>
                          <a:ea typeface="Times New Roman"/>
                          <a:cs typeface="Times New Roman"/>
                          <a:sym typeface="Times New Roman"/>
                        </a:rPr>
                        <a:t>6.</a:t>
                      </a:r>
                      <a:r>
                        <a:rPr lang="en-US" sz="1200" u="none" cap="none" strike="noStrike">
                          <a:latin typeface="Times New Roman"/>
                          <a:ea typeface="Times New Roman"/>
                          <a:cs typeface="Times New Roman"/>
                          <a:sym typeface="Times New Roman"/>
                        </a:rPr>
                        <a:t/>
                      </a:r>
                      <a:endParaRPr sz="1200" u="none" cap="none" strike="noStrike">
                        <a:latin typeface="Times New Roman"/>
                        <a:ea typeface="Times New Roman"/>
                        <a:cs typeface="Times New Roman"/>
                        <a:sym typeface="Times New Roman"/>
                      </a:endParaRPr>
                    </a:p>
                  </a:txBody>
                  <a:tcPr marT="0" marB="0" marR="68575" marL="68575"/>
                </a:tc>
                <a:tc>
                  <a:txBody>
                    <a:bodyPr/>
                    <a:lstStyle/>
                    <a:p>
                      <a:pPr indent="0" lvl="0" marL="0" marR="0" rtl="0" algn="l">
                        <a:lnSpc>
                          <a:spcPct val="100000"/>
                        </a:lnSpc>
                        <a:spcBef>
                          <a:spcPts val="0"/>
                        </a:spcBef>
                        <a:spcAft>
                          <a:spcPts val="0"/>
                        </a:spcAft>
                        <a:buClr>
                          <a:schemeClr val="dk1"/>
                        </a:buClr>
                        <a:buSzPts val="1200"/>
                        <a:buFont typeface="Arial"/>
                        <a:buNone/>
                      </a:pPr>
                      <a:r>
                        <a:rPr lang="en-US" sz="1200" u="none" cap="none" strike="noStrike">
                          <a:solidFill>
                            <a:schemeClr val="dk1"/>
                          </a:solidFill>
                          <a:latin typeface="Times New Roman"/>
                          <a:ea typeface="Times New Roman"/>
                          <a:cs typeface="Times New Roman"/>
                          <a:sym typeface="Times New Roman"/>
                        </a:rPr>
                        <a:t>Datasets &amp; Calibration</a:t>
                      </a:r>
                      <a:endParaRPr sz="1200" u="none" cap="none" strike="noStrike"/>
                    </a:p>
                  </a:txBody>
                  <a:tcPr marT="0" marB="0" marR="68575" marL="68575"/>
                </a:tc>
              </a:tr>
              <a:tr h="218775">
                <a:tc>
                  <a:txBody>
                    <a:bodyPr/>
                    <a:lstStyle/>
                    <a:p>
                      <a:pPr indent="0" lvl="0" marL="0" marR="0" rtl="0" algn="ctr">
                        <a:lnSpc>
                          <a:spcPct val="115000"/>
                        </a:lnSpc>
                        <a:spcBef>
                          <a:spcPts val="0"/>
                        </a:spcBef>
                        <a:spcAft>
                          <a:spcPts val="0"/>
                        </a:spcAft>
                        <a:buClr>
                          <a:srgbClr val="000000"/>
                        </a:buClr>
                        <a:buSzPts val="1200"/>
                        <a:buFont typeface="Arial"/>
                        <a:buNone/>
                      </a:pPr>
                      <a:r>
                        <a:rPr lang="en-US" sz="1200">
                          <a:latin typeface="Times New Roman"/>
                          <a:ea typeface="Times New Roman"/>
                          <a:cs typeface="Times New Roman"/>
                          <a:sym typeface="Times New Roman"/>
                        </a:rPr>
                        <a:t>7.</a:t>
                      </a:r>
                      <a:r>
                        <a:rPr lang="en-US" sz="1200" u="none" cap="none" strike="noStrike">
                          <a:latin typeface="Times New Roman"/>
                          <a:ea typeface="Times New Roman"/>
                          <a:cs typeface="Times New Roman"/>
                          <a:sym typeface="Times New Roman"/>
                        </a:rPr>
                        <a:t/>
                      </a:r>
                      <a:endParaRPr sz="1200" u="none" cap="none" strike="noStrike">
                        <a:latin typeface="Times New Roman"/>
                        <a:ea typeface="Times New Roman"/>
                        <a:cs typeface="Times New Roman"/>
                        <a:sym typeface="Times New Roman"/>
                      </a:endParaRPr>
                    </a:p>
                  </a:txBody>
                  <a:tcPr marT="0" marB="0" marR="68575" marL="68575"/>
                </a:tc>
                <a:tc>
                  <a:txBody>
                    <a:bodyPr/>
                    <a:lstStyle/>
                    <a:p>
                      <a:pPr indent="0" lvl="0" marL="0" marR="0" rtl="0" algn="l">
                        <a:lnSpc>
                          <a:spcPct val="100000"/>
                        </a:lnSpc>
                        <a:spcBef>
                          <a:spcPts val="0"/>
                        </a:spcBef>
                        <a:spcAft>
                          <a:spcPts val="0"/>
                        </a:spcAft>
                        <a:buClr>
                          <a:schemeClr val="dk1"/>
                        </a:buClr>
                        <a:buSzPts val="1200"/>
                        <a:buFont typeface="Arial"/>
                        <a:buNone/>
                      </a:pPr>
                      <a:r>
                        <a:rPr lang="en-US" sz="1200" u="none" cap="none" strike="noStrike">
                          <a:solidFill>
                            <a:schemeClr val="dk1"/>
                          </a:solidFill>
                          <a:latin typeface="Times New Roman"/>
                          <a:ea typeface="Times New Roman"/>
                          <a:cs typeface="Times New Roman"/>
                          <a:sym typeface="Times New Roman"/>
                        </a:rPr>
                        <a:t>Results</a:t>
                      </a:r>
                      <a:endParaRPr sz="1200" u="none" cap="none" strike="noStrike"/>
                    </a:p>
                  </a:txBody>
                  <a:tcPr marT="0" marB="0" marR="68575" marL="68575"/>
                </a:tc>
              </a:tr>
              <a:tr h="218775">
                <a:tc>
                  <a:txBody>
                    <a:bodyPr/>
                    <a:lstStyle/>
                    <a:p>
                      <a:pPr indent="0" lvl="0" marL="0" marR="0" rtl="0" algn="ctr">
                        <a:lnSpc>
                          <a:spcPct val="115000"/>
                        </a:lnSpc>
                        <a:spcBef>
                          <a:spcPts val="0"/>
                        </a:spcBef>
                        <a:spcAft>
                          <a:spcPts val="0"/>
                        </a:spcAft>
                        <a:buNone/>
                      </a:pPr>
                      <a:r>
                        <a:rPr lang="en-US" sz="1200">
                          <a:latin typeface="Times New Roman"/>
                          <a:ea typeface="Times New Roman"/>
                          <a:cs typeface="Times New Roman"/>
                          <a:sym typeface="Times New Roman"/>
                        </a:rPr>
                        <a:t>8.</a:t>
                      </a:r>
                      <a:endParaRPr sz="1200">
                        <a:latin typeface="Times New Roman"/>
                        <a:ea typeface="Times New Roman"/>
                        <a:cs typeface="Times New Roman"/>
                        <a:sym typeface="Times New Roman"/>
                      </a:endParaRPr>
                    </a:p>
                  </a:txBody>
                  <a:tcPr marT="0" marB="0" marR="68575" marL="68575"/>
                </a:tc>
                <a:tc>
                  <a:txBody>
                    <a:bodyPr/>
                    <a:lstStyle/>
                    <a:p>
                      <a:pPr indent="0" lvl="0" marL="0" marR="0" rtl="0" algn="l">
                        <a:lnSpc>
                          <a:spcPct val="100000"/>
                        </a:lnSpc>
                        <a:spcBef>
                          <a:spcPts val="0"/>
                        </a:spcBef>
                        <a:spcAft>
                          <a:spcPts val="0"/>
                        </a:spcAft>
                        <a:buNone/>
                      </a:pPr>
                      <a:r>
                        <a:rPr lang="en-US" sz="1200">
                          <a:solidFill>
                            <a:schemeClr val="dk1"/>
                          </a:solidFill>
                          <a:latin typeface="Times New Roman"/>
                          <a:ea typeface="Times New Roman"/>
                          <a:cs typeface="Times New Roman"/>
                          <a:sym typeface="Times New Roman"/>
                        </a:rPr>
                        <a:t>Applications &amp; Future Scope</a:t>
                      </a:r>
                      <a:endParaRPr sz="1200" u="none" cap="none" strike="noStrike">
                        <a:solidFill>
                          <a:schemeClr val="dk1"/>
                        </a:solidFill>
                        <a:latin typeface="Times New Roman"/>
                        <a:ea typeface="Times New Roman"/>
                        <a:cs typeface="Times New Roman"/>
                        <a:sym typeface="Times New Roman"/>
                      </a:endParaRPr>
                    </a:p>
                  </a:txBody>
                  <a:tcPr marT="0" marB="0" marR="68575" marL="68575"/>
                </a:tc>
              </a:tr>
              <a:tr h="218775">
                <a:tc>
                  <a:txBody>
                    <a:bodyPr/>
                    <a:lstStyle/>
                    <a:p>
                      <a:pPr indent="0" lvl="0" marL="0" marR="0" rtl="0" algn="ctr">
                        <a:lnSpc>
                          <a:spcPct val="115000"/>
                        </a:lnSpc>
                        <a:spcBef>
                          <a:spcPts val="0"/>
                        </a:spcBef>
                        <a:spcAft>
                          <a:spcPts val="0"/>
                        </a:spcAft>
                        <a:buClr>
                          <a:srgbClr val="000000"/>
                        </a:buClr>
                        <a:buSzPts val="1200"/>
                        <a:buFont typeface="Arial"/>
                        <a:buNone/>
                      </a:pPr>
                      <a:r>
                        <a:rPr lang="en-US" sz="1200">
                          <a:latin typeface="Times New Roman"/>
                          <a:ea typeface="Times New Roman"/>
                          <a:cs typeface="Times New Roman"/>
                          <a:sym typeface="Times New Roman"/>
                        </a:rPr>
                        <a:t>9.</a:t>
                      </a:r>
                      <a:r>
                        <a:rPr lang="en-US" sz="1200" u="none" cap="none" strike="noStrike">
                          <a:latin typeface="Times New Roman"/>
                          <a:ea typeface="Times New Roman"/>
                          <a:cs typeface="Times New Roman"/>
                          <a:sym typeface="Times New Roman"/>
                        </a:rPr>
                        <a:t/>
                      </a:r>
                      <a:endParaRPr sz="1200" u="none" cap="none" strike="noStrike">
                        <a:latin typeface="Times New Roman"/>
                        <a:ea typeface="Times New Roman"/>
                        <a:cs typeface="Times New Roman"/>
                        <a:sym typeface="Times New Roman"/>
                      </a:endParaRPr>
                    </a:p>
                  </a:txBody>
                  <a:tcPr marT="0" marB="0" marR="68575" marL="68575"/>
                </a:tc>
                <a:tc>
                  <a:txBody>
                    <a:bodyPr/>
                    <a:lstStyle/>
                    <a:p>
                      <a:pPr indent="0" lvl="0" marL="0" marR="0" rtl="0" algn="l">
                        <a:lnSpc>
                          <a:spcPct val="100000"/>
                        </a:lnSpc>
                        <a:spcBef>
                          <a:spcPts val="0"/>
                        </a:spcBef>
                        <a:spcAft>
                          <a:spcPts val="0"/>
                        </a:spcAft>
                        <a:buClr>
                          <a:schemeClr val="dk1"/>
                        </a:buClr>
                        <a:buSzPts val="1200"/>
                        <a:buFont typeface="Arial"/>
                        <a:buNone/>
                      </a:pPr>
                      <a:r>
                        <a:rPr lang="en-US" sz="1200" u="none" cap="none" strike="noStrike">
                          <a:solidFill>
                            <a:schemeClr val="dk1"/>
                          </a:solidFill>
                          <a:latin typeface="Times New Roman"/>
                          <a:ea typeface="Times New Roman"/>
                          <a:cs typeface="Times New Roman"/>
                          <a:sym typeface="Times New Roman"/>
                        </a:rPr>
                        <a:t>Conclusion &amp; References</a:t>
                      </a:r>
                      <a:endParaRPr sz="1200" u="none" cap="none" strike="noStrike"/>
                    </a:p>
                  </a:txBody>
                  <a:tcPr marT="0" marB="0" marR="68575" marL="68575"/>
                </a:tc>
              </a:tr>
            </a:tbl>
          </a:graphicData>
        </a:graphic>
      </p:graphicFrame>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56" name="Shape 56"/>
        <p:cNvGrpSpPr/>
        <p:nvPr/>
      </p:nvGrpSpPr>
      <p:grpSpPr>
        <a:xfrm>
          <a:off x="0" y="0"/>
          <a:ext cx="0" cy="0"/>
          <a:chOff x="0" y="0"/>
          <a:chExt cx="0" cy="0"/>
        </a:xfrm>
      </p:grpSpPr>
      <p:sp>
        <p:nvSpPr>
          <p:cNvPr id="57" name="Google Shape;57;p10"/>
          <p:cNvSpPr txBox="1"/>
          <p:nvPr/>
        </p:nvSpPr>
        <p:spPr>
          <a:xfrm>
            <a:off x="257175" y="4836100"/>
            <a:ext cx="1343100" cy="2769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1200"/>
              <a:buFont typeface="Arial"/>
              <a:buNone/>
            </a:pPr>
            <a:r>
              <a:rPr b="0" i="0" lang="en-US" sz="1200" u="none" cap="none" strike="noStrike">
                <a:solidFill>
                  <a:schemeClr val="lt1"/>
                </a:solidFill>
                <a:latin typeface="Times New Roman"/>
                <a:ea typeface="Times New Roman"/>
                <a:cs typeface="Times New Roman"/>
                <a:sym typeface="Times New Roman"/>
              </a:rPr>
              <a:t>26/6/2023</a:t>
            </a:r>
            <a:endParaRPr b="0" i="0" sz="1200" u="none" cap="none" strike="noStrike">
              <a:solidFill>
                <a:schemeClr val="lt1"/>
              </a:solidFill>
              <a:latin typeface="Times New Roman"/>
              <a:ea typeface="Times New Roman"/>
              <a:cs typeface="Times New Roman"/>
              <a:sym typeface="Times New Roman"/>
            </a:endParaRPr>
          </a:p>
        </p:txBody>
      </p:sp>
      <p:sp>
        <p:nvSpPr>
          <p:cNvPr id="58" name="Google Shape;58;p10"/>
          <p:cNvSpPr/>
          <p:nvPr/>
        </p:nvSpPr>
        <p:spPr>
          <a:xfrm>
            <a:off x="8910006" y="1217600"/>
            <a:ext cx="230400" cy="3941400"/>
          </a:xfrm>
          <a:prstGeom prst="rect">
            <a:avLst/>
          </a:prstGeom>
          <a:solidFill>
            <a:srgbClr val="C00000"/>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2493"/>
              <a:buFont typeface="Arial"/>
              <a:buNone/>
            </a:pPr>
            <a:r>
              <a:t/>
            </a:r>
            <a:endParaRPr b="0" i="0" sz="2495" u="none" cap="none" strike="noStrike">
              <a:solidFill>
                <a:schemeClr val="lt1"/>
              </a:solidFill>
              <a:latin typeface="Arial"/>
              <a:ea typeface="Arial"/>
              <a:cs typeface="Arial"/>
              <a:sym typeface="Arial"/>
            </a:endParaRPr>
          </a:p>
        </p:txBody>
      </p:sp>
      <p:sp>
        <p:nvSpPr>
          <p:cNvPr id="59" name="Google Shape;59;p10"/>
          <p:cNvSpPr/>
          <p:nvPr/>
        </p:nvSpPr>
        <p:spPr>
          <a:xfrm>
            <a:off x="2105025" y="4836100"/>
            <a:ext cx="6807300" cy="322800"/>
          </a:xfrm>
          <a:prstGeom prst="rect">
            <a:avLst/>
          </a:prstGeom>
          <a:solidFill>
            <a:srgbClr val="C00000"/>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2493"/>
              <a:buFont typeface="Arial"/>
              <a:buNone/>
            </a:pPr>
            <a:r>
              <a:t/>
            </a:r>
            <a:endParaRPr b="0" i="0" sz="2495" u="none" cap="none" strike="noStrike">
              <a:solidFill>
                <a:schemeClr val="lt1"/>
              </a:solidFill>
              <a:latin typeface="Arial"/>
              <a:ea typeface="Arial"/>
              <a:cs typeface="Arial"/>
              <a:sym typeface="Arial"/>
            </a:endParaRPr>
          </a:p>
        </p:txBody>
      </p:sp>
      <p:pic>
        <p:nvPicPr>
          <p:cNvPr id="60" name="Google Shape;60;p10"/>
          <p:cNvPicPr preferRelativeResize="0"/>
          <p:nvPr/>
        </p:nvPicPr>
        <p:blipFill rotWithShape="1">
          <a:blip r:embed="rId3">
            <a:alphaModFix/>
          </a:blip>
          <a:srcRect b="0" l="0" r="0" t="0"/>
          <a:stretch/>
        </p:blipFill>
        <p:spPr>
          <a:xfrm>
            <a:off x="0" y="0"/>
            <a:ext cx="9143999" cy="1332186"/>
          </a:xfrm>
          <a:prstGeom prst="rect">
            <a:avLst/>
          </a:prstGeom>
          <a:noFill/>
          <a:ln>
            <a:noFill/>
          </a:ln>
        </p:spPr>
      </p:pic>
      <p:sp>
        <p:nvSpPr>
          <p:cNvPr id="61" name="Google Shape;61;p10"/>
          <p:cNvSpPr txBox="1"/>
          <p:nvPr/>
        </p:nvSpPr>
        <p:spPr>
          <a:xfrm>
            <a:off x="587989" y="1217597"/>
            <a:ext cx="7968000" cy="3504300"/>
          </a:xfrm>
          <a:prstGeom prst="rect">
            <a:avLst/>
          </a:prstGeom>
          <a:noFill/>
          <a:ln>
            <a:noFill/>
          </a:ln>
        </p:spPr>
        <p:txBody>
          <a:bodyPr anchorCtr="0" anchor="t" bIns="91425" lIns="91425" spcFirstLastPara="1" rIns="107625" wrap="square" tIns="91425">
            <a:normAutofit fontScale="77500" lnSpcReduction="20000"/>
          </a:bodyPr>
          <a:lstStyle/>
          <a:p>
            <a:pPr indent="0" lvl="0" marL="0" marR="0" rtl="0" algn="ctr">
              <a:lnSpc>
                <a:spcPct val="100000"/>
              </a:lnSpc>
              <a:spcBef>
                <a:spcPts val="0"/>
              </a:spcBef>
              <a:spcAft>
                <a:spcPts val="0"/>
              </a:spcAft>
              <a:buClr>
                <a:srgbClr val="000000"/>
              </a:buClr>
              <a:buSzPct val="100000"/>
              <a:buFont typeface="Arial"/>
              <a:buNone/>
            </a:pPr>
            <a:r>
              <a:rPr b="1" i="0" lang="en-US" sz="1800" u="none" cap="none" strike="noStrike">
                <a:solidFill>
                  <a:schemeClr val="dk1"/>
                </a:solidFill>
                <a:latin typeface="Times New Roman"/>
                <a:ea typeface="Times New Roman"/>
                <a:cs typeface="Times New Roman"/>
                <a:sym typeface="Times New Roman"/>
              </a:rPr>
              <a:t>P</a:t>
            </a:r>
            <a:r>
              <a:rPr b="1" lang="en-US" sz="1800">
                <a:solidFill>
                  <a:schemeClr val="dk1"/>
                </a:solidFill>
                <a:latin typeface="Times New Roman"/>
                <a:ea typeface="Times New Roman"/>
                <a:cs typeface="Times New Roman"/>
                <a:sym typeface="Times New Roman"/>
              </a:rPr>
              <a:t>ROBLEM STATEMENT</a:t>
            </a:r>
            <a:endParaRPr/>
          </a:p>
          <a:p>
            <a:pPr indent="0" lvl="0" marL="0" marR="0" rtl="0" algn="ctr">
              <a:lnSpc>
                <a:spcPct val="100000"/>
              </a:lnSpc>
              <a:spcBef>
                <a:spcPts val="0"/>
              </a:spcBef>
              <a:spcAft>
                <a:spcPts val="0"/>
              </a:spcAft>
              <a:buClr>
                <a:srgbClr val="000000"/>
              </a:buClr>
              <a:buSzPct val="100000"/>
              <a:buFont typeface="Arial"/>
              <a:buNone/>
            </a:pPr>
            <a:r>
              <a:t/>
            </a:r>
            <a:endParaRPr b="1" i="0" sz="1800" u="none" cap="none" strike="noStrike">
              <a:solidFill>
                <a:schemeClr val="dk1"/>
              </a:solidFill>
              <a:latin typeface="Times New Roman"/>
              <a:ea typeface="Times New Roman"/>
              <a:cs typeface="Times New Roman"/>
              <a:sym typeface="Times New Roman"/>
            </a:endParaRPr>
          </a:p>
          <a:p>
            <a:pPr indent="0" lvl="0" marL="0" rtl="0" algn="just">
              <a:lnSpc>
                <a:spcPct val="115000"/>
              </a:lnSpc>
              <a:spcBef>
                <a:spcPts val="1200"/>
              </a:spcBef>
              <a:spcAft>
                <a:spcPts val="0"/>
              </a:spcAft>
              <a:buClr>
                <a:schemeClr val="dk1"/>
              </a:buClr>
              <a:buSzPct val="64706"/>
              <a:buFont typeface="Arial"/>
              <a:buNone/>
            </a:pPr>
            <a:r>
              <a:rPr lang="en-US" sz="1700">
                <a:solidFill>
                  <a:schemeClr val="dk1"/>
                </a:solidFill>
                <a:latin typeface="Times New Roman"/>
                <a:ea typeface="Times New Roman"/>
                <a:cs typeface="Times New Roman"/>
                <a:sym typeface="Times New Roman"/>
              </a:rPr>
              <a:t xml:space="preserve">Help-desk and customer-support platforms such as Vision Helpdesk, Zendesk, Freshdesk, Intercom and ServiceNow, and the companies that use them, receive complaints from app reviews, support tickets, chat and web forms. The same problem is reported many times in different words, so agents triage it again and again, and no one sees how many customers a single problem affects.</a:t>
            </a:r>
          </a:p>
          <a:p>
            <a:pPr indent="0" lvl="0" marL="0" rtl="0" algn="just">
              <a:lnSpc>
                <a:spcPct val="115000"/>
              </a:lnSpc>
              <a:spcBef>
                <a:spcPts val="1200"/>
              </a:spcBef>
              <a:spcAft>
                <a:spcPts val="0"/>
              </a:spcAft>
              <a:buClr>
                <a:schemeClr val="dk1"/>
              </a:buClr>
              <a:buSzPct val="64706"/>
              <a:buFont typeface="Arial"/>
              <a:buNone/>
            </a:pPr>
            <a:r>
              <a:rPr lang="en-US" sz="1700">
                <a:solidFill>
                  <a:schemeClr val="dk1"/>
                </a:solidFill>
                <a:latin typeface="Times New Roman"/>
                <a:ea typeface="Times New Roman"/>
                <a:cs typeface="Times New Roman"/>
                <a:sym typeface="Times New Roman"/>
              </a:rPr>
              <a:t xml:space="preserve">Existing tools group complaints by theme (“login”) rather than by problem (“the OTP never arrives”): keyword rules and topic models mix different problems, and a single similarity threshold either merges unrelated complaints or misses paraphrases. Feedback tools flag spikes with z-scores on whole categories, which miss a new problem growing from a low base.</a:t>
            </a:r>
          </a:p>
          <a:p>
            <a:pPr indent="0" lvl="0" marL="0" rtl="0" algn="just">
              <a:lnSpc>
                <a:spcPct val="115000"/>
              </a:lnSpc>
              <a:spcBef>
                <a:spcPts val="1200"/>
              </a:spcBef>
              <a:spcAft>
                <a:spcPts val="0"/>
              </a:spcAft>
              <a:buClr>
                <a:schemeClr val="dk1"/>
              </a:buClr>
              <a:buSzPct val="64706"/>
              <a:buFont typeface="Arial"/>
              <a:buNone/>
            </a:pPr>
            <a:r>
              <a:rPr lang="en-US" sz="1700">
                <a:solidFill>
                  <a:schemeClr val="dk1"/>
                </a:solidFill>
                <a:latin typeface="Times New Roman"/>
                <a:ea typeface="Times New Roman"/>
                <a:cs typeface="Times New Roman"/>
                <a:sym typeface="Times New Roman"/>
              </a:rPr>
              <a:t xml:space="preserve">There is a need for a system that groups raw complaints into problem-level cases as they arrive with high precision, tracks each case’s volume to raise incidents early, adds sentiment, topic and root cause, and routes each incident to the responsible department after a person approves it.</a:t>
            </a:r>
          </a:p>
          <a:p>
            <a:pPr indent="0" lvl="0" marL="0" rtl="0" algn="just">
              <a:spcBef>
                <a:spcPts val="1200"/>
              </a:spcBef>
              <a:spcAft>
                <a:spcPts val="0"/>
              </a:spcAft>
              <a:buClr>
                <a:schemeClr val="dk1"/>
              </a:buClr>
              <a:buSzPct val="68750"/>
              <a:buFont typeface="Arial"/>
              <a:buNone/>
            </a:pPr>
            <a:r>
              <a:t/>
            </a:r>
            <a:endParaRPr sz="1600">
              <a:solidFill>
                <a:schemeClr val="dk1"/>
              </a:solidFill>
              <a:latin typeface="Times New Roman"/>
              <a:ea typeface="Times New Roman"/>
              <a:cs typeface="Times New Roman"/>
              <a:sym typeface="Times New Roman"/>
            </a:endParaRPr>
          </a:p>
          <a:p>
            <a:pPr indent="0" lvl="0" marL="0" marR="0" rtl="0" algn="just">
              <a:lnSpc>
                <a:spcPct val="100000"/>
              </a:lnSpc>
              <a:spcBef>
                <a:spcPts val="0"/>
              </a:spcBef>
              <a:spcAft>
                <a:spcPts val="0"/>
              </a:spcAft>
              <a:buClr>
                <a:srgbClr val="000000"/>
              </a:buClr>
              <a:buSzPct val="100000"/>
              <a:buFont typeface="Arial"/>
              <a:buNone/>
            </a:pPr>
            <a:r>
              <a:t/>
            </a:r>
            <a:endParaRPr sz="1600">
              <a:solidFill>
                <a:schemeClr val="dk1"/>
              </a:solidFill>
              <a:latin typeface="Times New Roman"/>
              <a:ea typeface="Times New Roman"/>
              <a:cs typeface="Times New Roman"/>
              <a:sym typeface="Times New Roman"/>
            </a:endParaRPr>
          </a:p>
        </p:txBody>
      </p:sp>
      <p:sp>
        <p:nvSpPr>
          <p:cNvPr id="62" name="Google Shape;62;p10"/>
          <p:cNvSpPr txBox="1"/>
          <p:nvPr/>
        </p:nvSpPr>
        <p:spPr>
          <a:xfrm flipH="1" rot="10800000">
            <a:off x="-4575" y="1332317"/>
            <a:ext cx="2331000" cy="461700"/>
          </a:xfrm>
          <a:prstGeom prst="rect">
            <a:avLst/>
          </a:prstGeom>
          <a:noFill/>
          <a:ln>
            <a:noFill/>
          </a:ln>
        </p:spPr>
        <p:txBody>
          <a:bodyPr anchorCtr="0" anchor="t" bIns="91425" lIns="91425" spcFirstLastPara="1" rIns="91425" wrap="square" tIns="91425">
            <a:spAutoFit/>
          </a:bodyPr>
          <a:lstStyle/>
          <a:p>
            <a:pPr indent="0" lvl="0" marL="0" marR="0" rtl="0" algn="l">
              <a:lnSpc>
                <a:spcPct val="100000"/>
              </a:lnSpc>
              <a:spcBef>
                <a:spcPts val="0"/>
              </a:spcBef>
              <a:spcAft>
                <a:spcPts val="0"/>
              </a:spcAft>
              <a:buClr>
                <a:srgbClr val="000000"/>
              </a:buClr>
              <a:buSzPts val="1800"/>
              <a:buFont typeface="Arial"/>
              <a:buNone/>
            </a:pPr>
            <a:r>
              <a:t/>
            </a:r>
            <a:endParaRPr b="0" i="0" sz="1800" u="none" cap="none" strike="noStrike">
              <a:solidFill>
                <a:schemeClr val="dk2"/>
              </a:solidFill>
              <a:latin typeface="Arial"/>
              <a:ea typeface="Arial"/>
              <a:cs typeface="Arial"/>
              <a:sym typeface="Arial"/>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6" name="Shape 66"/>
        <p:cNvGrpSpPr/>
        <p:nvPr/>
      </p:nvGrpSpPr>
      <p:grpSpPr>
        <a:xfrm>
          <a:off x="0" y="0"/>
          <a:ext cx="0" cy="0"/>
          <a:chOff x="0" y="0"/>
          <a:chExt cx="0" cy="0"/>
        </a:xfrm>
      </p:grpSpPr>
      <p:sp>
        <p:nvSpPr>
          <p:cNvPr id="67" name="Google Shape;67;p11"/>
          <p:cNvSpPr txBox="1"/>
          <p:nvPr/>
        </p:nvSpPr>
        <p:spPr>
          <a:xfrm>
            <a:off x="257175" y="4836100"/>
            <a:ext cx="1343100" cy="2769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1200"/>
              <a:buFont typeface="Arial"/>
              <a:buNone/>
            </a:pPr>
            <a:r>
              <a:rPr b="0" i="0" lang="en-US" sz="1200" u="none" cap="none" strike="noStrike">
                <a:solidFill>
                  <a:schemeClr val="lt1"/>
                </a:solidFill>
                <a:latin typeface="Times New Roman"/>
                <a:ea typeface="Times New Roman"/>
                <a:cs typeface="Times New Roman"/>
                <a:sym typeface="Times New Roman"/>
              </a:rPr>
              <a:t>26/6/2023</a:t>
            </a:r>
            <a:endParaRPr b="0" i="0" sz="1200" u="none" cap="none" strike="noStrike">
              <a:solidFill>
                <a:schemeClr val="lt1"/>
              </a:solidFill>
              <a:latin typeface="Times New Roman"/>
              <a:ea typeface="Times New Roman"/>
              <a:cs typeface="Times New Roman"/>
              <a:sym typeface="Times New Roman"/>
            </a:endParaRPr>
          </a:p>
        </p:txBody>
      </p:sp>
      <p:sp>
        <p:nvSpPr>
          <p:cNvPr id="68" name="Google Shape;68;p11"/>
          <p:cNvSpPr/>
          <p:nvPr/>
        </p:nvSpPr>
        <p:spPr>
          <a:xfrm>
            <a:off x="8910006" y="1217600"/>
            <a:ext cx="230400" cy="3941400"/>
          </a:xfrm>
          <a:prstGeom prst="rect">
            <a:avLst/>
          </a:prstGeom>
          <a:solidFill>
            <a:srgbClr val="C00000"/>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2493"/>
              <a:buFont typeface="Arial"/>
              <a:buNone/>
            </a:pPr>
            <a:r>
              <a:t/>
            </a:r>
            <a:endParaRPr b="0" i="0" sz="2495" u="none" cap="none" strike="noStrike">
              <a:solidFill>
                <a:schemeClr val="lt1"/>
              </a:solidFill>
              <a:latin typeface="Arial"/>
              <a:ea typeface="Arial"/>
              <a:cs typeface="Arial"/>
              <a:sym typeface="Arial"/>
            </a:endParaRPr>
          </a:p>
        </p:txBody>
      </p:sp>
      <p:sp>
        <p:nvSpPr>
          <p:cNvPr id="69" name="Google Shape;69;p11"/>
          <p:cNvSpPr/>
          <p:nvPr/>
        </p:nvSpPr>
        <p:spPr>
          <a:xfrm>
            <a:off x="2105025" y="4836100"/>
            <a:ext cx="6807300" cy="322800"/>
          </a:xfrm>
          <a:prstGeom prst="rect">
            <a:avLst/>
          </a:prstGeom>
          <a:solidFill>
            <a:srgbClr val="C00000"/>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2493"/>
              <a:buFont typeface="Arial"/>
              <a:buNone/>
            </a:pPr>
            <a:r>
              <a:t/>
            </a:r>
            <a:endParaRPr b="0" i="0" sz="2495" u="none" cap="none" strike="noStrike">
              <a:solidFill>
                <a:schemeClr val="lt1"/>
              </a:solidFill>
              <a:latin typeface="Arial"/>
              <a:ea typeface="Arial"/>
              <a:cs typeface="Arial"/>
              <a:sym typeface="Arial"/>
            </a:endParaRPr>
          </a:p>
        </p:txBody>
      </p:sp>
      <p:pic>
        <p:nvPicPr>
          <p:cNvPr id="70" name="Google Shape;70;p11"/>
          <p:cNvPicPr preferRelativeResize="0"/>
          <p:nvPr/>
        </p:nvPicPr>
        <p:blipFill rotWithShape="1">
          <a:blip r:embed="rId3">
            <a:alphaModFix/>
          </a:blip>
          <a:srcRect b="0" l="0" r="0" t="0"/>
          <a:stretch/>
        </p:blipFill>
        <p:spPr>
          <a:xfrm>
            <a:off x="0" y="0"/>
            <a:ext cx="9143999" cy="1332186"/>
          </a:xfrm>
          <a:prstGeom prst="rect">
            <a:avLst/>
          </a:prstGeom>
          <a:noFill/>
          <a:ln>
            <a:noFill/>
          </a:ln>
        </p:spPr>
      </p:pic>
      <p:sp>
        <p:nvSpPr>
          <p:cNvPr id="71" name="Google Shape;71;p11"/>
          <p:cNvSpPr txBox="1"/>
          <p:nvPr/>
        </p:nvSpPr>
        <p:spPr>
          <a:xfrm>
            <a:off x="678139" y="1217597"/>
            <a:ext cx="7968000" cy="3504300"/>
          </a:xfrm>
          <a:prstGeom prst="rect">
            <a:avLst/>
          </a:prstGeom>
          <a:noFill/>
          <a:ln>
            <a:noFill/>
          </a:ln>
        </p:spPr>
        <p:txBody>
          <a:bodyPr anchorCtr="0" anchor="t" bIns="91425" lIns="91425" spcFirstLastPara="1" rIns="107625" wrap="square" tIns="91425">
            <a:normAutofit/>
          </a:bodyPr>
          <a:lstStyle/>
          <a:p>
            <a:pPr indent="0" lvl="0" marL="0" marR="0" rtl="0" algn="ctr">
              <a:lnSpc>
                <a:spcPct val="100000"/>
              </a:lnSpc>
              <a:spcBef>
                <a:spcPts val="0"/>
              </a:spcBef>
              <a:spcAft>
                <a:spcPts val="0"/>
              </a:spcAft>
              <a:buClr>
                <a:srgbClr val="000000"/>
              </a:buClr>
              <a:buSzPts val="1800"/>
              <a:buFont typeface="Arial"/>
              <a:buNone/>
            </a:pPr>
            <a:r>
              <a:rPr b="1" lang="en-US">
                <a:latin typeface="Times New Roman"/>
                <a:ea typeface="Times New Roman"/>
                <a:cs typeface="Times New Roman"/>
                <a:sym typeface="Times New Roman"/>
              </a:rPr>
              <a:t>LITERATURE SURVEY (1/3)</a:t>
            </a:r>
            <a:endParaRPr b="1">
              <a:latin typeface="Times New Roman"/>
              <a:ea typeface="Times New Roman"/>
              <a:cs typeface="Times New Roman"/>
              <a:sym typeface="Times New Roman"/>
            </a:endParaRPr>
          </a:p>
          <a:p>
            <a:pPr indent="0" lvl="0" marL="0" marR="0" rtl="0" algn="ctr">
              <a:lnSpc>
                <a:spcPct val="100000"/>
              </a:lnSpc>
              <a:spcBef>
                <a:spcPts val="0"/>
              </a:spcBef>
              <a:spcAft>
                <a:spcPts val="0"/>
              </a:spcAft>
              <a:buClr>
                <a:srgbClr val="000000"/>
              </a:buClr>
              <a:buSzPts val="1800"/>
              <a:buFont typeface="Arial"/>
              <a:buNone/>
            </a:pPr>
            <a:r>
              <a:t/>
            </a:r>
            <a:endParaRPr b="1" i="0" sz="1800" u="none" cap="none" strike="noStrike">
              <a:solidFill>
                <a:schemeClr val="dk1"/>
              </a:solidFill>
              <a:latin typeface="Times New Roman"/>
              <a:ea typeface="Times New Roman"/>
              <a:cs typeface="Times New Roman"/>
              <a:sym typeface="Times New Roman"/>
            </a:endParaRPr>
          </a:p>
          <a:p>
            <a:pPr indent="0" lvl="0" marL="0" rtl="0" algn="just">
              <a:spcBef>
                <a:spcPts val="0"/>
              </a:spcBef>
              <a:spcAft>
                <a:spcPts val="0"/>
              </a:spcAft>
              <a:buClr>
                <a:schemeClr val="dk1"/>
              </a:buClr>
              <a:buSzPts val="1100"/>
              <a:buFont typeface="Arial"/>
              <a:buNone/>
            </a:pPr>
            <a:r>
              <a:t/>
            </a:r>
            <a:endParaRPr sz="1600">
              <a:solidFill>
                <a:schemeClr val="dk1"/>
              </a:solidFill>
              <a:latin typeface="Times New Roman"/>
              <a:ea typeface="Times New Roman"/>
              <a:cs typeface="Times New Roman"/>
              <a:sym typeface="Times New Roman"/>
            </a:endParaRPr>
          </a:p>
        </p:txBody>
      </p:sp>
      <p:graphicFrame>
        <p:nvGraphicFramePr>
          <p:cNvPr id="72" name="Google Shape;72;p11"/>
          <p:cNvGraphicFramePr/>
          <p:nvPr/>
        </p:nvGraphicFramePr>
        <p:xfrm>
          <a:off x="497000" y="1500000"/>
          <a:ext cx="8150000" cy="2840000"/>
        </p:xfrm>
        <a:graphic>
          <a:graphicData uri="http://schemas.openxmlformats.org/drawingml/2006/table">
            <a:tbl>
              <a:tblPr>
                <a:noFill/>
                <a:tableStyleId>{ADC876BD-21E3-499D-94FC-3D607E5DCE7B}</a:tableStyleId>
              </a:tblPr>
              <a:tblGrid>
                <a:gridCol w="2050000"/>
                <a:gridCol w="1400000"/>
                <a:gridCol w="1600000"/>
                <a:gridCol w="1500000"/>
                <a:gridCol w="1600000"/>
              </a:tblGrid>
              <a:tr h="280000">
                <a:tc>
                  <a:txBody>
                    <a:bodyPr/>
                    <a:lstStyle/>
                    <a:p>
                      <a:pPr indent="0" lvl="0" marL="0" rtl="0" algn="l">
                        <a:spcBef>
                          <a:spcPts val="0"/>
                        </a:spcBef>
                        <a:spcAft>
                          <a:spcPts val="0"/>
                        </a:spcAft>
                        <a:buNone/>
                      </a:pPr>
                      <a:r>
                        <a:rPr b="1" lang="en-US" sz="1000">
                          <a:latin typeface="Times New Roman"/>
                          <a:ea typeface="Times New Roman"/>
                          <a:cs typeface="Times New Roman"/>
                          <a:sym typeface="Times New Roman"/>
                        </a:rPr>
                        <a:t>Paper (venue, year)</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c>
                  <a:txBody>
                    <a:bodyPr/>
                    <a:lstStyle/>
                    <a:p>
                      <a:pPr indent="0" lvl="0" marL="0" rtl="0" algn="l">
                        <a:spcBef>
                          <a:spcPts val="0"/>
                        </a:spcBef>
                        <a:spcAft>
                          <a:spcPts val="0"/>
                        </a:spcAft>
                        <a:buNone/>
                      </a:pPr>
                      <a:r>
                        <a:rPr b="1" lang="en-US" sz="1000">
                          <a:latin typeface="Times New Roman"/>
                          <a:ea typeface="Times New Roman"/>
                          <a:cs typeface="Times New Roman"/>
                          <a:sym typeface="Times New Roman"/>
                        </a:rPr>
                        <a:t>Method</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c>
                  <a:txBody>
                    <a:bodyPr/>
                    <a:lstStyle/>
                    <a:p>
                      <a:pPr indent="0" lvl="0" marL="0" rtl="0" algn="l">
                        <a:spcBef>
                          <a:spcPts val="0"/>
                        </a:spcBef>
                        <a:spcAft>
                          <a:spcPts val="0"/>
                        </a:spcAft>
                        <a:buNone/>
                      </a:pPr>
                      <a:r>
                        <a:rPr b="1" lang="en-US" sz="1000">
                          <a:latin typeface="Times New Roman"/>
                          <a:ea typeface="Times New Roman"/>
                          <a:cs typeface="Times New Roman"/>
                          <a:sym typeface="Times New Roman"/>
                        </a:rPr>
                        <a:t>Parameters / thresholds</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c>
                  <a:txBody>
                    <a:bodyPr/>
                    <a:lstStyle/>
                    <a:p>
                      <a:pPr indent="0" lvl="0" marL="0" rtl="0" algn="l">
                        <a:spcBef>
                          <a:spcPts val="0"/>
                        </a:spcBef>
                        <a:spcAft>
                          <a:spcPts val="0"/>
                        </a:spcAft>
                        <a:buNone/>
                      </a:pPr>
                      <a:r>
                        <a:rPr b="1" lang="en-US" sz="1000">
                          <a:latin typeface="Times New Roman"/>
                          <a:ea typeface="Times New Roman"/>
                          <a:cs typeface="Times New Roman"/>
                          <a:sym typeface="Times New Roman"/>
                        </a:rPr>
                        <a:t>Limitation</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c>
                  <a:txBody>
                    <a:bodyPr/>
                    <a:lstStyle/>
                    <a:p>
                      <a:pPr indent="0" lvl="0" marL="0" rtl="0" algn="l">
                        <a:spcBef>
                          <a:spcPts val="0"/>
                        </a:spcBef>
                        <a:spcAft>
                          <a:spcPts val="0"/>
                        </a:spcAft>
                        <a:buNone/>
                      </a:pPr>
                      <a:r>
                        <a:rPr b="1" lang="en-US" sz="1000">
                          <a:latin typeface="Times New Roman"/>
                          <a:ea typeface="Times New Roman"/>
                          <a:cs typeface="Times New Roman"/>
                          <a:sym typeface="Times New Roman"/>
                        </a:rPr>
                        <a:t>Our improvement</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r>
              <a:tr h="640000">
                <a:tc>
                  <a:txBody>
                    <a:bodyPr/>
                    <a:lstStyle/>
                    <a:p>
                      <a:pPr indent="0" lvl="0" marL="0" rtl="0" algn="l">
                        <a:spcBef>
                          <a:spcPts val="0"/>
                        </a:spcBef>
                        <a:spcAft>
                          <a:spcPts val="0"/>
                        </a:spcAft>
                        <a:buNone/>
                      </a:pPr>
                      <a:r>
                        <a:rPr lang="en-US" sz="900">
                          <a:latin typeface="Times New Roman"/>
                          <a:ea typeface="Times New Roman"/>
                          <a:cs typeface="Times New Roman"/>
                          <a:sym typeface="Times New Roman"/>
                        </a:rPr>
                        <a:t>“Release Planning of Mobile Apps Based on User Reviews” (CLAP) [1], ICSE 2016</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c>
                  <a:txBody>
                    <a:bodyPr/>
                    <a:lstStyle/>
                    <a:p>
                      <a:pPr indent="0" lvl="0" marL="0" rtl="0" algn="l">
                        <a:spcBef>
                          <a:spcPts val="0"/>
                        </a:spcBef>
                        <a:spcAft>
                          <a:spcPts val="0"/>
                        </a:spcAft>
                        <a:buNone/>
                      </a:pPr>
                      <a:r>
                        <a:rPr lang="en-US" sz="900">
                          <a:latin typeface="Times New Roman"/>
                          <a:ea typeface="Times New Roman"/>
                          <a:cs typeface="Times New Roman"/>
                          <a:sym typeface="Times New Roman"/>
                        </a:rPr>
                        <a:t>Review features + DBSCAN clustering</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c>
                  <a:txBody>
                    <a:bodyPr/>
                    <a:lstStyle/>
                    <a:p>
                      <a:pPr indent="0" lvl="0" marL="0" rtl="0" algn="l">
                        <a:spcBef>
                          <a:spcPts val="0"/>
                        </a:spcBef>
                        <a:spcAft>
                          <a:spcPts val="0"/>
                        </a:spcAft>
                        <a:buNone/>
                      </a:pPr>
                      <a:r>
                        <a:rPr lang="en-US" sz="900">
                          <a:latin typeface="Times New Roman"/>
                          <a:ea typeface="Times New Roman"/>
                          <a:cs typeface="Times New Roman"/>
                          <a:sym typeface="Times New Roman"/>
                        </a:rPr>
                        <a:t>eps 0.6 published; 0.75 tuned on our data</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c>
                  <a:txBody>
                    <a:bodyPr/>
                    <a:lstStyle/>
                    <a:p>
                      <a:pPr indent="0" lvl="0" marL="0" rtl="0" algn="l">
                        <a:spcBef>
                          <a:spcPts val="0"/>
                        </a:spcBef>
                        <a:spcAft>
                          <a:spcPts val="0"/>
                        </a:spcAft>
                        <a:buNone/>
                      </a:pPr>
                      <a:r>
                        <a:rPr lang="en-US" sz="900">
                          <a:latin typeface="Times New Roman"/>
                          <a:ea typeface="Times New Roman"/>
                          <a:cs typeface="Times New Roman"/>
                          <a:sym typeface="Times New Roman"/>
                        </a:rPr>
                        <a:t>Batch only; groups by shared words (F1 0.24 on our data)</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c>
                  <a:txBody>
                    <a:bodyPr/>
                    <a:lstStyle/>
                    <a:p>
                      <a:pPr indent="0" lvl="0" marL="0" rtl="0" algn="l">
                        <a:spcBef>
                          <a:spcPts val="0"/>
                        </a:spcBef>
                        <a:spcAft>
                          <a:spcPts val="0"/>
                        </a:spcAft>
                        <a:buNone/>
                      </a:pPr>
                      <a:r>
                        <a:rPr lang="en-US" sz="900">
                          <a:latin typeface="Times New Roman"/>
                          <a:ea typeface="Times New Roman"/>
                          <a:cs typeface="Times New Roman"/>
                          <a:sym typeface="Times New Roman"/>
                        </a:rPr>
                        <a:t>Online cases; LLM judge separates look-alike problems</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r>
              <a:tr h="640000">
                <a:tc>
                  <a:txBody>
                    <a:bodyPr/>
                    <a:lstStyle/>
                    <a:p>
                      <a:pPr indent="0" lvl="0" marL="0" rtl="0" algn="l">
                        <a:spcBef>
                          <a:spcPts val="0"/>
                        </a:spcBef>
                        <a:spcAft>
                          <a:spcPts val="0"/>
                        </a:spcAft>
                        <a:buNone/>
                      </a:pPr>
                      <a:r>
                        <a:rPr lang="en-US" sz="900">
                          <a:latin typeface="Times New Roman"/>
                          <a:ea typeface="Times New Roman"/>
                          <a:cs typeface="Times New Roman"/>
                          <a:sym typeface="Times New Roman"/>
                        </a:rPr>
                        <a:t>“Towards More Accurate Retrieval of Duplicate Bug Reports” (REP) [2], ASE 2011</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c>
                  <a:txBody>
                    <a:bodyPr/>
                    <a:lstStyle/>
                    <a:p>
                      <a:pPr indent="0" lvl="0" marL="0" rtl="0" algn="l">
                        <a:spcBef>
                          <a:spcPts val="0"/>
                        </a:spcBef>
                        <a:spcAft>
                          <a:spcPts val="0"/>
                        </a:spcAft>
                        <a:buNone/>
                      </a:pPr>
                      <a:r>
                        <a:rPr lang="en-US" sz="900">
                          <a:latin typeface="Times New Roman"/>
                          <a:ea typeface="Times New Roman"/>
                          <a:cs typeface="Times New Roman"/>
                          <a:sym typeface="Times New Roman"/>
                        </a:rPr>
                        <a:t>BM25F keyword retrieval + metadata</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c>
                  <a:txBody>
                    <a:bodyPr/>
                    <a:lstStyle/>
                    <a:p>
                      <a:pPr indent="0" lvl="0" marL="0" rtl="0" algn="l">
                        <a:spcBef>
                          <a:spcPts val="0"/>
                        </a:spcBef>
                        <a:spcAft>
                          <a:spcPts val="0"/>
                        </a:spcAft>
                        <a:buNone/>
                      </a:pPr>
                      <a:r>
                        <a:rPr lang="en-US" sz="900">
                          <a:latin typeface="Times New Roman"/>
                          <a:ea typeface="Times New Roman"/>
                          <a:cs typeface="Times New Roman"/>
                          <a:sym typeface="Times New Roman"/>
                        </a:rPr>
                        <a:t>k1 = 1.2, b = 0.75; top-k candidates</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c>
                  <a:txBody>
                    <a:bodyPr/>
                    <a:lstStyle/>
                    <a:p>
                      <a:pPr indent="0" lvl="0" marL="0" rtl="0" algn="l">
                        <a:spcBef>
                          <a:spcPts val="0"/>
                        </a:spcBef>
                        <a:spcAft>
                          <a:spcPts val="0"/>
                        </a:spcAft>
                        <a:buNone/>
                      </a:pPr>
                      <a:r>
                        <a:rPr lang="en-US" sz="900">
                          <a:latin typeface="Times New Roman"/>
                          <a:ea typeface="Times New Roman"/>
                          <a:cs typeface="Times New Roman"/>
                          <a:sym typeface="Times New Roman"/>
                        </a:rPr>
                        <a:t>Misses paraphrases; top-5 hit 0.43–0.44 vs our 0.46–0.56</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c>
                  <a:txBody>
                    <a:bodyPr/>
                    <a:lstStyle/>
                    <a:p>
                      <a:pPr indent="0" lvl="0" marL="0" rtl="0" algn="l">
                        <a:spcBef>
                          <a:spcPts val="0"/>
                        </a:spcBef>
                        <a:spcAft>
                          <a:spcPts val="0"/>
                        </a:spcAft>
                        <a:buNone/>
                      </a:pPr>
                      <a:r>
                        <a:rPr lang="en-US" sz="900">
                          <a:latin typeface="Times New Roman"/>
                          <a:ea typeface="Times New Roman"/>
                          <a:cs typeface="Times New Roman"/>
                          <a:sym typeface="Times New Roman"/>
                        </a:rPr>
                        <a:t>Semantic retrieval + LLM verification</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r>
              <a:tr h="640000">
                <a:tc>
                  <a:txBody>
                    <a:bodyPr/>
                    <a:lstStyle/>
                    <a:p>
                      <a:pPr indent="0" lvl="0" marL="0" rtl="0" algn="l">
                        <a:spcBef>
                          <a:spcPts val="0"/>
                        </a:spcBef>
                        <a:spcAft>
                          <a:spcPts val="0"/>
                        </a:spcAft>
                        <a:buNone/>
                      </a:pPr>
                      <a:r>
                        <a:rPr lang="en-US" sz="900">
                          <a:latin typeface="Times New Roman"/>
                          <a:ea typeface="Times New Roman"/>
                          <a:cs typeface="Times New Roman"/>
                          <a:sym typeface="Times New Roman"/>
                        </a:rPr>
                        <a:t>“Sentence-BERT: Sentence Embeddings using Siamese BERT-Networks” [3], EMNLP 2019</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c>
                  <a:txBody>
                    <a:bodyPr/>
                    <a:lstStyle/>
                    <a:p>
                      <a:pPr indent="0" lvl="0" marL="0" rtl="0" algn="l">
                        <a:spcBef>
                          <a:spcPts val="0"/>
                        </a:spcBef>
                        <a:spcAft>
                          <a:spcPts val="0"/>
                        </a:spcAft>
                        <a:buNone/>
                      </a:pPr>
                      <a:r>
                        <a:rPr lang="en-US" sz="900">
                          <a:latin typeface="Times New Roman"/>
                          <a:ea typeface="Times New Roman"/>
                          <a:cs typeface="Times New Roman"/>
                          <a:sym typeface="Times New Roman"/>
                        </a:rPr>
                        <a:t>Bi-encoder cosine similarity</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c>
                  <a:txBody>
                    <a:bodyPr/>
                    <a:lstStyle/>
                    <a:p>
                      <a:pPr indent="0" lvl="0" marL="0" rtl="0" algn="l">
                        <a:spcBef>
                          <a:spcPts val="0"/>
                        </a:spcBef>
                        <a:spcAft>
                          <a:spcPts val="0"/>
                        </a:spcAft>
                        <a:buNone/>
                      </a:pPr>
                      <a:r>
                        <a:rPr lang="en-US" sz="900">
                          <a:latin typeface="Times New Roman"/>
                          <a:ea typeface="Times New Roman"/>
                          <a:cs typeface="Times New Roman"/>
                          <a:sym typeface="Times New Roman"/>
                        </a:rPr>
                        <a:t>One cosine threshold per task</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c>
                  <a:txBody>
                    <a:bodyPr/>
                    <a:lstStyle/>
                    <a:p>
                      <a:pPr indent="0" lvl="0" marL="0" rtl="0" algn="l">
                        <a:spcBef>
                          <a:spcPts val="0"/>
                        </a:spcBef>
                        <a:spcAft>
                          <a:spcPts val="0"/>
                        </a:spcAft>
                        <a:buNone/>
                      </a:pPr>
                      <a:r>
                        <a:rPr lang="en-US" sz="900">
                          <a:latin typeface="Times New Roman"/>
                          <a:ea typeface="Times New Roman"/>
                          <a:cs typeface="Times New Roman"/>
                          <a:sym typeface="Times New Roman"/>
                        </a:rPr>
                        <a:t>One cut cannot be safe and inclusive (F1 ≈ 0.10)</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c>
                  <a:txBody>
                    <a:bodyPr/>
                    <a:lstStyle/>
                    <a:p>
                      <a:pPr indent="0" lvl="0" marL="0" rtl="0" algn="l">
                        <a:spcBef>
                          <a:spcPts val="0"/>
                        </a:spcBef>
                        <a:spcAft>
                          <a:spcPts val="0"/>
                        </a:spcAft>
                        <a:buNone/>
                      </a:pPr>
                      <a:r>
                        <a:rPr lang="en-US" sz="900">
                          <a:latin typeface="Times New Roman"/>
                          <a:ea typeface="Times New Roman"/>
                          <a:cs typeface="Times New Roman"/>
                          <a:sym typeface="Times New Roman"/>
                        </a:rPr>
                        <a:t>Two calibrated cuts: t_low 0.26 / 0.40 and t_high 0.8306</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r>
              <a:tr h="640000">
                <a:tc>
                  <a:txBody>
                    <a:bodyPr/>
                    <a:lstStyle/>
                    <a:p>
                      <a:pPr indent="0" lvl="0" marL="0" rtl="0" algn="l">
                        <a:spcBef>
                          <a:spcPts val="0"/>
                        </a:spcBef>
                        <a:spcAft>
                          <a:spcPts val="0"/>
                        </a:spcAft>
                        <a:buNone/>
                      </a:pPr>
                      <a:r>
                        <a:rPr lang="en-US" sz="900">
                          <a:latin typeface="Times New Roman"/>
                          <a:ea typeface="Times New Roman"/>
                          <a:cs typeface="Times New Roman"/>
                          <a:sym typeface="Times New Roman"/>
                        </a:rPr>
                        <a:t>“BERTopic: Neural Topic Modeling with a Class-Based TF-IDF Procedure” [4], 2022</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c>
                  <a:txBody>
                    <a:bodyPr/>
                    <a:lstStyle/>
                    <a:p>
                      <a:pPr indent="0" lvl="0" marL="0" rtl="0" algn="l">
                        <a:spcBef>
                          <a:spcPts val="0"/>
                        </a:spcBef>
                        <a:spcAft>
                          <a:spcPts val="0"/>
                        </a:spcAft>
                        <a:buNone/>
                      </a:pPr>
                      <a:r>
                        <a:rPr lang="en-US" sz="900">
                          <a:latin typeface="Times New Roman"/>
                          <a:ea typeface="Times New Roman"/>
                          <a:cs typeface="Times New Roman"/>
                          <a:sym typeface="Times New Roman"/>
                        </a:rPr>
                        <a:t>Embeddings + UMAP + HDBSCAN topics</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c>
                  <a:txBody>
                    <a:bodyPr/>
                    <a:lstStyle/>
                    <a:p>
                      <a:pPr indent="0" lvl="0" marL="0" rtl="0" algn="l">
                        <a:spcBef>
                          <a:spcPts val="0"/>
                        </a:spcBef>
                        <a:spcAft>
                          <a:spcPts val="0"/>
                        </a:spcAft>
                        <a:buNone/>
                      </a:pPr>
                      <a:r>
                        <a:rPr lang="en-US" sz="900">
                          <a:latin typeface="Times New Roman"/>
                          <a:ea typeface="Times New Roman"/>
                          <a:cs typeface="Times New Roman"/>
                          <a:sym typeface="Times New Roman"/>
                        </a:rPr>
                        <a:t>Library defaults (minimum topic size)</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c>
                  <a:txBody>
                    <a:bodyPr/>
                    <a:lstStyle/>
                    <a:p>
                      <a:pPr indent="0" lvl="0" marL="0" rtl="0" algn="l">
                        <a:spcBef>
                          <a:spcPts val="0"/>
                        </a:spcBef>
                        <a:spcAft>
                          <a:spcPts val="0"/>
                        </a:spcAft>
                        <a:buNone/>
                      </a:pPr>
                      <a:r>
                        <a:rPr lang="en-US" sz="900">
                          <a:latin typeface="Times New Roman"/>
                          <a:ea typeface="Times New Roman"/>
                          <a:cs typeface="Times New Roman"/>
                          <a:sym typeface="Times New Roman"/>
                        </a:rPr>
                        <a:t>Topics are themes, not problems (precision 0.16)</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c>
                  <a:txBody>
                    <a:bodyPr/>
                    <a:lstStyle/>
                    <a:p>
                      <a:pPr indent="0" lvl="0" marL="0" rtl="0" algn="l">
                        <a:spcBef>
                          <a:spcPts val="0"/>
                        </a:spcBef>
                        <a:spcAft>
                          <a:spcPts val="0"/>
                        </a:spcAft>
                        <a:buNone/>
                      </a:pPr>
                      <a:r>
                        <a:rPr lang="en-US" sz="900">
                          <a:latin typeface="Times New Roman"/>
                          <a:ea typeface="Times New Roman"/>
                          <a:cs typeface="Times New Roman"/>
                          <a:sym typeface="Times New Roman"/>
                        </a:rPr>
                        <a:t>Problem-level cases; topics only for routing</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r>
            </a:tbl>
          </a:graphicData>
        </a:graphic>
      </p:graphicFrame>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79" name="Shape 79"/>
        <p:cNvGrpSpPr/>
        <p:nvPr/>
      </p:nvGrpSpPr>
      <p:grpSpPr>
        <a:xfrm>
          <a:off x="0" y="0"/>
          <a:ext cx="0" cy="0"/>
          <a:chOff x="0" y="0"/>
          <a:chExt cx="0" cy="0"/>
        </a:xfrm>
      </p:grpSpPr>
      <p:sp>
        <p:nvSpPr>
          <p:cNvPr id="80" name="Google Shape;80;p12"/>
          <p:cNvSpPr/>
          <p:nvPr/>
        </p:nvSpPr>
        <p:spPr>
          <a:xfrm>
            <a:off x="8910006" y="1217600"/>
            <a:ext cx="230400" cy="3941400"/>
          </a:xfrm>
          <a:prstGeom prst="rect">
            <a:avLst/>
          </a:prstGeom>
          <a:solidFill>
            <a:srgbClr val="C00000"/>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2493"/>
              <a:buFont typeface="Arial"/>
              <a:buNone/>
            </a:pPr>
            <a:r>
              <a:t/>
            </a:r>
            <a:endParaRPr b="0" i="0" sz="2495" u="none" cap="none" strike="noStrike">
              <a:solidFill>
                <a:schemeClr val="lt1"/>
              </a:solidFill>
              <a:latin typeface="Arial"/>
              <a:ea typeface="Arial"/>
              <a:cs typeface="Arial"/>
              <a:sym typeface="Arial"/>
            </a:endParaRPr>
          </a:p>
        </p:txBody>
      </p:sp>
      <p:sp>
        <p:nvSpPr>
          <p:cNvPr id="81" name="Google Shape;81;p12"/>
          <p:cNvSpPr/>
          <p:nvPr/>
        </p:nvSpPr>
        <p:spPr>
          <a:xfrm>
            <a:off x="2105025" y="4836100"/>
            <a:ext cx="6807300" cy="322800"/>
          </a:xfrm>
          <a:prstGeom prst="rect">
            <a:avLst/>
          </a:prstGeom>
          <a:solidFill>
            <a:srgbClr val="C00000"/>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2493"/>
              <a:buFont typeface="Arial"/>
              <a:buNone/>
            </a:pPr>
            <a:r>
              <a:t/>
            </a:r>
            <a:endParaRPr b="0" i="0" sz="2495" u="none" cap="none" strike="noStrike">
              <a:solidFill>
                <a:schemeClr val="lt1"/>
              </a:solidFill>
              <a:latin typeface="Arial"/>
              <a:ea typeface="Arial"/>
              <a:cs typeface="Arial"/>
              <a:sym typeface="Arial"/>
            </a:endParaRPr>
          </a:p>
        </p:txBody>
      </p:sp>
      <p:pic>
        <p:nvPicPr>
          <p:cNvPr id="82" name="Google Shape;82;p12"/>
          <p:cNvPicPr preferRelativeResize="0"/>
          <p:nvPr/>
        </p:nvPicPr>
        <p:blipFill rotWithShape="1">
          <a:blip r:embed="rId3">
            <a:alphaModFix/>
          </a:blip>
          <a:srcRect b="0" l="0" r="0" t="0"/>
          <a:stretch/>
        </p:blipFill>
        <p:spPr>
          <a:xfrm>
            <a:off x="0" y="0"/>
            <a:ext cx="9143999" cy="1332186"/>
          </a:xfrm>
          <a:prstGeom prst="rect">
            <a:avLst/>
          </a:prstGeom>
          <a:noFill/>
          <a:ln>
            <a:noFill/>
          </a:ln>
        </p:spPr>
      </p:pic>
      <p:sp>
        <p:nvSpPr>
          <p:cNvPr id="83" name="Google Shape;83;p12"/>
          <p:cNvSpPr txBox="1"/>
          <p:nvPr/>
        </p:nvSpPr>
        <p:spPr>
          <a:xfrm>
            <a:off x="570230" y="1216657"/>
            <a:ext cx="8339400" cy="3476100"/>
          </a:xfrm>
          <a:prstGeom prst="rect">
            <a:avLst/>
          </a:prstGeom>
          <a:solidFill>
            <a:srgbClr val="000000">
              <a:alpha val="0"/>
            </a:srgbClr>
          </a:solidFill>
          <a:ln>
            <a:noFill/>
          </a:ln>
        </p:spPr>
        <p:txBody>
          <a:bodyPr anchorCtr="0" anchor="t" bIns="91400" lIns="91400" spcFirstLastPara="1" rIns="91400" wrap="square" tIns="91400">
            <a:normAutofit/>
          </a:bodyPr>
          <a:lstStyle/>
          <a:p>
            <a:pPr indent="0" lvl="0" marL="0" rtl="0" algn="ctr">
              <a:spcBef>
                <a:spcPts val="0"/>
              </a:spcBef>
              <a:spcAft>
                <a:spcPts val="0"/>
              </a:spcAft>
              <a:buNone/>
            </a:pPr>
            <a:r>
              <a:rPr b="1" i="0" lang="en-US" sz="1800">
                <a:solidFill>
                  <a:srgbClr val="000000"/>
                </a:solidFill>
                <a:latin typeface="Times New Roman"/>
                <a:ea typeface="Times New Roman"/>
                <a:cs typeface="Times New Roman"/>
                <a:sym typeface="Times New Roman"/>
              </a:rPr>
              <a:t>OBJECTIVE</a:t>
            </a:r>
            <a:endParaRPr b="1" i="0" sz="1800">
              <a:solidFill>
                <a:srgbClr val="000000"/>
              </a:solidFill>
              <a:latin typeface="Times New Roman"/>
              <a:ea typeface="Times New Roman"/>
              <a:cs typeface="Times New Roman"/>
              <a:sym typeface="Times New Roman"/>
            </a:endParaRPr>
          </a:p>
          <a:p>
            <a:pPr indent="0" lvl="0" marL="0" rtl="0" algn="ctr">
              <a:spcBef>
                <a:spcPts val="0"/>
              </a:spcBef>
              <a:spcAft>
                <a:spcPts val="0"/>
              </a:spcAft>
              <a:buNone/>
            </a:pPr>
            <a:r>
              <a:rPr b="1" i="0" lang="en-US">
                <a:solidFill>
                  <a:srgbClr val="000000"/>
                </a:solidFill>
                <a:latin typeface="Times New Roman"/>
                <a:ea typeface="Times New Roman"/>
                <a:cs typeface="Times New Roman"/>
                <a:sym typeface="Times New Roman"/>
              </a:rPr>
              <a:t> </a:t>
            </a:r>
            <a:endParaRPr b="1" i="0">
              <a:solidFill>
                <a:srgbClr val="000000"/>
              </a:solidFill>
              <a:latin typeface="Times New Roman"/>
              <a:ea typeface="Times New Roman"/>
              <a:cs typeface="Times New Roman"/>
              <a:sym typeface="Times New Roman"/>
            </a:endParaRPr>
          </a:p>
          <a:p>
            <a:pPr indent="-317500" lvl="0" marL="457200" rtl="0" algn="l">
              <a:spcBef>
                <a:spcPts val="0"/>
              </a:spcBef>
              <a:spcAft>
                <a:spcPts val="0"/>
              </a:spcAft>
              <a:buClr>
                <a:srgbClr val="000000"/>
              </a:buClr>
              <a:buSzPts val="1400"/>
              <a:buFont typeface="Times New Roman"/>
              <a:buChar char="●"/>
            </a:pPr>
            <a:r>
              <a:rPr lang="en-US">
                <a:solidFill>
                  <a:schemeClr val="dk1"/>
                </a:solidFill>
                <a:latin typeface="Times New Roman"/>
                <a:ea typeface="Times New Roman"/>
                <a:cs typeface="Times New Roman"/>
                <a:sym typeface="Times New Roman"/>
              </a:rPr>
              <a:t>Group duplicate complaints into problem-level cases as they arrive, using similarity retrieval and an LLM judge for uncertain matches.</a:t>
            </a:r>
            <a:endParaRPr>
              <a:solidFill>
                <a:schemeClr val="dk1"/>
              </a:solidFill>
              <a:latin typeface="Times New Roman"/>
              <a:ea typeface="Times New Roman"/>
              <a:cs typeface="Times New Roman"/>
              <a:sym typeface="Times New Roman"/>
            </a:endParaRPr>
          </a:p>
          <a:p>
            <a:pPr indent="-317500" lvl="0" marL="457200" rtl="0" algn="l">
              <a:spcBef>
                <a:spcPts val="1600"/>
              </a:spcBef>
              <a:spcAft>
                <a:spcPts val="0"/>
              </a:spcAft>
              <a:buClr>
                <a:srgbClr val="000000"/>
              </a:buClr>
              <a:buSzPts val="1400"/>
              <a:buFont typeface="Times New Roman"/>
              <a:buChar char="●"/>
            </a:pPr>
            <a:r>
              <a:rPr lang="en-US">
                <a:solidFill>
                  <a:schemeClr val="dk1"/>
                </a:solidFill>
                <a:latin typeface="Times New Roman"/>
                <a:ea typeface="Times New Roman"/>
                <a:cs typeface="Times New Roman"/>
                <a:sym typeface="Times New Roman"/>
              </a:rPr>
              <a:t>Measure customer sentiment using the RoBERTa model.</a:t>
            </a:r>
            <a:endParaRPr>
              <a:solidFill>
                <a:schemeClr val="dk1"/>
              </a:solidFill>
              <a:latin typeface="Times New Roman"/>
              <a:ea typeface="Times New Roman"/>
              <a:cs typeface="Times New Roman"/>
              <a:sym typeface="Times New Roman"/>
            </a:endParaRPr>
          </a:p>
          <a:p>
            <a:pPr indent="-317500" lvl="0" marL="457200" rtl="0" algn="l">
              <a:spcBef>
                <a:spcPts val="1600"/>
              </a:spcBef>
              <a:spcAft>
                <a:spcPts val="0"/>
              </a:spcAft>
              <a:buClr>
                <a:srgbClr val="000000"/>
              </a:buClr>
              <a:buSzPts val="1400"/>
              <a:buFont typeface="Times New Roman"/>
              <a:buChar char="●"/>
            </a:pPr>
            <a:r>
              <a:rPr lang="en-US">
                <a:solidFill>
                  <a:schemeClr val="dk1"/>
                </a:solidFill>
                <a:latin typeface="Times New Roman"/>
                <a:ea typeface="Times New Roman"/>
                <a:cs typeface="Times New Roman"/>
                <a:sym typeface="Times New Roman"/>
              </a:rPr>
              <a:t>Find complaint topics automatically with BERTopic and route each to the responsible department.</a:t>
            </a:r>
            <a:endParaRPr>
              <a:solidFill>
                <a:schemeClr val="dk1"/>
              </a:solidFill>
              <a:latin typeface="Times New Roman"/>
              <a:ea typeface="Times New Roman"/>
              <a:cs typeface="Times New Roman"/>
              <a:sym typeface="Times New Roman"/>
            </a:endParaRPr>
          </a:p>
          <a:p>
            <a:pPr indent="-317500" lvl="0" marL="457200" rtl="0" algn="l">
              <a:spcBef>
                <a:spcPts val="1600"/>
              </a:spcBef>
              <a:spcAft>
                <a:spcPts val="0"/>
              </a:spcAft>
              <a:buClr>
                <a:srgbClr val="000000"/>
              </a:buClr>
              <a:buSzPts val="1400"/>
              <a:buFont typeface="Times New Roman"/>
              <a:buChar char="●"/>
            </a:pPr>
            <a:r>
              <a:rPr lang="en-US">
                <a:solidFill>
                  <a:schemeClr val="dk1"/>
                </a:solidFill>
                <a:latin typeface="Times New Roman"/>
                <a:ea typeface="Times New Roman"/>
                <a:cs typeface="Times New Roman"/>
                <a:sym typeface="Times New Roman"/>
              </a:rPr>
              <a:t>Detect sudden spikes with a Poisson CUSUM and raise an alarm on surges of vague complaints.</a:t>
            </a:r>
            <a:endParaRPr>
              <a:solidFill>
                <a:schemeClr val="dk1"/>
              </a:solidFill>
              <a:latin typeface="Times New Roman"/>
              <a:ea typeface="Times New Roman"/>
              <a:cs typeface="Times New Roman"/>
              <a:sym typeface="Times New Roman"/>
            </a:endParaRPr>
          </a:p>
          <a:p>
            <a:pPr indent="-317500" lvl="0" marL="457200" rtl="0" algn="l">
              <a:spcBef>
                <a:spcPts val="1600"/>
              </a:spcBef>
              <a:spcAft>
                <a:spcPts val="0"/>
              </a:spcAft>
              <a:buClr>
                <a:srgbClr val="000000"/>
              </a:buClr>
              <a:buSzPts val="1400"/>
              <a:buFont typeface="Times New Roman"/>
              <a:buChar char="●"/>
            </a:pPr>
            <a:r>
              <a:rPr lang="en-US">
                <a:solidFill>
                  <a:schemeClr val="dk1"/>
                </a:solidFill>
                <a:latin typeface="Times New Roman"/>
                <a:ea typeface="Times New Roman"/>
                <a:cs typeface="Times New Roman"/>
                <a:sym typeface="Times New Roman"/>
              </a:rPr>
              <a:t>Explain the root cause with an LLM, with a human approving every escalation.</a:t>
            </a:r>
            <a:endParaRPr>
              <a:solidFill>
                <a:schemeClr val="dk1"/>
              </a:solidFill>
              <a:latin typeface="Times New Roman"/>
              <a:ea typeface="Times New Roman"/>
              <a:cs typeface="Times New Roman"/>
              <a:sym typeface="Times New Roman"/>
            </a:endParaRPr>
          </a:p>
          <a:p>
            <a:pPr indent="0" lvl="0" marL="457200" rtl="0" algn="l">
              <a:spcBef>
                <a:spcPts val="1600"/>
              </a:spcBef>
              <a:spcAft>
                <a:spcPts val="1600"/>
              </a:spcAft>
              <a:buNone/>
            </a:pPr>
            <a:r>
              <a:t/>
            </a:r>
            <a:endParaRPr sz="1600">
              <a:latin typeface="Times New Roman"/>
              <a:ea typeface="Times New Roman"/>
              <a:cs typeface="Times New Roman"/>
              <a:sym typeface="Times New Roman"/>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7" name="Shape 87"/>
        <p:cNvGrpSpPr/>
        <p:nvPr/>
      </p:nvGrpSpPr>
      <p:grpSpPr>
        <a:xfrm>
          <a:off x="0" y="0"/>
          <a:ext cx="0" cy="0"/>
          <a:chOff x="0" y="0"/>
          <a:chExt cx="0" cy="0"/>
        </a:xfrm>
      </p:grpSpPr>
      <p:sp>
        <p:nvSpPr>
          <p:cNvPr id="88" name="Google Shape;88;p13"/>
          <p:cNvSpPr txBox="1"/>
          <p:nvPr/>
        </p:nvSpPr>
        <p:spPr>
          <a:xfrm>
            <a:off x="257175" y="4836100"/>
            <a:ext cx="1343100" cy="2769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1200"/>
              <a:buFont typeface="Arial"/>
              <a:buNone/>
            </a:pPr>
            <a:r>
              <a:rPr b="0" i="0" lang="en-US" sz="1200" u="none" cap="none" strike="noStrike">
                <a:solidFill>
                  <a:schemeClr val="lt1"/>
                </a:solidFill>
                <a:latin typeface="Times New Roman"/>
                <a:ea typeface="Times New Roman"/>
                <a:cs typeface="Times New Roman"/>
                <a:sym typeface="Times New Roman"/>
              </a:rPr>
              <a:t>26/6/2023</a:t>
            </a:r>
            <a:endParaRPr b="0" i="0" sz="1200" u="none" cap="none" strike="noStrike">
              <a:solidFill>
                <a:schemeClr val="lt1"/>
              </a:solidFill>
              <a:latin typeface="Times New Roman"/>
              <a:ea typeface="Times New Roman"/>
              <a:cs typeface="Times New Roman"/>
              <a:sym typeface="Times New Roman"/>
            </a:endParaRPr>
          </a:p>
        </p:txBody>
      </p:sp>
      <p:sp>
        <p:nvSpPr>
          <p:cNvPr id="89" name="Google Shape;89;p13"/>
          <p:cNvSpPr/>
          <p:nvPr/>
        </p:nvSpPr>
        <p:spPr>
          <a:xfrm>
            <a:off x="6309074" y="4882011"/>
            <a:ext cx="2118600" cy="108900"/>
          </a:xfrm>
          <a:prstGeom prst="rect">
            <a:avLst/>
          </a:prstGeom>
          <a:solidFill>
            <a:srgbClr val="C00000"/>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2493"/>
              <a:buFont typeface="Arial"/>
              <a:buNone/>
            </a:pPr>
            <a:r>
              <a:t/>
            </a:r>
            <a:endParaRPr b="0" i="0" sz="2495" u="none" cap="none" strike="noStrike">
              <a:solidFill>
                <a:schemeClr val="lt1"/>
              </a:solidFill>
              <a:latin typeface="Arial"/>
              <a:ea typeface="Arial"/>
              <a:cs typeface="Arial"/>
              <a:sym typeface="Arial"/>
            </a:endParaRPr>
          </a:p>
        </p:txBody>
      </p:sp>
      <p:pic>
        <p:nvPicPr>
          <p:cNvPr id="90" name="Google Shape;90;p13"/>
          <p:cNvPicPr preferRelativeResize="0"/>
          <p:nvPr/>
        </p:nvPicPr>
        <p:blipFill rotWithShape="1">
          <a:blip r:embed="rId3">
            <a:alphaModFix/>
          </a:blip>
          <a:srcRect b="0" l="0" r="0" t="0"/>
          <a:stretch/>
        </p:blipFill>
        <p:spPr>
          <a:xfrm>
            <a:off x="0" y="0"/>
            <a:ext cx="9143999" cy="1332186"/>
          </a:xfrm>
          <a:prstGeom prst="rect">
            <a:avLst/>
          </a:prstGeom>
          <a:noFill/>
          <a:ln>
            <a:noFill/>
          </a:ln>
        </p:spPr>
      </p:pic>
      <p:sp>
        <p:nvSpPr>
          <p:cNvPr id="91" name="Google Shape;91;p13"/>
          <p:cNvSpPr/>
          <p:nvPr/>
        </p:nvSpPr>
        <p:spPr>
          <a:xfrm>
            <a:off x="2105025" y="4836100"/>
            <a:ext cx="6807300" cy="322800"/>
          </a:xfrm>
          <a:prstGeom prst="rect">
            <a:avLst/>
          </a:prstGeom>
          <a:solidFill>
            <a:srgbClr val="C00000"/>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2493"/>
              <a:buFont typeface="Arial"/>
              <a:buNone/>
            </a:pPr>
            <a:r>
              <a:t/>
            </a:r>
            <a:endParaRPr b="0" i="0" sz="2495" u="none" cap="none" strike="noStrike">
              <a:solidFill>
                <a:schemeClr val="lt1"/>
              </a:solidFill>
              <a:latin typeface="Arial"/>
              <a:ea typeface="Arial"/>
              <a:cs typeface="Arial"/>
              <a:sym typeface="Arial"/>
            </a:endParaRPr>
          </a:p>
        </p:txBody>
      </p:sp>
      <p:sp>
        <p:nvSpPr>
          <p:cNvPr id="92" name="Google Shape;92;p13"/>
          <p:cNvSpPr/>
          <p:nvPr/>
        </p:nvSpPr>
        <p:spPr>
          <a:xfrm>
            <a:off x="8909371" y="1288085"/>
            <a:ext cx="230400" cy="3941400"/>
          </a:xfrm>
          <a:prstGeom prst="rect">
            <a:avLst/>
          </a:prstGeom>
          <a:solidFill>
            <a:srgbClr val="C00000"/>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2493"/>
              <a:buFont typeface="Arial"/>
              <a:buNone/>
            </a:pPr>
            <a:r>
              <a:t/>
            </a:r>
            <a:endParaRPr b="0" i="0" sz="2495" u="none" cap="none" strike="noStrike">
              <a:solidFill>
                <a:schemeClr val="lt1"/>
              </a:solidFill>
              <a:latin typeface="Arial"/>
              <a:ea typeface="Arial"/>
              <a:cs typeface="Arial"/>
              <a:sym typeface="Arial"/>
            </a:endParaRPr>
          </a:p>
        </p:txBody>
      </p:sp>
      <p:sp>
        <p:nvSpPr>
          <p:cNvPr id="93" name="Google Shape;93;p13"/>
          <p:cNvSpPr/>
          <p:nvPr/>
        </p:nvSpPr>
        <p:spPr>
          <a:xfrm>
            <a:off x="1728300" y="1219200"/>
            <a:ext cx="5687400" cy="322800"/>
          </a:xfrm>
          <a:prstGeom prst="rect">
            <a:avLst/>
          </a:prstGeom>
          <a:noFill/>
          <a:ln>
            <a:noFill/>
          </a:ln>
        </p:spPr>
        <p:txBody>
          <a:bodyPr anchorCtr="0" anchor="t"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600"/>
              <a:buFont typeface="Arial"/>
              <a:buNone/>
            </a:pPr>
            <a:r>
              <a:rPr b="1" i="0" lang="en-US" sz="1600" u="none" cap="none" strike="noStrike">
                <a:solidFill>
                  <a:srgbClr val="000000"/>
                </a:solidFill>
                <a:latin typeface="Times New Roman"/>
                <a:ea typeface="Times New Roman"/>
                <a:cs typeface="Times New Roman"/>
                <a:sym typeface="Times New Roman"/>
              </a:rPr>
              <a:t>FLOW CHART </a:t>
            </a:r>
            <a:endParaRPr b="1" i="0" sz="1600" u="none" cap="none" strike="noStrike">
              <a:solidFill>
                <a:srgbClr val="000000"/>
              </a:solidFill>
              <a:latin typeface="Times New Roman"/>
              <a:ea typeface="Times New Roman"/>
              <a:cs typeface="Times New Roman"/>
              <a:sym typeface="Times New Roman"/>
            </a:endParaRPr>
          </a:p>
        </p:txBody>
      </p:sp>
      <p:pic>
        <p:nvPicPr>
          <p:cNvPr id="94" name="Google Shape;94;p13" title="InsightDesk_flowchart.png"/>
          <p:cNvPicPr preferRelativeResize="0"/>
          <p:nvPr/>
        </p:nvPicPr>
        <p:blipFill rotWithShape="1">
          <a:blip r:embed="rId4">
            <a:alphaModFix/>
          </a:blip>
          <a:srcRect b="9198" l="0" r="0" t="0"/>
          <a:stretch/>
        </p:blipFill>
        <p:spPr>
          <a:xfrm>
            <a:off x="560000" y="1560000"/>
            <a:ext cx="8020000" cy="3568422"/>
          </a:xfrm>
          <a:prstGeom prst="rect">
            <a:avLst/>
          </a:prstGeom>
          <a:noFill/>
          <a:ln>
            <a:noFill/>
          </a:ln>
        </p:spPr>
      </p:pic>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98" name="Shape 98"/>
        <p:cNvGrpSpPr/>
        <p:nvPr/>
      </p:nvGrpSpPr>
      <p:grpSpPr>
        <a:xfrm>
          <a:off x="0" y="0"/>
          <a:ext cx="0" cy="0"/>
          <a:chOff x="0" y="0"/>
          <a:chExt cx="0" cy="0"/>
        </a:xfrm>
      </p:grpSpPr>
      <p:sp>
        <p:nvSpPr>
          <p:cNvPr id="99" name="Google Shape;99;p14"/>
          <p:cNvSpPr txBox="1"/>
          <p:nvPr/>
        </p:nvSpPr>
        <p:spPr>
          <a:xfrm>
            <a:off x="257175" y="4836100"/>
            <a:ext cx="1343100" cy="2769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1200"/>
              <a:buFont typeface="Arial"/>
              <a:buNone/>
            </a:pPr>
            <a:r>
              <a:rPr b="0" i="0" lang="en-US" sz="1200" u="none" cap="none" strike="noStrike">
                <a:solidFill>
                  <a:schemeClr val="lt1"/>
                </a:solidFill>
                <a:latin typeface="Times New Roman"/>
                <a:ea typeface="Times New Roman"/>
                <a:cs typeface="Times New Roman"/>
                <a:sym typeface="Times New Roman"/>
              </a:rPr>
              <a:t>26/6/2023</a:t>
            </a:r>
            <a:endParaRPr b="0" i="0" sz="1200" u="none" cap="none" strike="noStrike">
              <a:solidFill>
                <a:schemeClr val="lt1"/>
              </a:solidFill>
              <a:latin typeface="Times New Roman"/>
              <a:ea typeface="Times New Roman"/>
              <a:cs typeface="Times New Roman"/>
              <a:sym typeface="Times New Roman"/>
            </a:endParaRPr>
          </a:p>
        </p:txBody>
      </p:sp>
      <p:sp>
        <p:nvSpPr>
          <p:cNvPr id="100" name="Google Shape;100;p14"/>
          <p:cNvSpPr/>
          <p:nvPr/>
        </p:nvSpPr>
        <p:spPr>
          <a:xfrm>
            <a:off x="6309074" y="4882011"/>
            <a:ext cx="2118600" cy="108900"/>
          </a:xfrm>
          <a:prstGeom prst="rect">
            <a:avLst/>
          </a:prstGeom>
          <a:solidFill>
            <a:srgbClr val="C00000"/>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2493"/>
              <a:buFont typeface="Arial"/>
              <a:buNone/>
            </a:pPr>
            <a:r>
              <a:t/>
            </a:r>
            <a:endParaRPr b="0" i="0" sz="2495" u="none" cap="none" strike="noStrike">
              <a:solidFill>
                <a:schemeClr val="lt1"/>
              </a:solidFill>
              <a:latin typeface="Arial"/>
              <a:ea typeface="Arial"/>
              <a:cs typeface="Arial"/>
              <a:sym typeface="Arial"/>
            </a:endParaRPr>
          </a:p>
        </p:txBody>
      </p:sp>
      <p:pic>
        <p:nvPicPr>
          <p:cNvPr id="101" name="Google Shape;101;p14"/>
          <p:cNvPicPr preferRelativeResize="0"/>
          <p:nvPr/>
        </p:nvPicPr>
        <p:blipFill rotWithShape="1">
          <a:blip r:embed="rId3">
            <a:alphaModFix/>
          </a:blip>
          <a:srcRect b="0" l="0" r="0" t="0"/>
          <a:stretch/>
        </p:blipFill>
        <p:spPr>
          <a:xfrm>
            <a:off x="0" y="0"/>
            <a:ext cx="9143999" cy="1332186"/>
          </a:xfrm>
          <a:prstGeom prst="rect">
            <a:avLst/>
          </a:prstGeom>
          <a:noFill/>
          <a:ln>
            <a:noFill/>
          </a:ln>
        </p:spPr>
      </p:pic>
      <p:sp>
        <p:nvSpPr>
          <p:cNvPr id="102" name="Google Shape;102;p14"/>
          <p:cNvSpPr txBox="1"/>
          <p:nvPr/>
        </p:nvSpPr>
        <p:spPr>
          <a:xfrm>
            <a:off x="850500" y="1271075"/>
            <a:ext cx="7443000" cy="461700"/>
          </a:xfrm>
          <a:prstGeom prst="rect">
            <a:avLst/>
          </a:prstGeom>
          <a:noFill/>
          <a:ln>
            <a:noFill/>
          </a:ln>
        </p:spPr>
        <p:txBody>
          <a:bodyPr anchorCtr="0" anchor="t" bIns="91425" lIns="91425" spcFirstLastPara="1" rIns="91425" wrap="square" tIns="91425">
            <a:spAutoFit/>
          </a:bodyPr>
          <a:lstStyle/>
          <a:p>
            <a:pPr indent="0" lvl="0" marL="0" marR="0" rtl="0" algn="ctr">
              <a:lnSpc>
                <a:spcPct val="100000"/>
              </a:lnSpc>
              <a:spcBef>
                <a:spcPts val="0"/>
              </a:spcBef>
              <a:spcAft>
                <a:spcPts val="0"/>
              </a:spcAft>
              <a:buClr>
                <a:srgbClr val="000000"/>
              </a:buClr>
              <a:buSzPts val="1600"/>
              <a:buFont typeface="Arial"/>
              <a:buNone/>
            </a:pPr>
            <a:r>
              <a:rPr b="1" lang="en-US" sz="1800">
                <a:latin typeface="Times New Roman"/>
                <a:ea typeface="Times New Roman"/>
                <a:cs typeface="Times New Roman"/>
                <a:sym typeface="Times New Roman"/>
              </a:rPr>
              <a:t>IMPLEMENTATION (1/2)</a:t>
            </a:r>
            <a:endParaRPr b="1" i="0" sz="1800" u="none" cap="none" strike="noStrike">
              <a:solidFill>
                <a:srgbClr val="000000"/>
              </a:solidFill>
              <a:latin typeface="Times New Roman"/>
              <a:ea typeface="Times New Roman"/>
              <a:cs typeface="Times New Roman"/>
              <a:sym typeface="Times New Roman"/>
            </a:endParaRPr>
          </a:p>
        </p:txBody>
      </p:sp>
      <p:sp>
        <p:nvSpPr>
          <p:cNvPr id="103" name="Google Shape;103;p14"/>
          <p:cNvSpPr/>
          <p:nvPr/>
        </p:nvSpPr>
        <p:spPr>
          <a:xfrm>
            <a:off x="2105025" y="4836100"/>
            <a:ext cx="6807300" cy="322800"/>
          </a:xfrm>
          <a:prstGeom prst="rect">
            <a:avLst/>
          </a:prstGeom>
          <a:solidFill>
            <a:srgbClr val="C00000"/>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2493"/>
              <a:buFont typeface="Arial"/>
              <a:buNone/>
            </a:pPr>
            <a:r>
              <a:t/>
            </a:r>
            <a:endParaRPr b="0" i="0" sz="2495" u="none" cap="none" strike="noStrike">
              <a:solidFill>
                <a:schemeClr val="lt1"/>
              </a:solidFill>
              <a:latin typeface="Arial"/>
              <a:ea typeface="Arial"/>
              <a:cs typeface="Arial"/>
              <a:sym typeface="Arial"/>
            </a:endParaRPr>
          </a:p>
        </p:txBody>
      </p:sp>
      <p:sp>
        <p:nvSpPr>
          <p:cNvPr id="104" name="Google Shape;104;p14"/>
          <p:cNvSpPr/>
          <p:nvPr/>
        </p:nvSpPr>
        <p:spPr>
          <a:xfrm>
            <a:off x="8910006" y="1217600"/>
            <a:ext cx="230400" cy="3941400"/>
          </a:xfrm>
          <a:prstGeom prst="rect">
            <a:avLst/>
          </a:prstGeom>
          <a:solidFill>
            <a:srgbClr val="C00000"/>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2493"/>
              <a:buFont typeface="Arial"/>
              <a:buNone/>
            </a:pPr>
            <a:r>
              <a:t/>
            </a:r>
            <a:endParaRPr b="0" i="0" sz="2495" u="none" cap="none" strike="noStrike">
              <a:solidFill>
                <a:schemeClr val="lt1"/>
              </a:solidFill>
              <a:latin typeface="Arial"/>
              <a:ea typeface="Arial"/>
              <a:cs typeface="Arial"/>
              <a:sym typeface="Arial"/>
            </a:endParaRPr>
          </a:p>
        </p:txBody>
      </p:sp>
      <p:sp>
        <p:nvSpPr>
          <p:cNvPr id="105" name="Google Shape;105;p14"/>
          <p:cNvSpPr txBox="1"/>
          <p:nvPr/>
        </p:nvSpPr>
        <p:spPr>
          <a:xfrm>
            <a:off x="660400" y="1568450"/>
            <a:ext cx="7408545" cy="2802255"/>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600"/>
              </a:spcAft>
              <a:buNone/>
            </a:pPr>
            <a:r>
              <a:rPr b="1" lang="en-US" sz="1250">
                <a:solidFill>
                  <a:schemeClr val="dk1"/>
                </a:solidFill>
                <a:latin typeface="Times New Roman"/>
                <a:ea typeface="Times New Roman"/>
                <a:cs typeface="Times New Roman"/>
                <a:sym typeface="Times New Roman"/>
              </a:rPr>
              <a:t xml:space="preserve">Running example: a customer writes “Can't log in since the update, the OTP never arrives”.</a:t>
            </a:r>
          </a:p>
          <a:p>
            <a:pPr indent="-285750" lvl="0" marL="342900" rtl="0" algn="l">
              <a:spcBef>
                <a:spcPts val="0"/>
              </a:spcBef>
              <a:spcAft>
                <a:spcPts val="500"/>
              </a:spcAft>
              <a:buClr>
                <a:schemeClr val="dk1"/>
              </a:buClr>
              <a:buSzPts val="1300"/>
              <a:buFont typeface="Times New Roman"/>
              <a:buChar char="●"/>
            </a:pPr>
            <a:r>
              <a:rPr b="1" lang="en-US" sz="1300">
                <a:solidFill>
                  <a:schemeClr val="dk1"/>
                </a:solidFill>
                <a:latin typeface="Times New Roman"/>
                <a:ea typeface="Times New Roman"/>
                <a:cs typeface="Times New Roman"/>
                <a:sym typeface="Times New Roman"/>
              </a:rPr>
              <a:t xml:space="preserve">Intake &amp; Cleaning:</a:t>
            </a:r>
            <a:r>
              <a:rPr lang="en-US" sz="1300">
                <a:solidFill>
                  <a:schemeClr val="dk1"/>
                </a:solidFill>
                <a:latin typeface="Times New Roman"/>
                <a:ea typeface="Times New Roman"/>
                <a:cs typeface="Times New Roman"/>
                <a:sym typeface="Times New Roman"/>
              </a:rPr>
              <a:t xml:space="preserve"> the signed-in customer submits through the React app; filler such as “Hi team, please help” is removed, while negations like “can't” are kept.</a:t>
            </a:r>
          </a:p>
          <a:p>
            <a:pPr indent="-285750" lvl="0" marL="342900" rtl="0" algn="l">
              <a:spcBef>
                <a:spcPts val="0"/>
              </a:spcBef>
              <a:spcAft>
                <a:spcPts val="500"/>
              </a:spcAft>
              <a:buClr>
                <a:schemeClr val="dk1"/>
              </a:buClr>
              <a:buSzPts val="1300"/>
              <a:buFont typeface="Times New Roman"/>
              <a:buChar char="●"/>
            </a:pPr>
            <a:r>
              <a:rPr b="1" lang="en-US" sz="1300">
                <a:solidFill>
                  <a:schemeClr val="dk1"/>
                </a:solidFill>
                <a:latin typeface="Times New Roman"/>
                <a:ea typeface="Times New Roman"/>
                <a:cs typeface="Times New Roman"/>
                <a:sym typeface="Times New Roman"/>
              </a:rPr>
              <a:t xml:space="preserve">Embedding &amp; Retrieval:</a:t>
            </a:r>
            <a:r>
              <a:rPr lang="en-US" sz="1300">
                <a:solidFill>
                  <a:schemeClr val="dk1"/>
                </a:solidFill>
                <a:latin typeface="Times New Roman"/>
                <a:ea typeface="Times New Roman"/>
                <a:cs typeface="Times New Roman"/>
                <a:sym typeface="Times New Roman"/>
              </a:rPr>
              <a:t xml:space="preserve"> MiniLM turns the text into a vector; Pinecone returns the 5 most similar cases of the same product, e.g. “OTP not received on login” (similarity 0.71).</a:t>
            </a:r>
          </a:p>
          <a:p>
            <a:pPr indent="-285750" lvl="0" marL="342900" rtl="0" algn="l">
              <a:spcBef>
                <a:spcPts val="0"/>
              </a:spcBef>
              <a:spcAft>
                <a:spcPts val="500"/>
              </a:spcAft>
              <a:buClr>
                <a:schemeClr val="dk1"/>
              </a:buClr>
              <a:buSzPts val="1300"/>
              <a:buFont typeface="Times New Roman"/>
              <a:buChar char="●"/>
            </a:pPr>
            <a:r>
              <a:rPr b="1" lang="en-US" sz="1300">
                <a:solidFill>
                  <a:schemeClr val="dk1"/>
                </a:solidFill>
                <a:latin typeface="Times New Roman"/>
                <a:ea typeface="Times New Roman"/>
                <a:cs typeface="Times New Roman"/>
                <a:sym typeface="Times New Roman"/>
              </a:rPr>
              <a:t xml:space="preserve">Decision Band:</a:t>
            </a:r>
            <a:r>
              <a:rPr lang="en-US" sz="1300">
                <a:solidFill>
                  <a:schemeClr val="dk1"/>
                </a:solidFill>
                <a:latin typeface="Times New Roman"/>
                <a:ea typeface="Times New Roman"/>
                <a:cs typeface="Times New Roman"/>
                <a:sym typeface="Times New Roman"/>
              </a:rPr>
              <a:t xml:space="preserve"> similarity ≥ 0.8306 joins automatically; below t_low (0.40 for app reviews and chat, 0.26 for tickets) opens a new case; our 0.71 falls in between, so the LLM judge decides.</a:t>
            </a:r>
          </a:p>
          <a:p>
            <a:pPr indent="-285750" lvl="0" marL="342900" rtl="0" algn="l">
              <a:spcBef>
                <a:spcPts val="0"/>
              </a:spcBef>
              <a:spcAft>
                <a:spcPts val="500"/>
              </a:spcAft>
              <a:buClr>
                <a:schemeClr val="dk1"/>
              </a:buClr>
              <a:buSzPts val="1300"/>
              <a:buFont typeface="Times New Roman"/>
              <a:buChar char="●"/>
            </a:pPr>
            <a:r>
              <a:rPr b="1" lang="en-US" sz="1300">
                <a:solidFill>
                  <a:schemeClr val="dk1"/>
                </a:solidFill>
                <a:latin typeface="Times New Roman"/>
                <a:ea typeface="Times New Roman"/>
                <a:cs typeface="Times New Roman"/>
                <a:sym typeface="Times New Roman"/>
              </a:rPr>
              <a:t xml:space="preserve">LLM Judge:</a:t>
            </a:r>
            <a:r>
              <a:rPr lang="en-US" sz="1300">
                <a:solidFill>
                  <a:schemeClr val="dk1"/>
                </a:solidFill>
                <a:latin typeface="Times New Roman"/>
                <a:ea typeface="Times New Roman"/>
                <a:cs typeface="Times New Roman"/>
                <a:sym typeface="Times New Roman"/>
              </a:rPr>
              <a:t xml:space="preserve"> gpt-oss-120b compares the symptom: “OTP never arrives” = same problem, so the complaint joins that case (count +1); “login is slow” would open a new case.</a:t>
            </a:r>
          </a:p>
          <a:p>
            <a:pPr indent="-285750" lvl="0" marL="342900" rtl="0" algn="l">
              <a:spcBef>
                <a:spcPts val="0"/>
              </a:spcBef>
              <a:spcAft>
                <a:spcPts val="500"/>
              </a:spcAft>
              <a:buClr>
                <a:schemeClr val="dk1"/>
              </a:buClr>
              <a:buSzPts val="1300"/>
              <a:buFont typeface="Times New Roman"/>
              <a:buChar char="●"/>
            </a:pPr>
            <a:r>
              <a:rPr b="1" lang="en-US" sz="1300">
                <a:solidFill>
                  <a:schemeClr val="dk1"/>
                </a:solidFill>
                <a:latin typeface="Times New Roman"/>
                <a:ea typeface="Times New Roman"/>
                <a:cs typeface="Times New Roman"/>
                <a:sym typeface="Times New Roman"/>
              </a:rPr>
              <a:t xml:space="preserve">Same-User Rule:</a:t>
            </a:r>
            <a:r>
              <a:rPr lang="en-US" sz="1300">
                <a:solidFill>
                  <a:schemeClr val="dk1"/>
                </a:solidFill>
                <a:latin typeface="Times New Roman"/>
                <a:ea typeface="Times New Roman"/>
                <a:cs typeface="Times New Roman"/>
                <a:sym typeface="Times New Roman"/>
              </a:rPr>
              <a:t xml:space="preserve"> if the same customer repeats this complaint within 24 hours, it is attached to the case but not counted again.</a:t>
            </a: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9" name="Shape 109"/>
        <p:cNvGrpSpPr/>
        <p:nvPr/>
      </p:nvGrpSpPr>
      <p:grpSpPr>
        <a:xfrm>
          <a:off x="0" y="0"/>
          <a:ext cx="0" cy="0"/>
          <a:chOff x="0" y="0"/>
          <a:chExt cx="0" cy="0"/>
        </a:xfrm>
      </p:grpSpPr>
      <p:sp>
        <p:nvSpPr>
          <p:cNvPr id="110" name="Google Shape;110;p15"/>
          <p:cNvSpPr txBox="1"/>
          <p:nvPr/>
        </p:nvSpPr>
        <p:spPr>
          <a:xfrm>
            <a:off x="257175" y="4836100"/>
            <a:ext cx="1343100" cy="2769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1200"/>
              <a:buFont typeface="Arial"/>
              <a:buNone/>
            </a:pPr>
            <a:r>
              <a:rPr b="0" i="0" lang="en-US" sz="1200" u="none" cap="none" strike="noStrike">
                <a:solidFill>
                  <a:schemeClr val="lt1"/>
                </a:solidFill>
                <a:latin typeface="Times New Roman"/>
                <a:ea typeface="Times New Roman"/>
                <a:cs typeface="Times New Roman"/>
                <a:sym typeface="Times New Roman"/>
              </a:rPr>
              <a:t>26/6/2023</a:t>
            </a:r>
            <a:endParaRPr b="0" i="0" sz="1200" u="none" cap="none" strike="noStrike">
              <a:solidFill>
                <a:schemeClr val="lt1"/>
              </a:solidFill>
              <a:latin typeface="Times New Roman"/>
              <a:ea typeface="Times New Roman"/>
              <a:cs typeface="Times New Roman"/>
              <a:sym typeface="Times New Roman"/>
            </a:endParaRPr>
          </a:p>
        </p:txBody>
      </p:sp>
      <p:sp>
        <p:nvSpPr>
          <p:cNvPr id="111" name="Google Shape;111;p15"/>
          <p:cNvSpPr/>
          <p:nvPr/>
        </p:nvSpPr>
        <p:spPr>
          <a:xfrm>
            <a:off x="6309074" y="4882011"/>
            <a:ext cx="2118600" cy="108900"/>
          </a:xfrm>
          <a:prstGeom prst="rect">
            <a:avLst/>
          </a:prstGeom>
          <a:solidFill>
            <a:srgbClr val="C00000"/>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2493"/>
              <a:buFont typeface="Arial"/>
              <a:buNone/>
            </a:pPr>
            <a:r>
              <a:t/>
            </a:r>
            <a:endParaRPr b="0" i="0" sz="2495" u="none" cap="none" strike="noStrike">
              <a:solidFill>
                <a:schemeClr val="lt1"/>
              </a:solidFill>
              <a:latin typeface="Arial"/>
              <a:ea typeface="Arial"/>
              <a:cs typeface="Arial"/>
              <a:sym typeface="Arial"/>
            </a:endParaRPr>
          </a:p>
        </p:txBody>
      </p:sp>
      <p:pic>
        <p:nvPicPr>
          <p:cNvPr id="112" name="Google Shape;112;p15"/>
          <p:cNvPicPr preferRelativeResize="0"/>
          <p:nvPr/>
        </p:nvPicPr>
        <p:blipFill rotWithShape="1">
          <a:blip r:embed="rId3">
            <a:alphaModFix/>
          </a:blip>
          <a:srcRect b="0" l="0" r="0" t="0"/>
          <a:stretch/>
        </p:blipFill>
        <p:spPr>
          <a:xfrm>
            <a:off x="0" y="0"/>
            <a:ext cx="9143999" cy="1332186"/>
          </a:xfrm>
          <a:prstGeom prst="rect">
            <a:avLst/>
          </a:prstGeom>
          <a:noFill/>
          <a:ln>
            <a:noFill/>
          </a:ln>
        </p:spPr>
      </p:pic>
      <p:sp>
        <p:nvSpPr>
          <p:cNvPr id="113" name="Google Shape;113;p15"/>
          <p:cNvSpPr txBox="1"/>
          <p:nvPr/>
        </p:nvSpPr>
        <p:spPr>
          <a:xfrm>
            <a:off x="850500" y="1271075"/>
            <a:ext cx="7443000" cy="461700"/>
          </a:xfrm>
          <a:prstGeom prst="rect">
            <a:avLst/>
          </a:prstGeom>
          <a:noFill/>
          <a:ln>
            <a:noFill/>
          </a:ln>
        </p:spPr>
        <p:txBody>
          <a:bodyPr anchorCtr="0" anchor="t" bIns="91425" lIns="91425" spcFirstLastPara="1" rIns="91425" wrap="square" tIns="91425">
            <a:spAutoFit/>
          </a:bodyPr>
          <a:lstStyle/>
          <a:p>
            <a:pPr indent="0" lvl="0" marL="0" marR="0" rtl="0" algn="ctr">
              <a:lnSpc>
                <a:spcPct val="100000"/>
              </a:lnSpc>
              <a:spcBef>
                <a:spcPts val="0"/>
              </a:spcBef>
              <a:spcAft>
                <a:spcPts val="0"/>
              </a:spcAft>
              <a:buClr>
                <a:srgbClr val="000000"/>
              </a:buClr>
              <a:buSzPts val="1600"/>
              <a:buFont typeface="Arial"/>
              <a:buNone/>
            </a:pPr>
            <a:r>
              <a:rPr b="1" lang="en-US" sz="1800">
                <a:latin typeface="Times New Roman"/>
                <a:ea typeface="Times New Roman"/>
                <a:cs typeface="Times New Roman"/>
                <a:sym typeface="Times New Roman"/>
              </a:rPr>
              <a:t>IMPLEMENTATION (2/2)</a:t>
            </a:r>
            <a:endParaRPr b="1" i="0" sz="1800" u="none" cap="none" strike="noStrike">
              <a:solidFill>
                <a:srgbClr val="000000"/>
              </a:solidFill>
              <a:latin typeface="Times New Roman"/>
              <a:ea typeface="Times New Roman"/>
              <a:cs typeface="Times New Roman"/>
              <a:sym typeface="Times New Roman"/>
            </a:endParaRPr>
          </a:p>
        </p:txBody>
      </p:sp>
      <p:sp>
        <p:nvSpPr>
          <p:cNvPr id="114" name="Google Shape;114;p15"/>
          <p:cNvSpPr/>
          <p:nvPr/>
        </p:nvSpPr>
        <p:spPr>
          <a:xfrm>
            <a:off x="2105025" y="4836100"/>
            <a:ext cx="6807300" cy="322800"/>
          </a:xfrm>
          <a:prstGeom prst="rect">
            <a:avLst/>
          </a:prstGeom>
          <a:solidFill>
            <a:srgbClr val="C00000"/>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2493"/>
              <a:buFont typeface="Arial"/>
              <a:buNone/>
            </a:pPr>
            <a:r>
              <a:t/>
            </a:r>
            <a:endParaRPr b="0" i="0" sz="2495" u="none" cap="none" strike="noStrike">
              <a:solidFill>
                <a:schemeClr val="lt1"/>
              </a:solidFill>
              <a:latin typeface="Arial"/>
              <a:ea typeface="Arial"/>
              <a:cs typeface="Arial"/>
              <a:sym typeface="Arial"/>
            </a:endParaRPr>
          </a:p>
        </p:txBody>
      </p:sp>
      <p:sp>
        <p:nvSpPr>
          <p:cNvPr id="115" name="Google Shape;115;p15"/>
          <p:cNvSpPr/>
          <p:nvPr/>
        </p:nvSpPr>
        <p:spPr>
          <a:xfrm>
            <a:off x="8910006" y="1217600"/>
            <a:ext cx="230400" cy="3941400"/>
          </a:xfrm>
          <a:prstGeom prst="rect">
            <a:avLst/>
          </a:prstGeom>
          <a:solidFill>
            <a:srgbClr val="C00000"/>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2493"/>
              <a:buFont typeface="Arial"/>
              <a:buNone/>
            </a:pPr>
            <a:r>
              <a:t/>
            </a:r>
            <a:endParaRPr b="0" i="0" sz="2495" u="none" cap="none" strike="noStrike">
              <a:solidFill>
                <a:schemeClr val="lt1"/>
              </a:solidFill>
              <a:latin typeface="Arial"/>
              <a:ea typeface="Arial"/>
              <a:cs typeface="Arial"/>
              <a:sym typeface="Arial"/>
            </a:endParaRPr>
          </a:p>
        </p:txBody>
      </p:sp>
      <p:sp>
        <p:nvSpPr>
          <p:cNvPr id="116" name="Google Shape;116;p15"/>
          <p:cNvSpPr txBox="1"/>
          <p:nvPr/>
        </p:nvSpPr>
        <p:spPr>
          <a:xfrm>
            <a:off x="713875" y="1579150"/>
            <a:ext cx="7408500" cy="2802300"/>
          </a:xfrm>
          <a:prstGeom prst="rect">
            <a:avLst/>
          </a:prstGeom>
          <a:noFill/>
          <a:ln>
            <a:noFill/>
          </a:ln>
        </p:spPr>
        <p:txBody>
          <a:bodyPr anchorCtr="0" anchor="t" bIns="91425" lIns="91425" spcFirstLastPara="1" rIns="91425" wrap="square" tIns="91425">
            <a:noAutofit/>
          </a:bodyPr>
          <a:lstStyle/>
          <a:p>
            <a:pPr indent="-285750" lvl="0" marL="342900" rtl="0" algn="l">
              <a:spcBef>
                <a:spcPts val="0"/>
              </a:spcBef>
              <a:spcAft>
                <a:spcPts val="500"/>
              </a:spcAft>
              <a:buClr>
                <a:schemeClr val="dk1"/>
              </a:buClr>
              <a:buSzPts val="1300"/>
              <a:buFont typeface="Times New Roman"/>
              <a:buChar char="●"/>
            </a:pPr>
            <a:r>
              <a:rPr b="1" lang="en-US" sz="1300">
                <a:solidFill>
                  <a:schemeClr val="dk1"/>
                </a:solidFill>
                <a:latin typeface="Times New Roman"/>
                <a:ea typeface="Times New Roman"/>
                <a:cs typeface="Times New Roman"/>
                <a:sym typeface="Times New Roman"/>
              </a:rPr>
              <a:t xml:space="preserve">Case Re-joining (every 6 h):</a:t>
            </a:r>
            <a:r>
              <a:rPr lang="en-US" sz="1300">
                <a:solidFill>
                  <a:schemeClr val="dk1"/>
                </a:solidFill>
                <a:latin typeface="Times New Roman"/>
                <a:ea typeface="Times New Roman"/>
                <a:cs typeface="Times New Roman"/>
                <a:sym typeface="Times New Roman"/>
              </a:rPr>
              <a:t xml:space="preserve"> the LLM merges cases that report one problem, e.g. “no dark mode” and “needs dark mode” become one case.</a:t>
            </a:r>
          </a:p>
          <a:p>
            <a:pPr indent="-285750" lvl="0" marL="342900" rtl="0" algn="l">
              <a:spcBef>
                <a:spcPts val="0"/>
              </a:spcBef>
              <a:spcAft>
                <a:spcPts val="500"/>
              </a:spcAft>
              <a:buClr>
                <a:schemeClr val="dk1"/>
              </a:buClr>
              <a:buSzPts val="1300"/>
              <a:buFont typeface="Times New Roman"/>
              <a:buChar char="●"/>
            </a:pPr>
            <a:r>
              <a:rPr b="1" lang="en-US" sz="1300">
                <a:solidFill>
                  <a:schemeClr val="dk1"/>
                </a:solidFill>
                <a:latin typeface="Times New Roman"/>
                <a:ea typeface="Times New Roman"/>
                <a:cs typeface="Times New Roman"/>
                <a:sym typeface="Times New Roman"/>
              </a:rPr>
              <a:t xml:space="preserve">Sentiment &amp; Topics:</a:t>
            </a:r>
            <a:r>
              <a:rPr lang="en-US" sz="1300">
                <a:solidFill>
                  <a:schemeClr val="dk1"/>
                </a:solidFill>
                <a:latin typeface="Times New Roman"/>
                <a:ea typeface="Times New Roman"/>
                <a:cs typeface="Times New Roman"/>
                <a:sym typeface="Times New Roman"/>
              </a:rPr>
              <a:t xml:space="preserve"> RoBERTa labels the case negative; BERTopic places it under an Authentication topic, which carries the responsible department.</a:t>
            </a:r>
          </a:p>
          <a:p>
            <a:pPr indent="-285750" lvl="0" marL="342900" rtl="0" algn="l">
              <a:spcBef>
                <a:spcPts val="0"/>
              </a:spcBef>
              <a:spcAft>
                <a:spcPts val="500"/>
              </a:spcAft>
              <a:buClr>
                <a:schemeClr val="dk1"/>
              </a:buClr>
              <a:buSzPts val="1300"/>
              <a:buFont typeface="Times New Roman"/>
              <a:buChar char="●"/>
            </a:pPr>
            <a:r>
              <a:rPr b="1" lang="en-US" sz="1300">
                <a:solidFill>
                  <a:schemeClr val="dk1"/>
                </a:solidFill>
                <a:latin typeface="Times New Roman"/>
                <a:ea typeface="Times New Roman"/>
                <a:cs typeface="Times New Roman"/>
                <a:sym typeface="Times New Roman"/>
              </a:rPr>
              <a:t xml:space="preserve">Spike Detection:</a:t>
            </a:r>
            <a:r>
              <a:rPr lang="en-US" sz="1300">
                <a:solidFill>
                  <a:schemeClr val="dk1"/>
                </a:solidFill>
                <a:latin typeface="Times New Roman"/>
                <a:ea typeface="Times New Roman"/>
                <a:cs typeface="Times New Roman"/>
                <a:sym typeface="Times New Roman"/>
              </a:rPr>
              <a:t xml:space="preserve"> a Poisson CUSUM watches each case and group of similar cases; 5 OTP complaints in 6 hours against a usual 0.1 raises a spike.</a:t>
            </a:r>
          </a:p>
          <a:p>
            <a:pPr indent="-285750" lvl="0" marL="342900" rtl="0" algn="l">
              <a:spcBef>
                <a:spcPts val="0"/>
              </a:spcBef>
              <a:spcAft>
                <a:spcPts val="500"/>
              </a:spcAft>
              <a:buClr>
                <a:schemeClr val="dk1"/>
              </a:buClr>
              <a:buSzPts val="1300"/>
              <a:buFont typeface="Times New Roman"/>
              <a:buChar char="●"/>
            </a:pPr>
            <a:r>
              <a:rPr b="1" lang="en-US" sz="1300">
                <a:solidFill>
                  <a:schemeClr val="dk1"/>
                </a:solidFill>
                <a:latin typeface="Times New Roman"/>
                <a:ea typeface="Times New Roman"/>
                <a:cs typeface="Times New Roman"/>
                <a:sym typeface="Times New Roman"/>
              </a:rPr>
              <a:t xml:space="preserve">Vague-Complaint Alarm:</a:t>
            </a:r>
            <a:r>
              <a:rPr lang="en-US" sz="1300">
                <a:solidFill>
                  <a:schemeClr val="dk1"/>
                </a:solidFill>
                <a:latin typeface="Times New Roman"/>
                <a:ea typeface="Times New Roman"/>
                <a:cs typeface="Times New Roman"/>
                <a:sym typeface="Times New Roman"/>
              </a:rPr>
              <a:t xml:space="preserve"> a surge of “app not working” complaints that fit no case still raises a product-level alarm.</a:t>
            </a:r>
          </a:p>
          <a:p>
            <a:pPr indent="-285750" lvl="0" marL="342900" rtl="0" algn="l">
              <a:spcBef>
                <a:spcPts val="0"/>
              </a:spcBef>
              <a:spcAft>
                <a:spcPts val="500"/>
              </a:spcAft>
              <a:buClr>
                <a:schemeClr val="dk1"/>
              </a:buClr>
              <a:buSzPts val="1300"/>
              <a:buFont typeface="Times New Roman"/>
              <a:buChar char="●"/>
            </a:pPr>
            <a:r>
              <a:rPr b="1" lang="en-US" sz="1300">
                <a:solidFill>
                  <a:schemeClr val="dk1"/>
                </a:solidFill>
                <a:latin typeface="Times New Roman"/>
                <a:ea typeface="Times New Roman"/>
                <a:cs typeface="Times New Roman"/>
                <a:sym typeface="Times New Roman"/>
              </a:rPr>
              <a:t xml:space="preserve">Root Cause &amp; Escalation:</a:t>
            </a:r>
            <a:r>
              <a:rPr lang="en-US" sz="1300">
                <a:solidFill>
                  <a:schemeClr val="dk1"/>
                </a:solidFill>
                <a:latin typeface="Times New Roman"/>
                <a:ea typeface="Times New Roman"/>
                <a:cs typeface="Times New Roman"/>
                <a:sym typeface="Times New Roman"/>
              </a:rPr>
              <a:t xml:space="preserve"> with 3+ reports or a spike the case is eligible; the LLM writes a grounded root cause (cause, severity, action, evidence) and an operator approves the email to the department.</a:t>
            </a: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0" name="Shape 120"/>
        <p:cNvGrpSpPr/>
        <p:nvPr/>
      </p:nvGrpSpPr>
      <p:grpSpPr>
        <a:xfrm>
          <a:off x="0" y="0"/>
          <a:ext cx="0" cy="0"/>
          <a:chOff x="0" y="0"/>
          <a:chExt cx="0" cy="0"/>
        </a:xfrm>
      </p:grpSpPr>
      <p:sp>
        <p:nvSpPr>
          <p:cNvPr id="121" name="Google Shape;121;p16"/>
          <p:cNvSpPr txBox="1"/>
          <p:nvPr/>
        </p:nvSpPr>
        <p:spPr>
          <a:xfrm>
            <a:off x="257175" y="4836100"/>
            <a:ext cx="1343100" cy="2769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1200"/>
              <a:buFont typeface="Arial"/>
              <a:buNone/>
            </a:pPr>
            <a:r>
              <a:rPr b="0" i="0" lang="en-US" sz="1200" u="none" cap="none" strike="noStrike">
                <a:solidFill>
                  <a:schemeClr val="lt1"/>
                </a:solidFill>
                <a:latin typeface="Times New Roman"/>
                <a:ea typeface="Times New Roman"/>
                <a:cs typeface="Times New Roman"/>
                <a:sym typeface="Times New Roman"/>
              </a:rPr>
              <a:t>26/6/2023</a:t>
            </a:r>
            <a:endParaRPr b="0" i="0" sz="1200" u="none" cap="none" strike="noStrike">
              <a:solidFill>
                <a:schemeClr val="lt1"/>
              </a:solidFill>
              <a:latin typeface="Times New Roman"/>
              <a:ea typeface="Times New Roman"/>
              <a:cs typeface="Times New Roman"/>
              <a:sym typeface="Times New Roman"/>
            </a:endParaRPr>
          </a:p>
        </p:txBody>
      </p:sp>
      <p:sp>
        <p:nvSpPr>
          <p:cNvPr id="122" name="Google Shape;122;p16"/>
          <p:cNvSpPr/>
          <p:nvPr/>
        </p:nvSpPr>
        <p:spPr>
          <a:xfrm>
            <a:off x="6309074" y="4882011"/>
            <a:ext cx="2118600" cy="108900"/>
          </a:xfrm>
          <a:prstGeom prst="rect">
            <a:avLst/>
          </a:prstGeom>
          <a:solidFill>
            <a:srgbClr val="C00000"/>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2493"/>
              <a:buFont typeface="Arial"/>
              <a:buNone/>
            </a:pPr>
            <a:r>
              <a:t/>
            </a:r>
            <a:endParaRPr b="0" i="0" sz="2495" u="none" cap="none" strike="noStrike">
              <a:solidFill>
                <a:schemeClr val="lt1"/>
              </a:solidFill>
              <a:latin typeface="Arial"/>
              <a:ea typeface="Arial"/>
              <a:cs typeface="Arial"/>
              <a:sym typeface="Arial"/>
            </a:endParaRPr>
          </a:p>
        </p:txBody>
      </p:sp>
      <p:pic>
        <p:nvPicPr>
          <p:cNvPr id="123" name="Google Shape;123;p16"/>
          <p:cNvPicPr preferRelativeResize="0"/>
          <p:nvPr/>
        </p:nvPicPr>
        <p:blipFill rotWithShape="1">
          <a:blip r:embed="rId3">
            <a:alphaModFix/>
          </a:blip>
          <a:srcRect b="0" l="0" r="0" t="0"/>
          <a:stretch/>
        </p:blipFill>
        <p:spPr>
          <a:xfrm>
            <a:off x="0" y="0"/>
            <a:ext cx="9143999" cy="1332186"/>
          </a:xfrm>
          <a:prstGeom prst="rect">
            <a:avLst/>
          </a:prstGeom>
          <a:noFill/>
          <a:ln>
            <a:noFill/>
          </a:ln>
        </p:spPr>
      </p:pic>
      <p:sp>
        <p:nvSpPr>
          <p:cNvPr id="124" name="Google Shape;124;p16"/>
          <p:cNvSpPr/>
          <p:nvPr/>
        </p:nvSpPr>
        <p:spPr>
          <a:xfrm>
            <a:off x="2105025" y="4836100"/>
            <a:ext cx="6807300" cy="322800"/>
          </a:xfrm>
          <a:prstGeom prst="rect">
            <a:avLst/>
          </a:prstGeom>
          <a:solidFill>
            <a:srgbClr val="C00000"/>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2493"/>
              <a:buFont typeface="Arial"/>
              <a:buNone/>
            </a:pPr>
            <a:r>
              <a:t/>
            </a:r>
            <a:endParaRPr b="0" i="0" sz="2495" u="none" cap="none" strike="noStrike">
              <a:solidFill>
                <a:schemeClr val="lt1"/>
              </a:solidFill>
              <a:latin typeface="Arial"/>
              <a:ea typeface="Arial"/>
              <a:cs typeface="Arial"/>
              <a:sym typeface="Arial"/>
            </a:endParaRPr>
          </a:p>
        </p:txBody>
      </p:sp>
      <p:sp>
        <p:nvSpPr>
          <p:cNvPr id="125" name="Google Shape;125;p16"/>
          <p:cNvSpPr/>
          <p:nvPr/>
        </p:nvSpPr>
        <p:spPr>
          <a:xfrm>
            <a:off x="8909371" y="1288085"/>
            <a:ext cx="230400" cy="3941400"/>
          </a:xfrm>
          <a:prstGeom prst="rect">
            <a:avLst/>
          </a:prstGeom>
          <a:solidFill>
            <a:srgbClr val="C00000"/>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2493"/>
              <a:buFont typeface="Arial"/>
              <a:buNone/>
            </a:pPr>
            <a:r>
              <a:t/>
            </a:r>
            <a:endParaRPr b="0" i="0" sz="2495" u="none" cap="none" strike="noStrike">
              <a:solidFill>
                <a:schemeClr val="lt1"/>
              </a:solidFill>
              <a:latin typeface="Arial"/>
              <a:ea typeface="Arial"/>
              <a:cs typeface="Arial"/>
              <a:sym typeface="Arial"/>
            </a:endParaRPr>
          </a:p>
        </p:txBody>
      </p:sp>
      <p:sp>
        <p:nvSpPr>
          <p:cNvPr id="126" name="Google Shape;126;p16"/>
          <p:cNvSpPr/>
          <p:nvPr/>
        </p:nvSpPr>
        <p:spPr>
          <a:xfrm>
            <a:off x="1631250" y="1287476"/>
            <a:ext cx="5687400" cy="322800"/>
          </a:xfrm>
          <a:prstGeom prst="rect">
            <a:avLst/>
          </a:prstGeom>
          <a:noFill/>
          <a:ln>
            <a:noFill/>
          </a:ln>
        </p:spPr>
        <p:txBody>
          <a:bodyPr anchorCtr="0" anchor="t"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600"/>
              <a:buFont typeface="Arial"/>
              <a:buNone/>
            </a:pPr>
            <a:r>
              <a:rPr b="1" lang="en-US" sz="1600">
                <a:latin typeface="Times New Roman"/>
                <a:ea typeface="Times New Roman"/>
                <a:cs typeface="Times New Roman"/>
                <a:sym typeface="Times New Roman"/>
              </a:rPr>
              <a:t>RESULTS: GROUPING QUALITY</a:t>
            </a:r>
            <a:endParaRPr b="1" i="0" sz="1600" u="none" cap="none" strike="noStrike">
              <a:solidFill>
                <a:srgbClr val="000000"/>
              </a:solidFill>
              <a:latin typeface="Times New Roman"/>
              <a:ea typeface="Times New Roman"/>
              <a:cs typeface="Times New Roman"/>
              <a:sym typeface="Times New Roman"/>
            </a:endParaRPr>
          </a:p>
        </p:txBody>
      </p:sp>
      <p:pic>
        <p:nvPicPr>
          <p:cNvPr id="127" name="Google Shape;127;p16"/>
          <p:cNvPicPr preferRelativeResize="0"/>
          <p:nvPr/>
        </p:nvPicPr>
        <p:blipFill>
          <a:blip r:embed="rId4">
            <a:alphaModFix/>
          </a:blip>
          <a:stretch>
            <a:fillRect/>
          </a:stretch>
        </p:blipFill>
        <p:spPr>
          <a:xfrm>
            <a:off x="380000" y="1640000"/>
            <a:ext cx="5350000" cy="3216369"/>
          </a:xfrm>
          <a:prstGeom prst="rect">
            <a:avLst/>
          </a:prstGeom>
          <a:noFill/>
          <a:ln>
            <a:noFill/>
          </a:ln>
        </p:spPr>
      </p:pic>
      <p:sp>
        <p:nvSpPr>
          <p:cNvPr id="909" name="Results text 909"/>
          <p:cNvSpPr txBox="1"/>
          <p:nvPr/>
        </p:nvSpPr>
        <p:spPr>
          <a:xfrm>
            <a:off x="5850000" y="1600000"/>
            <a:ext cx="3050000" cy="3150000"/>
          </a:xfrm>
          <a:prstGeom prst="rect">
            <a:avLst/>
          </a:prstGeom>
          <a:noFill/>
          <a:ln>
            <a:noFill/>
          </a:ln>
        </p:spPr>
        <p:txBody>
          <a:bodyPr anchorCtr="0" anchor="t" bIns="45720" lIns="45720" spcFirstLastPara="1" rIns="45720" wrap="square" tIns="45720">
            <a:noAutofit/>
          </a:bodyPr>
          <a:lstStyle/>
          <a:p>
            <a:pPr indent="-285750" lvl="0" marL="342900" rtl="0" algn="l">
              <a:spcBef>
                <a:spcPts val="0"/>
              </a:spcBef>
              <a:spcAft>
                <a:spcPts val="500"/>
              </a:spcAft>
              <a:buClr>
                <a:schemeClr val="dk1"/>
              </a:buClr>
              <a:buSzPts val="1200"/>
              <a:buFont typeface="Times New Roman"/>
              <a:buChar char="●"/>
            </a:pPr>
            <a:r>
              <a:rPr b="1" lang="en-US" sz="1200">
                <a:solidFill>
                  <a:schemeClr val="dk1"/>
                </a:solidFill>
                <a:latin typeface="Times New Roman"/>
                <a:ea typeface="Times New Roman"/>
                <a:cs typeface="Times New Roman"/>
                <a:sym typeface="Times New Roman"/>
              </a:rPr>
              <a:t xml:space="preserve">Precision 0.83</a:t>
            </a:r>
            <a:r>
              <a:rPr lang="en-US" sz="1200">
                <a:solidFill>
                  <a:schemeClr val="dk1"/>
                </a:solidFill>
                <a:latin typeface="Times New Roman"/>
                <a:ea typeface="Times New Roman"/>
                <a:cs typeface="Times New Roman"/>
                <a:sym typeface="Times New Roman"/>
              </a:rPr>
              <a:t xml:space="preserve"> on human-labelled Play Store reviews (0.80 before the short-text setting).</a:t>
            </a:r>
          </a:p>
          <a:p>
            <a:pPr indent="-285750" lvl="0" marL="342900" rtl="0" algn="l">
              <a:spcBef>
                <a:spcPts val="0"/>
              </a:spcBef>
              <a:spcAft>
                <a:spcPts val="500"/>
              </a:spcAft>
              <a:buClr>
                <a:schemeClr val="dk1"/>
              </a:buClr>
              <a:buSzPts val="1200"/>
              <a:buFont typeface="Times New Roman"/>
              <a:buChar char="●"/>
            </a:pPr>
            <a:r>
              <a:rPr b="1" lang="en-US" sz="1200">
                <a:solidFill>
                  <a:schemeClr val="dk1"/>
                </a:solidFill>
                <a:latin typeface="Times New Roman"/>
                <a:ea typeface="Times New Roman"/>
                <a:cs typeface="Times New Roman"/>
                <a:sym typeface="Times New Roman"/>
              </a:rPr>
              <a:t xml:space="preserve">F1 0.49</a:t>
            </a:r>
            <a:r>
              <a:rPr lang="en-US" sz="1200">
                <a:solidFill>
                  <a:schemeClr val="dk1"/>
                </a:solidFill>
                <a:latin typeface="Times New Roman"/>
                <a:ea typeface="Times New Roman"/>
                <a:cs typeface="Times New Roman"/>
                <a:sym typeface="Times New Roman"/>
              </a:rPr>
              <a:t xml:space="preserve"> vs at most 0.25 for every competitor on the same data.</a:t>
            </a:r>
          </a:p>
          <a:p>
            <a:pPr indent="-285750" lvl="0" marL="342900" rtl="0" algn="l">
              <a:spcBef>
                <a:spcPts val="0"/>
              </a:spcBef>
              <a:spcAft>
                <a:spcPts val="500"/>
              </a:spcAft>
              <a:buClr>
                <a:schemeClr val="dk1"/>
              </a:buClr>
              <a:buSzPts val="1200"/>
              <a:buFont typeface="Times New Roman"/>
              <a:buChar char="●"/>
            </a:pPr>
            <a:r>
              <a:rPr b="1" lang="en-US" sz="1200">
                <a:solidFill>
                  <a:schemeClr val="dk1"/>
                </a:solidFill>
                <a:latin typeface="Times New Roman"/>
                <a:ea typeface="Times New Roman"/>
                <a:cs typeface="Times New Roman"/>
                <a:sym typeface="Times New Roman"/>
              </a:rPr>
              <a:t xml:space="preserve">Firefox bug reports:</a:t>
            </a:r>
            <a:r>
              <a:rPr lang="en-US" sz="1200">
                <a:solidFill>
                  <a:schemeClr val="dk1"/>
                </a:solidFill>
                <a:latin typeface="Times New Roman"/>
                <a:ea typeface="Times New Roman"/>
                <a:cs typeface="Times New Roman"/>
                <a:sym typeface="Times New Roman"/>
              </a:rPr>
              <a:t xml:space="preserve"> F1 0.78 with thresholds unchanged.</a:t>
            </a:r>
          </a:p>
          <a:p>
            <a:pPr indent="-285750" lvl="0" marL="342900" rtl="0" algn="l">
              <a:spcBef>
                <a:spcPts val="0"/>
              </a:spcBef>
              <a:spcAft>
                <a:spcPts val="500"/>
              </a:spcAft>
              <a:buClr>
                <a:schemeClr val="dk1"/>
              </a:buClr>
              <a:buSzPts val="1200"/>
              <a:buFont typeface="Times New Roman"/>
              <a:buChar char="●"/>
            </a:pPr>
            <a:r>
              <a:rPr b="1" lang="en-US" sz="1200">
                <a:solidFill>
                  <a:schemeClr val="dk1"/>
                </a:solidFill>
                <a:latin typeface="Times New Roman"/>
                <a:ea typeface="Times New Roman"/>
                <a:cs typeface="Times New Roman"/>
                <a:sym typeface="Times New Roman"/>
              </a:rPr>
              <a:t xml:space="preserve">At precision 0.80 or more:</a:t>
            </a:r>
            <a:r>
              <a:rPr lang="en-US" sz="1200">
                <a:solidFill>
                  <a:schemeClr val="dk1"/>
                </a:solidFill>
                <a:latin typeface="Times New Roman"/>
                <a:ea typeface="Times New Roman"/>
                <a:cs typeface="Times New Roman"/>
                <a:sym typeface="Times New Roman"/>
              </a:rPr>
              <a:t xml:space="preserve"> 35% of duplicates found vs about 1% for BM25, MinHash and SimHash.</a:t>
            </a: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31" name="Shape 131"/>
        <p:cNvGrpSpPr/>
        <p:nvPr/>
      </p:nvGrpSpPr>
      <p:grpSpPr>
        <a:xfrm>
          <a:off x="0" y="0"/>
          <a:ext cx="0" cy="0"/>
          <a:chOff x="0" y="0"/>
          <a:chExt cx="0" cy="0"/>
        </a:xfrm>
      </p:grpSpPr>
      <p:sp>
        <p:nvSpPr>
          <p:cNvPr id="132" name="Google Shape;132;p17"/>
          <p:cNvSpPr txBox="1"/>
          <p:nvPr/>
        </p:nvSpPr>
        <p:spPr>
          <a:xfrm>
            <a:off x="257175" y="4836100"/>
            <a:ext cx="1343100" cy="2769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1200"/>
              <a:buFont typeface="Arial"/>
              <a:buNone/>
            </a:pPr>
            <a:r>
              <a:rPr b="0" i="0" lang="en-US" sz="1200" u="none" cap="none" strike="noStrike">
                <a:solidFill>
                  <a:schemeClr val="lt1"/>
                </a:solidFill>
                <a:latin typeface="Times New Roman"/>
                <a:ea typeface="Times New Roman"/>
                <a:cs typeface="Times New Roman"/>
                <a:sym typeface="Times New Roman"/>
              </a:rPr>
              <a:t>26/6/2023</a:t>
            </a:r>
            <a:endParaRPr b="0" i="0" sz="1200" u="none" cap="none" strike="noStrike">
              <a:solidFill>
                <a:schemeClr val="lt1"/>
              </a:solidFill>
              <a:latin typeface="Times New Roman"/>
              <a:ea typeface="Times New Roman"/>
              <a:cs typeface="Times New Roman"/>
              <a:sym typeface="Times New Roman"/>
            </a:endParaRPr>
          </a:p>
        </p:txBody>
      </p:sp>
      <p:sp>
        <p:nvSpPr>
          <p:cNvPr id="133" name="Google Shape;133;p17"/>
          <p:cNvSpPr/>
          <p:nvPr/>
        </p:nvSpPr>
        <p:spPr>
          <a:xfrm>
            <a:off x="8910006" y="1217600"/>
            <a:ext cx="230400" cy="3941400"/>
          </a:xfrm>
          <a:prstGeom prst="rect">
            <a:avLst/>
          </a:prstGeom>
          <a:solidFill>
            <a:srgbClr val="C00000"/>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2493"/>
              <a:buFont typeface="Arial"/>
              <a:buNone/>
            </a:pPr>
            <a:r>
              <a:t/>
            </a:r>
            <a:endParaRPr b="0" i="0" sz="2495" u="none" cap="none" strike="noStrike">
              <a:solidFill>
                <a:schemeClr val="lt1"/>
              </a:solidFill>
              <a:latin typeface="Arial"/>
              <a:ea typeface="Arial"/>
              <a:cs typeface="Arial"/>
              <a:sym typeface="Arial"/>
            </a:endParaRPr>
          </a:p>
        </p:txBody>
      </p:sp>
      <p:sp>
        <p:nvSpPr>
          <p:cNvPr id="134" name="Google Shape;134;p17"/>
          <p:cNvSpPr/>
          <p:nvPr/>
        </p:nvSpPr>
        <p:spPr>
          <a:xfrm>
            <a:off x="2105025" y="4836100"/>
            <a:ext cx="6807300" cy="322800"/>
          </a:xfrm>
          <a:prstGeom prst="rect">
            <a:avLst/>
          </a:prstGeom>
          <a:solidFill>
            <a:srgbClr val="C00000"/>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2493"/>
              <a:buFont typeface="Arial"/>
              <a:buNone/>
            </a:pPr>
            <a:r>
              <a:t/>
            </a:r>
            <a:endParaRPr b="0" i="0" sz="2495" u="none" cap="none" strike="noStrike">
              <a:solidFill>
                <a:schemeClr val="lt1"/>
              </a:solidFill>
              <a:latin typeface="Arial"/>
              <a:ea typeface="Arial"/>
              <a:cs typeface="Arial"/>
              <a:sym typeface="Arial"/>
            </a:endParaRPr>
          </a:p>
        </p:txBody>
      </p:sp>
      <p:pic>
        <p:nvPicPr>
          <p:cNvPr id="135" name="Google Shape;135;p17"/>
          <p:cNvPicPr preferRelativeResize="0"/>
          <p:nvPr/>
        </p:nvPicPr>
        <p:blipFill rotWithShape="1">
          <a:blip r:embed="rId3">
            <a:alphaModFix/>
          </a:blip>
          <a:srcRect b="0" l="0" r="0" t="0"/>
          <a:stretch/>
        </p:blipFill>
        <p:spPr>
          <a:xfrm>
            <a:off x="0" y="0"/>
            <a:ext cx="9143999" cy="1332186"/>
          </a:xfrm>
          <a:prstGeom prst="rect">
            <a:avLst/>
          </a:prstGeom>
          <a:noFill/>
          <a:ln>
            <a:noFill/>
          </a:ln>
        </p:spPr>
      </p:pic>
      <p:sp>
        <p:nvSpPr>
          <p:cNvPr id="136" name="Google Shape;136;p17"/>
          <p:cNvSpPr txBox="1"/>
          <p:nvPr/>
        </p:nvSpPr>
        <p:spPr>
          <a:xfrm>
            <a:off x="2995049" y="1217600"/>
            <a:ext cx="3024900" cy="458470"/>
          </a:xfrm>
          <a:prstGeom prst="rect">
            <a:avLst/>
          </a:prstGeom>
          <a:noFill/>
          <a:ln>
            <a:noFill/>
          </a:ln>
        </p:spPr>
        <p:txBody>
          <a:bodyPr anchorCtr="0" anchor="t" bIns="91425" lIns="91425" spcFirstLastPara="1" rIns="91425" wrap="square" tIns="91425">
            <a:spAutoFit/>
          </a:bodyPr>
          <a:lstStyle/>
          <a:p>
            <a:pPr indent="0" lvl="0" marL="0" marR="0" rtl="0" algn="ctr">
              <a:lnSpc>
                <a:spcPct val="100000"/>
              </a:lnSpc>
              <a:spcBef>
                <a:spcPts val="0"/>
              </a:spcBef>
              <a:spcAft>
                <a:spcPts val="0"/>
              </a:spcAft>
              <a:buClr>
                <a:srgbClr val="000000"/>
              </a:buClr>
              <a:buSzPts val="1600"/>
              <a:buFont typeface="Arial"/>
              <a:buNone/>
            </a:pPr>
            <a:r>
              <a:rPr b="1" i="0" lang="en-US" sz="1800" u="none" cap="none" strike="noStrike">
                <a:solidFill>
                  <a:srgbClr val="000000"/>
                </a:solidFill>
                <a:latin typeface="Times New Roman"/>
                <a:ea typeface="Times New Roman"/>
                <a:cs typeface="Times New Roman"/>
                <a:sym typeface="Times New Roman"/>
              </a:rPr>
              <a:t>APPLICATIONS</a:t>
            </a:r>
            <a:endParaRPr b="1" i="0" sz="1800" u="none" cap="none" strike="noStrike">
              <a:solidFill>
                <a:srgbClr val="000000"/>
              </a:solidFill>
              <a:latin typeface="Times New Roman"/>
              <a:ea typeface="Times New Roman"/>
              <a:cs typeface="Times New Roman"/>
              <a:sym typeface="Times New Roman"/>
            </a:endParaRPr>
          </a:p>
        </p:txBody>
      </p:sp>
      <p:sp>
        <p:nvSpPr>
          <p:cNvPr id="137" name="Google Shape;137;p17"/>
          <p:cNvSpPr txBox="1"/>
          <p:nvPr/>
        </p:nvSpPr>
        <p:spPr>
          <a:xfrm>
            <a:off x="697200" y="1610300"/>
            <a:ext cx="7620600" cy="3156000"/>
          </a:xfrm>
          <a:prstGeom prst="rect">
            <a:avLst/>
          </a:prstGeom>
          <a:noFill/>
          <a:ln>
            <a:noFill/>
          </a:ln>
        </p:spPr>
        <p:txBody>
          <a:bodyPr anchorCtr="0" anchor="t" bIns="91425" lIns="91425" spcFirstLastPara="1" rIns="91425" wrap="square" tIns="91425">
            <a:noAutofit/>
          </a:bodyPr>
          <a:lstStyle/>
          <a:p>
            <a:pPr indent="-330200" lvl="0" marL="457200" rtl="0" algn="just">
              <a:spcBef>
                <a:spcPts val="0"/>
              </a:spcBef>
              <a:spcAft>
                <a:spcPts val="0"/>
              </a:spcAft>
              <a:buClr>
                <a:schemeClr val="dk1"/>
              </a:buClr>
              <a:buSzPts val="1600"/>
              <a:buFont typeface="Times New Roman"/>
              <a:buAutoNum type="arabicParenR"/>
            </a:pPr>
            <a:r>
              <a:rPr b="1" lang="en-US" sz="1600">
                <a:solidFill>
                  <a:schemeClr val="dk1"/>
                </a:solidFill>
                <a:latin typeface="Times New Roman"/>
                <a:ea typeface="Times New Roman"/>
                <a:cs typeface="Times New Roman"/>
                <a:sym typeface="Times New Roman"/>
              </a:rPr>
              <a:t>Customer Support Analytics: </a:t>
            </a:r>
            <a:r>
              <a:rPr lang="en-US" sz="1600">
                <a:solidFill>
                  <a:schemeClr val="dk1"/>
                </a:solidFill>
                <a:latin typeface="Times New Roman"/>
                <a:ea typeface="Times New Roman"/>
                <a:cs typeface="Times New Roman"/>
                <a:sym typeface="Times New Roman"/>
              </a:rPr>
              <a:t>Detect recurring issues automatically</a:t>
            </a:r>
            <a:endParaRPr sz="1600">
              <a:solidFill>
                <a:schemeClr val="dk1"/>
              </a:solidFill>
              <a:latin typeface="Times New Roman"/>
              <a:ea typeface="Times New Roman"/>
              <a:cs typeface="Times New Roman"/>
              <a:sym typeface="Times New Roman"/>
            </a:endParaRPr>
          </a:p>
          <a:p>
            <a:pPr indent="0" lvl="0" marL="457200" rtl="0" algn="just">
              <a:spcBef>
                <a:spcPts val="0"/>
              </a:spcBef>
              <a:spcAft>
                <a:spcPts val="0"/>
              </a:spcAft>
              <a:buNone/>
            </a:pPr>
            <a:r>
              <a:t/>
            </a:r>
            <a:endParaRPr sz="1600">
              <a:solidFill>
                <a:schemeClr val="dk1"/>
              </a:solidFill>
              <a:latin typeface="Times New Roman"/>
              <a:ea typeface="Times New Roman"/>
              <a:cs typeface="Times New Roman"/>
              <a:sym typeface="Times New Roman"/>
            </a:endParaRPr>
          </a:p>
          <a:p>
            <a:pPr indent="-330200" lvl="0" marL="457200" rtl="0" algn="just">
              <a:spcBef>
                <a:spcPts val="0"/>
              </a:spcBef>
              <a:spcAft>
                <a:spcPts val="0"/>
              </a:spcAft>
              <a:buClr>
                <a:schemeClr val="dk1"/>
              </a:buClr>
              <a:buSzPts val="1600"/>
              <a:buFont typeface="Times New Roman"/>
              <a:buAutoNum type="arabicParenR"/>
            </a:pPr>
            <a:r>
              <a:rPr b="1" lang="en-US" sz="1600">
                <a:solidFill>
                  <a:schemeClr val="dk1"/>
                </a:solidFill>
                <a:latin typeface="Times New Roman"/>
                <a:ea typeface="Times New Roman"/>
                <a:cs typeface="Times New Roman"/>
                <a:sym typeface="Times New Roman"/>
              </a:rPr>
              <a:t>Mobile App Monitoring:</a:t>
            </a:r>
            <a:r>
              <a:rPr lang="en-US" sz="1600">
                <a:solidFill>
                  <a:schemeClr val="dk1"/>
                </a:solidFill>
                <a:latin typeface="Times New Roman"/>
                <a:ea typeface="Times New Roman"/>
                <a:cs typeface="Times New Roman"/>
                <a:sym typeface="Times New Roman"/>
              </a:rPr>
              <a:t> Find crashes and bugs from reviews</a:t>
            </a:r>
            <a:endParaRPr sz="1600">
              <a:solidFill>
                <a:schemeClr val="dk1"/>
              </a:solidFill>
              <a:latin typeface="Times New Roman"/>
              <a:ea typeface="Times New Roman"/>
              <a:cs typeface="Times New Roman"/>
              <a:sym typeface="Times New Roman"/>
            </a:endParaRPr>
          </a:p>
          <a:p>
            <a:pPr indent="0" lvl="0" marL="457200" rtl="0" algn="just">
              <a:spcBef>
                <a:spcPts val="0"/>
              </a:spcBef>
              <a:spcAft>
                <a:spcPts val="0"/>
              </a:spcAft>
              <a:buNone/>
            </a:pPr>
            <a:r>
              <a:t/>
            </a:r>
            <a:endParaRPr sz="1600">
              <a:solidFill>
                <a:schemeClr val="dk1"/>
              </a:solidFill>
              <a:latin typeface="Times New Roman"/>
              <a:ea typeface="Times New Roman"/>
              <a:cs typeface="Times New Roman"/>
              <a:sym typeface="Times New Roman"/>
            </a:endParaRPr>
          </a:p>
          <a:p>
            <a:pPr indent="-330200" lvl="0" marL="457200" rtl="0" algn="just">
              <a:spcBef>
                <a:spcPts val="0"/>
              </a:spcBef>
              <a:spcAft>
                <a:spcPts val="0"/>
              </a:spcAft>
              <a:buClr>
                <a:schemeClr val="dk1"/>
              </a:buClr>
              <a:buSzPts val="1600"/>
              <a:buFont typeface="Times New Roman"/>
              <a:buAutoNum type="arabicParenR"/>
            </a:pPr>
            <a:r>
              <a:rPr b="1" lang="en-US" sz="1600">
                <a:solidFill>
                  <a:schemeClr val="dk1"/>
                </a:solidFill>
                <a:latin typeface="Times New Roman"/>
                <a:ea typeface="Times New Roman"/>
                <a:cs typeface="Times New Roman"/>
                <a:sym typeface="Times New Roman"/>
              </a:rPr>
              <a:t>Banking / Finance:</a:t>
            </a:r>
            <a:r>
              <a:rPr lang="en-US" sz="1600">
                <a:solidFill>
                  <a:schemeClr val="dk1"/>
                </a:solidFill>
                <a:latin typeface="Times New Roman"/>
                <a:ea typeface="Times New Roman"/>
                <a:cs typeface="Times New Roman"/>
                <a:sym typeface="Times New Roman"/>
              </a:rPr>
              <a:t> Detect transaction complaints</a:t>
            </a:r>
            <a:endParaRPr sz="1600">
              <a:solidFill>
                <a:schemeClr val="dk1"/>
              </a:solidFill>
              <a:latin typeface="Times New Roman"/>
              <a:ea typeface="Times New Roman"/>
              <a:cs typeface="Times New Roman"/>
              <a:sym typeface="Times New Roman"/>
            </a:endParaRPr>
          </a:p>
          <a:p>
            <a:pPr indent="0" lvl="0" marL="457200" rtl="0" algn="just">
              <a:spcBef>
                <a:spcPts val="0"/>
              </a:spcBef>
              <a:spcAft>
                <a:spcPts val="0"/>
              </a:spcAft>
              <a:buNone/>
            </a:pPr>
            <a:r>
              <a:t/>
            </a:r>
            <a:endParaRPr sz="1600">
              <a:solidFill>
                <a:schemeClr val="dk1"/>
              </a:solidFill>
              <a:latin typeface="Times New Roman"/>
              <a:ea typeface="Times New Roman"/>
              <a:cs typeface="Times New Roman"/>
              <a:sym typeface="Times New Roman"/>
            </a:endParaRPr>
          </a:p>
          <a:p>
            <a:pPr indent="-330200" lvl="0" marL="457200" rtl="0" algn="just">
              <a:spcBef>
                <a:spcPts val="0"/>
              </a:spcBef>
              <a:spcAft>
                <a:spcPts val="0"/>
              </a:spcAft>
              <a:buClr>
                <a:schemeClr val="dk1"/>
              </a:buClr>
              <a:buSzPts val="1600"/>
              <a:buFont typeface="Times New Roman"/>
              <a:buAutoNum type="arabicParenR"/>
            </a:pPr>
            <a:r>
              <a:rPr b="1" lang="en-US" sz="1600">
                <a:solidFill>
                  <a:schemeClr val="dk1"/>
                </a:solidFill>
                <a:latin typeface="Times New Roman"/>
                <a:ea typeface="Times New Roman"/>
                <a:cs typeface="Times New Roman"/>
                <a:sym typeface="Times New Roman"/>
              </a:rPr>
              <a:t>E-commerce:</a:t>
            </a:r>
            <a:r>
              <a:rPr lang="en-US" sz="1600">
                <a:solidFill>
                  <a:schemeClr val="dk1"/>
                </a:solidFill>
                <a:latin typeface="Times New Roman"/>
                <a:ea typeface="Times New Roman"/>
                <a:cs typeface="Times New Roman"/>
                <a:sym typeface="Times New Roman"/>
              </a:rPr>
              <a:t> Analyze delivery and payment issues</a:t>
            </a:r>
            <a:endParaRPr sz="1600">
              <a:solidFill>
                <a:schemeClr val="dk1"/>
              </a:solidFill>
              <a:latin typeface="Times New Roman"/>
              <a:ea typeface="Times New Roman"/>
              <a:cs typeface="Times New Roman"/>
              <a:sym typeface="Times New Roman"/>
            </a:endParaRPr>
          </a:p>
          <a:p>
            <a:pPr indent="0" lvl="0" marL="457200" rtl="0" algn="just">
              <a:spcBef>
                <a:spcPts val="0"/>
              </a:spcBef>
              <a:spcAft>
                <a:spcPts val="0"/>
              </a:spcAft>
              <a:buNone/>
            </a:pPr>
            <a:r>
              <a:t/>
            </a:r>
            <a:endParaRPr sz="1600">
              <a:solidFill>
                <a:schemeClr val="dk1"/>
              </a:solidFill>
              <a:latin typeface="Times New Roman"/>
              <a:ea typeface="Times New Roman"/>
              <a:cs typeface="Times New Roman"/>
              <a:sym typeface="Times New Roman"/>
            </a:endParaRPr>
          </a:p>
          <a:p>
            <a:pPr indent="-330200" lvl="0" marL="457200" rtl="0" algn="just">
              <a:spcBef>
                <a:spcPts val="0"/>
              </a:spcBef>
              <a:spcAft>
                <a:spcPts val="0"/>
              </a:spcAft>
              <a:buClr>
                <a:schemeClr val="dk1"/>
              </a:buClr>
              <a:buSzPts val="1600"/>
              <a:buFont typeface="Times New Roman"/>
              <a:buAutoNum type="arabicParenR"/>
            </a:pPr>
            <a:r>
              <a:rPr b="1" lang="en-US" sz="1600">
                <a:solidFill>
                  <a:schemeClr val="dk1"/>
                </a:solidFill>
                <a:latin typeface="Times New Roman"/>
                <a:ea typeface="Times New Roman"/>
                <a:cs typeface="Times New Roman"/>
                <a:sym typeface="Times New Roman"/>
              </a:rPr>
              <a:t>Helpdesk Automation:</a:t>
            </a:r>
            <a:r>
              <a:rPr lang="en-US" sz="1600">
                <a:solidFill>
                  <a:schemeClr val="dk1"/>
                </a:solidFill>
                <a:latin typeface="Times New Roman"/>
                <a:ea typeface="Times New Roman"/>
                <a:cs typeface="Times New Roman"/>
                <a:sym typeface="Times New Roman"/>
              </a:rPr>
              <a:t> Generate diagnostics automatically</a:t>
            </a:r>
            <a:endParaRPr sz="1600">
              <a:solidFill>
                <a:schemeClr val="dk1"/>
              </a:solidFill>
              <a:latin typeface="Times New Roman"/>
              <a:ea typeface="Times New Roman"/>
              <a:cs typeface="Times New Roman"/>
              <a:sym typeface="Times New Roman"/>
            </a:endParaRPr>
          </a:p>
          <a:p>
            <a:pPr indent="0" lvl="0" marL="0" rtl="0" algn="just">
              <a:spcBef>
                <a:spcPts val="0"/>
              </a:spcBef>
              <a:spcAft>
                <a:spcPts val="0"/>
              </a:spcAft>
              <a:buNone/>
            </a:pPr>
            <a:r>
              <a:t/>
            </a:r>
            <a:endParaRPr sz="1600">
              <a:solidFill>
                <a:schemeClr val="dk1"/>
              </a:solidFill>
              <a:latin typeface="Times New Roman"/>
              <a:ea typeface="Times New Roman"/>
              <a:cs typeface="Times New Roman"/>
              <a:sym typeface="Times New Roman"/>
            </a:endParaRPr>
          </a:p>
          <a:p>
            <a:pPr indent="-330200" lvl="0" marL="457200" rtl="0" algn="just">
              <a:spcBef>
                <a:spcPts val="0"/>
              </a:spcBef>
              <a:spcAft>
                <a:spcPts val="0"/>
              </a:spcAft>
              <a:buClr>
                <a:schemeClr val="dk1"/>
              </a:buClr>
              <a:buSzPts val="1600"/>
              <a:buFont typeface="Times New Roman"/>
              <a:buAutoNum type="arabicParenR"/>
            </a:pPr>
            <a:r>
              <a:rPr b="1" lang="en-US" sz="1600">
                <a:solidFill>
                  <a:schemeClr val="dk1"/>
                </a:solidFill>
                <a:latin typeface="Times New Roman"/>
                <a:ea typeface="Times New Roman"/>
                <a:cs typeface="Times New Roman"/>
                <a:sym typeface="Times New Roman"/>
              </a:rPr>
              <a:t>AI-Powered Monitoring Systems:</a:t>
            </a:r>
            <a:r>
              <a:rPr lang="en-US" sz="1600">
                <a:solidFill>
                  <a:schemeClr val="dk1"/>
                </a:solidFill>
                <a:latin typeface="Times New Roman"/>
                <a:ea typeface="Times New Roman"/>
                <a:cs typeface="Times New Roman"/>
                <a:sym typeface="Times New Roman"/>
              </a:rPr>
              <a:t> Real-time complaint analysis</a:t>
            </a:r>
            <a:endParaRPr sz="1600">
              <a:solidFill>
                <a:schemeClr val="dk1"/>
              </a:solidFill>
              <a:latin typeface="Times New Roman"/>
              <a:ea typeface="Times New Roman"/>
              <a:cs typeface="Times New Roman"/>
              <a:sym typeface="Times New Roman"/>
            </a:endParaRPr>
          </a:p>
          <a:p>
            <a:pPr indent="-215900" lvl="0" marL="285750" marR="0" rtl="0" algn="just">
              <a:lnSpc>
                <a:spcPct val="100000"/>
              </a:lnSpc>
              <a:spcBef>
                <a:spcPts val="0"/>
              </a:spcBef>
              <a:spcAft>
                <a:spcPts val="0"/>
              </a:spcAft>
              <a:buClr>
                <a:schemeClr val="dk1"/>
              </a:buClr>
              <a:buSzPts val="1100"/>
              <a:buFont typeface="Arial"/>
              <a:buNone/>
            </a:pPr>
            <a:r>
              <a:t/>
            </a:r>
            <a:endParaRPr b="0" i="0" sz="1300" u="none" cap="none" strike="noStrike">
              <a:solidFill>
                <a:schemeClr val="dk1"/>
              </a:solidFill>
              <a:latin typeface="Times New Roman"/>
              <a:ea typeface="Times New Roman"/>
              <a:cs typeface="Times New Roman"/>
              <a:sym typeface="Times New Roman"/>
            </a:endParaRPr>
          </a:p>
          <a:p>
            <a:pPr indent="-215900" lvl="0" marL="285750" marR="0" rtl="0" algn="just">
              <a:lnSpc>
                <a:spcPct val="100000"/>
              </a:lnSpc>
              <a:spcBef>
                <a:spcPts val="0"/>
              </a:spcBef>
              <a:spcAft>
                <a:spcPts val="0"/>
              </a:spcAft>
              <a:buClr>
                <a:schemeClr val="dk1"/>
              </a:buClr>
              <a:buSzPts val="1100"/>
              <a:buFont typeface="Arial"/>
              <a:buNone/>
            </a:pPr>
            <a:r>
              <a:t/>
            </a:r>
            <a:endParaRPr b="0" i="0" sz="1300" u="none" cap="none" strike="noStrike">
              <a:solidFill>
                <a:schemeClr val="dk1"/>
              </a:solidFill>
              <a:latin typeface="Times New Roman"/>
              <a:ea typeface="Times New Roman"/>
              <a:cs typeface="Times New Roman"/>
              <a:sym typeface="Times New Roman"/>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41" name="Shape 141"/>
        <p:cNvGrpSpPr/>
        <p:nvPr/>
      </p:nvGrpSpPr>
      <p:grpSpPr>
        <a:xfrm>
          <a:off x="0" y="0"/>
          <a:ext cx="0" cy="0"/>
          <a:chOff x="0" y="0"/>
          <a:chExt cx="0" cy="0"/>
        </a:xfrm>
      </p:grpSpPr>
      <p:sp>
        <p:nvSpPr>
          <p:cNvPr id="142" name="Google Shape;142;p18"/>
          <p:cNvSpPr txBox="1"/>
          <p:nvPr/>
        </p:nvSpPr>
        <p:spPr>
          <a:xfrm>
            <a:off x="257175" y="4836100"/>
            <a:ext cx="1343100" cy="2769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1200"/>
              <a:buFont typeface="Arial"/>
              <a:buNone/>
            </a:pPr>
            <a:r>
              <a:rPr b="0" i="0" lang="en-US" sz="1200" u="none" cap="none" strike="noStrike">
                <a:solidFill>
                  <a:schemeClr val="lt1"/>
                </a:solidFill>
                <a:latin typeface="Times New Roman"/>
                <a:ea typeface="Times New Roman"/>
                <a:cs typeface="Times New Roman"/>
                <a:sym typeface="Times New Roman"/>
              </a:rPr>
              <a:t>26/6/2023</a:t>
            </a:r>
            <a:endParaRPr b="0" i="0" sz="1200" u="none" cap="none" strike="noStrike">
              <a:solidFill>
                <a:schemeClr val="lt1"/>
              </a:solidFill>
              <a:latin typeface="Times New Roman"/>
              <a:ea typeface="Times New Roman"/>
              <a:cs typeface="Times New Roman"/>
              <a:sym typeface="Times New Roman"/>
            </a:endParaRPr>
          </a:p>
        </p:txBody>
      </p:sp>
      <p:sp>
        <p:nvSpPr>
          <p:cNvPr id="143" name="Google Shape;143;p18"/>
          <p:cNvSpPr/>
          <p:nvPr/>
        </p:nvSpPr>
        <p:spPr>
          <a:xfrm>
            <a:off x="8910006" y="1217600"/>
            <a:ext cx="230400" cy="3941400"/>
          </a:xfrm>
          <a:prstGeom prst="rect">
            <a:avLst/>
          </a:prstGeom>
          <a:solidFill>
            <a:srgbClr val="C00000"/>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2493"/>
              <a:buFont typeface="Arial"/>
              <a:buNone/>
            </a:pPr>
            <a:r>
              <a:t/>
            </a:r>
            <a:endParaRPr b="0" i="0" sz="2495" u="none" cap="none" strike="noStrike">
              <a:solidFill>
                <a:schemeClr val="lt1"/>
              </a:solidFill>
              <a:latin typeface="Arial"/>
              <a:ea typeface="Arial"/>
              <a:cs typeface="Arial"/>
              <a:sym typeface="Arial"/>
            </a:endParaRPr>
          </a:p>
        </p:txBody>
      </p:sp>
      <p:sp>
        <p:nvSpPr>
          <p:cNvPr id="144" name="Google Shape;144;p18"/>
          <p:cNvSpPr/>
          <p:nvPr/>
        </p:nvSpPr>
        <p:spPr>
          <a:xfrm>
            <a:off x="2105025" y="4836100"/>
            <a:ext cx="6807300" cy="322800"/>
          </a:xfrm>
          <a:prstGeom prst="rect">
            <a:avLst/>
          </a:prstGeom>
          <a:solidFill>
            <a:srgbClr val="C00000"/>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2493"/>
              <a:buFont typeface="Arial"/>
              <a:buNone/>
            </a:pPr>
            <a:r>
              <a:t/>
            </a:r>
            <a:endParaRPr b="0" i="0" sz="2495" u="none" cap="none" strike="noStrike">
              <a:solidFill>
                <a:schemeClr val="lt1"/>
              </a:solidFill>
              <a:latin typeface="Arial"/>
              <a:ea typeface="Arial"/>
              <a:cs typeface="Arial"/>
              <a:sym typeface="Arial"/>
            </a:endParaRPr>
          </a:p>
        </p:txBody>
      </p:sp>
      <p:pic>
        <p:nvPicPr>
          <p:cNvPr id="145" name="Google Shape;145;p18"/>
          <p:cNvPicPr preferRelativeResize="0"/>
          <p:nvPr/>
        </p:nvPicPr>
        <p:blipFill rotWithShape="1">
          <a:blip r:embed="rId3">
            <a:alphaModFix/>
          </a:blip>
          <a:srcRect b="0" l="0" r="0" t="0"/>
          <a:stretch/>
        </p:blipFill>
        <p:spPr>
          <a:xfrm>
            <a:off x="0" y="0"/>
            <a:ext cx="9143999" cy="1332186"/>
          </a:xfrm>
          <a:prstGeom prst="rect">
            <a:avLst/>
          </a:prstGeom>
          <a:noFill/>
          <a:ln>
            <a:noFill/>
          </a:ln>
        </p:spPr>
      </p:pic>
      <p:sp>
        <p:nvSpPr>
          <p:cNvPr id="146" name="Google Shape;146;p18"/>
          <p:cNvSpPr txBox="1"/>
          <p:nvPr/>
        </p:nvSpPr>
        <p:spPr>
          <a:xfrm>
            <a:off x="3059544" y="1217611"/>
            <a:ext cx="3024900" cy="461700"/>
          </a:xfrm>
          <a:prstGeom prst="rect">
            <a:avLst/>
          </a:prstGeom>
          <a:noFill/>
          <a:ln>
            <a:noFill/>
          </a:ln>
        </p:spPr>
        <p:txBody>
          <a:bodyPr anchorCtr="0" anchor="t" bIns="91425" lIns="91425" spcFirstLastPara="1" rIns="91425" wrap="square" tIns="91425">
            <a:spAutoFit/>
          </a:bodyPr>
          <a:lstStyle/>
          <a:p>
            <a:pPr indent="0" lvl="0" marL="0" marR="0" rtl="0" algn="ctr">
              <a:lnSpc>
                <a:spcPct val="100000"/>
              </a:lnSpc>
              <a:spcBef>
                <a:spcPts val="0"/>
              </a:spcBef>
              <a:spcAft>
                <a:spcPts val="0"/>
              </a:spcAft>
              <a:buClr>
                <a:srgbClr val="000000"/>
              </a:buClr>
              <a:buSzPts val="1600"/>
              <a:buFont typeface="Arial"/>
              <a:buNone/>
            </a:pPr>
            <a:r>
              <a:rPr b="1" i="0" lang="en-US" sz="1800" u="none" cap="none" strike="noStrike">
                <a:solidFill>
                  <a:srgbClr val="000000"/>
                </a:solidFill>
                <a:latin typeface="Times New Roman"/>
                <a:ea typeface="Times New Roman"/>
                <a:cs typeface="Times New Roman"/>
                <a:sym typeface="Times New Roman"/>
              </a:rPr>
              <a:t>FUTURE SCOPE</a:t>
            </a:r>
            <a:endParaRPr/>
          </a:p>
        </p:txBody>
      </p:sp>
      <p:sp>
        <p:nvSpPr>
          <p:cNvPr id="147" name="Google Shape;147;p18"/>
          <p:cNvSpPr txBox="1"/>
          <p:nvPr/>
        </p:nvSpPr>
        <p:spPr>
          <a:xfrm>
            <a:off x="480695" y="1675765"/>
            <a:ext cx="8663305" cy="3482975"/>
          </a:xfrm>
          <a:prstGeom prst="rect">
            <a:avLst/>
          </a:prstGeom>
          <a:noFill/>
          <a:ln>
            <a:noFill/>
          </a:ln>
        </p:spPr>
        <p:txBody>
          <a:bodyPr anchorCtr="0" anchor="t" bIns="91425" lIns="91425" spcFirstLastPara="1" rIns="91425" wrap="square" tIns="91425">
            <a:normAutofit/>
          </a:bodyPr>
          <a:lstStyle/>
          <a:p>
            <a:pPr indent="-285750" lvl="0" marL="342900" rtl="0" algn="l">
              <a:spcBef>
                <a:spcPts val="0"/>
              </a:spcBef>
              <a:spcAft>
                <a:spcPts val="900"/>
              </a:spcAft>
              <a:buClr>
                <a:schemeClr val="dk1"/>
              </a:buClr>
              <a:buSzPts val="1500"/>
              <a:buFont typeface="Times New Roman"/>
              <a:buChar char="●"/>
            </a:pPr>
            <a:r>
              <a:rPr lang="en-US" sz="1500">
                <a:solidFill>
                  <a:schemeClr val="dk1"/>
                </a:solidFill>
                <a:latin typeface="Times New Roman"/>
                <a:ea typeface="Times New Roman"/>
                <a:cs typeface="Times New Roman"/>
                <a:sym typeface="Times New Roman"/>
              </a:rPr>
              <a:t xml:space="preserve">Package the app with Docker and deploy it on GCP or Azure (free tier).</a:t>
            </a:r>
          </a:p>
          <a:p>
            <a:pPr indent="-285750" lvl="0" marL="342900" rtl="0" algn="l">
              <a:spcBef>
                <a:spcPts val="0"/>
              </a:spcBef>
              <a:spcAft>
                <a:spcPts val="900"/>
              </a:spcAft>
              <a:buClr>
                <a:schemeClr val="dk1"/>
              </a:buClr>
              <a:buSzPts val="1500"/>
              <a:buFont typeface="Times New Roman"/>
              <a:buChar char="●"/>
            </a:pPr>
            <a:r>
              <a:rPr lang="en-US" sz="1500">
                <a:solidFill>
                  <a:schemeClr val="dk1"/>
                </a:solidFill>
                <a:latin typeface="Times New Roman"/>
                <a:ea typeface="Times New Roman"/>
                <a:cs typeface="Times New Roman"/>
                <a:sym typeface="Times New Roman"/>
              </a:rPr>
              <a:t xml:space="preserve">Host the open-weight LLM locally for full data privacy.</a:t>
            </a:r>
          </a:p>
          <a:p>
            <a:pPr indent="-285750" lvl="0" marL="342900" rtl="0" algn="l">
              <a:spcBef>
                <a:spcPts val="0"/>
              </a:spcBef>
              <a:spcAft>
                <a:spcPts val="900"/>
              </a:spcAft>
              <a:buClr>
                <a:schemeClr val="dk1"/>
              </a:buClr>
              <a:buSzPts val="1500"/>
              <a:buFont typeface="Times New Roman"/>
              <a:buChar char="●"/>
            </a:pPr>
            <a:r>
              <a:rPr lang="en-US" sz="1500">
                <a:solidFill>
                  <a:schemeClr val="dk1"/>
                </a:solidFill>
                <a:latin typeface="Times New Roman"/>
                <a:ea typeface="Times New Roman"/>
                <a:cs typeface="Times New Roman"/>
                <a:sym typeface="Times New Roman"/>
              </a:rPr>
              <a:t xml:space="preserve">Remove personal details from complaints before any LLM call.</a:t>
            </a:r>
          </a:p>
          <a:p>
            <a:pPr indent="-285750" lvl="0" marL="342900" rtl="0" algn="l">
              <a:spcBef>
                <a:spcPts val="0"/>
              </a:spcBef>
              <a:spcAft>
                <a:spcPts val="900"/>
              </a:spcAft>
              <a:buClr>
                <a:schemeClr val="dk1"/>
              </a:buClr>
              <a:buSzPts val="1500"/>
              <a:buFont typeface="Times New Roman"/>
              <a:buChar char="●"/>
            </a:pPr>
            <a:r>
              <a:rPr lang="en-US" sz="1500">
                <a:solidFill>
                  <a:schemeClr val="dk1"/>
                </a:solidFill>
                <a:latin typeface="Times New Roman"/>
                <a:ea typeface="Times New Roman"/>
                <a:cs typeface="Times New Roman"/>
                <a:sym typeface="Times New Roman"/>
              </a:rPr>
              <a:t xml:space="preserve">Learn from operator corrections to calibrate each company automatically.</a:t>
            </a:r>
          </a:p>
          <a:p>
            <a:pPr indent="-285750" lvl="0" marL="342900" rtl="0" algn="l">
              <a:spcBef>
                <a:spcPts val="0"/>
              </a:spcBef>
              <a:spcAft>
                <a:spcPts val="900"/>
              </a:spcAft>
              <a:buClr>
                <a:schemeClr val="dk1"/>
              </a:buClr>
              <a:buSzPts val="1500"/>
              <a:buFont typeface="Times New Roman"/>
              <a:buChar char="●"/>
            </a:pPr>
            <a:r>
              <a:rPr lang="en-US" sz="1500">
                <a:solidFill>
                  <a:schemeClr val="dk1"/>
                </a:solidFill>
                <a:latin typeface="Times New Roman"/>
                <a:ea typeface="Times New Roman"/>
                <a:cs typeface="Times New Roman"/>
                <a:sym typeface="Times New Roman"/>
              </a:rPr>
              <a:t xml:space="preserve">Per-user submission limits, multilingual complaints and automatic Jira tickets.</a:t>
            </a: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51" name="Shape 151"/>
        <p:cNvGrpSpPr/>
        <p:nvPr/>
      </p:nvGrpSpPr>
      <p:grpSpPr>
        <a:xfrm>
          <a:off x="0" y="0"/>
          <a:ext cx="0" cy="0"/>
          <a:chOff x="0" y="0"/>
          <a:chExt cx="0" cy="0"/>
        </a:xfrm>
      </p:grpSpPr>
      <p:sp>
        <p:nvSpPr>
          <p:cNvPr id="152" name="Google Shape;152;p19"/>
          <p:cNvSpPr txBox="1"/>
          <p:nvPr/>
        </p:nvSpPr>
        <p:spPr>
          <a:xfrm>
            <a:off x="257175" y="4836100"/>
            <a:ext cx="1343100" cy="2769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1200"/>
              <a:buFont typeface="Arial"/>
              <a:buNone/>
            </a:pPr>
            <a:r>
              <a:rPr b="0" i="0" lang="en-US" sz="1200" u="none" cap="none" strike="noStrike">
                <a:solidFill>
                  <a:schemeClr val="lt1"/>
                </a:solidFill>
                <a:latin typeface="Times New Roman"/>
                <a:ea typeface="Times New Roman"/>
                <a:cs typeface="Times New Roman"/>
                <a:sym typeface="Times New Roman"/>
              </a:rPr>
              <a:t>26/6/2023</a:t>
            </a:r>
            <a:endParaRPr b="0" i="0" sz="1200" u="none" cap="none" strike="noStrike">
              <a:solidFill>
                <a:schemeClr val="lt1"/>
              </a:solidFill>
              <a:latin typeface="Times New Roman"/>
              <a:ea typeface="Times New Roman"/>
              <a:cs typeface="Times New Roman"/>
              <a:sym typeface="Times New Roman"/>
            </a:endParaRPr>
          </a:p>
        </p:txBody>
      </p:sp>
      <p:sp>
        <p:nvSpPr>
          <p:cNvPr id="153" name="Google Shape;153;p19"/>
          <p:cNvSpPr/>
          <p:nvPr/>
        </p:nvSpPr>
        <p:spPr>
          <a:xfrm>
            <a:off x="8910006" y="1217600"/>
            <a:ext cx="230400" cy="3941400"/>
          </a:xfrm>
          <a:prstGeom prst="rect">
            <a:avLst/>
          </a:prstGeom>
          <a:solidFill>
            <a:srgbClr val="C00000"/>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2493"/>
              <a:buFont typeface="Arial"/>
              <a:buNone/>
            </a:pPr>
            <a:r>
              <a:t/>
            </a:r>
            <a:endParaRPr b="0" i="0" sz="2495" u="none" cap="none" strike="noStrike">
              <a:solidFill>
                <a:schemeClr val="lt1"/>
              </a:solidFill>
              <a:latin typeface="Arial"/>
              <a:ea typeface="Arial"/>
              <a:cs typeface="Arial"/>
              <a:sym typeface="Arial"/>
            </a:endParaRPr>
          </a:p>
        </p:txBody>
      </p:sp>
      <p:sp>
        <p:nvSpPr>
          <p:cNvPr id="154" name="Google Shape;154;p19"/>
          <p:cNvSpPr/>
          <p:nvPr/>
        </p:nvSpPr>
        <p:spPr>
          <a:xfrm>
            <a:off x="2105025" y="4836100"/>
            <a:ext cx="6807300" cy="322800"/>
          </a:xfrm>
          <a:prstGeom prst="rect">
            <a:avLst/>
          </a:prstGeom>
          <a:solidFill>
            <a:srgbClr val="C00000"/>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2493"/>
              <a:buFont typeface="Arial"/>
              <a:buNone/>
            </a:pPr>
            <a:r>
              <a:t/>
            </a:r>
            <a:endParaRPr b="0" i="0" sz="2495" u="none" cap="none" strike="noStrike">
              <a:solidFill>
                <a:schemeClr val="lt1"/>
              </a:solidFill>
              <a:latin typeface="Arial"/>
              <a:ea typeface="Arial"/>
              <a:cs typeface="Arial"/>
              <a:sym typeface="Arial"/>
            </a:endParaRPr>
          </a:p>
        </p:txBody>
      </p:sp>
      <p:pic>
        <p:nvPicPr>
          <p:cNvPr id="155" name="Google Shape;155;p19"/>
          <p:cNvPicPr preferRelativeResize="0"/>
          <p:nvPr/>
        </p:nvPicPr>
        <p:blipFill rotWithShape="1">
          <a:blip r:embed="rId3">
            <a:alphaModFix/>
          </a:blip>
          <a:srcRect b="0" l="0" r="0" t="0"/>
          <a:stretch/>
        </p:blipFill>
        <p:spPr>
          <a:xfrm>
            <a:off x="0" y="0"/>
            <a:ext cx="9143999" cy="1332186"/>
          </a:xfrm>
          <a:prstGeom prst="rect">
            <a:avLst/>
          </a:prstGeom>
          <a:noFill/>
          <a:ln>
            <a:noFill/>
          </a:ln>
        </p:spPr>
      </p:pic>
      <p:sp>
        <p:nvSpPr>
          <p:cNvPr id="156" name="Google Shape;156;p19"/>
          <p:cNvSpPr txBox="1"/>
          <p:nvPr/>
        </p:nvSpPr>
        <p:spPr>
          <a:xfrm>
            <a:off x="3056230" y="1497420"/>
            <a:ext cx="3025200" cy="430500"/>
          </a:xfrm>
          <a:prstGeom prst="rect">
            <a:avLst/>
          </a:prstGeom>
          <a:noFill/>
          <a:ln>
            <a:noFill/>
          </a:ln>
        </p:spPr>
        <p:txBody>
          <a:bodyPr anchorCtr="0" anchor="t" bIns="91425" lIns="91425" spcFirstLastPara="1" rIns="91425" wrap="square" tIns="91425">
            <a:noAutofit/>
          </a:bodyPr>
          <a:lstStyle/>
          <a:p>
            <a:pPr indent="0" lvl="0" marL="0" marR="0" rtl="0" algn="ctr">
              <a:lnSpc>
                <a:spcPct val="100000"/>
              </a:lnSpc>
              <a:spcBef>
                <a:spcPts val="0"/>
              </a:spcBef>
              <a:spcAft>
                <a:spcPts val="0"/>
              </a:spcAft>
              <a:buClr>
                <a:srgbClr val="000000"/>
              </a:buClr>
              <a:buSzPts val="1600"/>
              <a:buFont typeface="Arial"/>
              <a:buNone/>
            </a:pPr>
            <a:r>
              <a:rPr b="1" i="0" lang="en-US" sz="1800" u="none" cap="none" strike="noStrike">
                <a:solidFill>
                  <a:srgbClr val="000000"/>
                </a:solidFill>
                <a:latin typeface="Times New Roman"/>
                <a:ea typeface="Times New Roman"/>
                <a:cs typeface="Times New Roman"/>
                <a:sym typeface="Times New Roman"/>
              </a:rPr>
              <a:t>CONCLUSION</a:t>
            </a:r>
            <a:endParaRPr b="1" i="0" sz="1800" u="none" cap="none" strike="noStrike">
              <a:solidFill>
                <a:srgbClr val="000000"/>
              </a:solidFill>
              <a:latin typeface="Times New Roman"/>
              <a:ea typeface="Times New Roman"/>
              <a:cs typeface="Times New Roman"/>
              <a:sym typeface="Times New Roman"/>
            </a:endParaRPr>
          </a:p>
        </p:txBody>
      </p:sp>
      <p:sp>
        <p:nvSpPr>
          <p:cNvPr id="157" name="Google Shape;157;p19"/>
          <p:cNvSpPr txBox="1"/>
          <p:nvPr/>
        </p:nvSpPr>
        <p:spPr>
          <a:xfrm>
            <a:off x="686435" y="1960000"/>
            <a:ext cx="7764780" cy="2700000"/>
          </a:xfrm>
          <a:prstGeom prst="rect">
            <a:avLst/>
          </a:prstGeom>
          <a:noFill/>
          <a:ln>
            <a:noFill/>
          </a:ln>
        </p:spPr>
        <p:txBody>
          <a:bodyPr anchorCtr="0" anchor="t" bIns="91425" lIns="91425" spcFirstLastPara="1" rIns="91425" wrap="square" tIns="91425">
            <a:noAutofit/>
          </a:bodyPr>
          <a:lstStyle/>
          <a:p>
            <a:pPr indent="0" lvl="0" marL="0" rtl="0" algn="just">
              <a:spcBef>
                <a:spcPts val="0"/>
              </a:spcBef>
              <a:spcAft>
                <a:spcPts val="0"/>
              </a:spcAft>
              <a:buNone/>
            </a:pPr>
            <a:r>
              <a:rPr lang="en-US" sz="1500">
                <a:solidFill>
                  <a:schemeClr val="dk1"/>
                </a:solidFill>
                <a:latin typeface="Times New Roman"/>
                <a:ea typeface="Times New Roman"/>
                <a:cs typeface="Times New Roman"/>
                <a:sym typeface="Times New Roman"/>
              </a:rPr>
              <a:t xml:space="preserve">InsightDesk turns raw customer complaints into problem cases as they arrive. Similarity retrieval narrows each complaint to a few candidate cases, calibrated thresholds settle the clear ones, and an LLM judge decides the rest; a re-joining pass merges split cases. On real reviews it reaches precision 0.83 and recall 0.35, an F1 of 0.49 that is the highest of every method tested; a higher lower threshold for short-text channels improved precision and recall together while cutting LLM calls by about a quarter, and the same upper threshold transfers unchanged to bug reports (F1 0.78). A Poisson CUSUM and a vague-complaint alarm detect incidents that the usual z-score misses, and every escalation is approved by a person before an email reaches the department.</a:t>
            </a:r>
          </a:p>
        </p:txBody>
      </p:sp>
      <p:sp>
        <p:nvSpPr>
          <p:cNvPr id="158" name="Google Shape;158;p19"/>
          <p:cNvSpPr txBox="1"/>
          <p:nvPr/>
        </p:nvSpPr>
        <p:spPr>
          <a:xfrm>
            <a:off x="686525" y="1648700"/>
            <a:ext cx="7929900" cy="369300"/>
          </a:xfrm>
          <a:prstGeom prst="rect">
            <a:avLst/>
          </a:prstGeom>
          <a:noFill/>
          <a:ln>
            <a:noFill/>
          </a:ln>
        </p:spPr>
        <p:txBody>
          <a:bodyPr anchorCtr="0" anchor="t" bIns="91425" lIns="91425" spcFirstLastPara="1" rIns="91425" wrap="square" tIns="91425">
            <a:spAutoFit/>
          </a:bodyPr>
          <a:lstStyle/>
          <a:p>
            <a:pPr indent="0" lvl="0" marL="0" marR="0" rtl="0" algn="l">
              <a:lnSpc>
                <a:spcPct val="115000"/>
              </a:lnSpc>
              <a:spcBef>
                <a:spcPts val="1200"/>
              </a:spcBef>
              <a:spcAft>
                <a:spcPts val="1200"/>
              </a:spcAft>
              <a:buClr>
                <a:srgbClr val="000000"/>
              </a:buClr>
              <a:buSzPts val="1200"/>
              <a:buFont typeface="Arial"/>
              <a:buNone/>
            </a:pPr>
            <a:r>
              <a:t/>
            </a:r>
            <a:endParaRPr b="0" i="0" sz="1200" u="none" cap="none" strike="noStrike">
              <a:solidFill>
                <a:schemeClr val="dk1"/>
              </a:solidFill>
              <a:latin typeface="Times New Roman"/>
              <a:ea typeface="Times New Roman"/>
              <a:cs typeface="Times New Roman"/>
              <a:sym typeface="Times New Roman"/>
            </a:endParaRPr>
          </a:p>
        </p:txBody>
      </p:sp>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62" name="Shape 162"/>
        <p:cNvGrpSpPr/>
        <p:nvPr/>
      </p:nvGrpSpPr>
      <p:grpSpPr>
        <a:xfrm>
          <a:off x="0" y="0"/>
          <a:ext cx="0" cy="0"/>
          <a:chOff x="0" y="0"/>
          <a:chExt cx="0" cy="0"/>
        </a:xfrm>
      </p:grpSpPr>
      <p:sp>
        <p:nvSpPr>
          <p:cNvPr id="163" name="Google Shape;163;p20"/>
          <p:cNvSpPr txBox="1"/>
          <p:nvPr/>
        </p:nvSpPr>
        <p:spPr>
          <a:xfrm>
            <a:off x="257175" y="4836100"/>
            <a:ext cx="1343100" cy="2769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1200"/>
              <a:buFont typeface="Arial"/>
              <a:buNone/>
            </a:pPr>
            <a:r>
              <a:rPr b="0" i="0" lang="en-US" sz="1200" u="none" cap="none" strike="noStrike">
                <a:solidFill>
                  <a:schemeClr val="lt1"/>
                </a:solidFill>
                <a:latin typeface="Times New Roman"/>
                <a:ea typeface="Times New Roman"/>
                <a:cs typeface="Times New Roman"/>
                <a:sym typeface="Times New Roman"/>
              </a:rPr>
              <a:t>26/6/2023</a:t>
            </a:r>
            <a:endParaRPr b="0" i="0" sz="1200" u="none" cap="none" strike="noStrike">
              <a:solidFill>
                <a:schemeClr val="lt1"/>
              </a:solidFill>
              <a:latin typeface="Times New Roman"/>
              <a:ea typeface="Times New Roman"/>
              <a:cs typeface="Times New Roman"/>
              <a:sym typeface="Times New Roman"/>
            </a:endParaRPr>
          </a:p>
        </p:txBody>
      </p:sp>
      <p:sp>
        <p:nvSpPr>
          <p:cNvPr id="164" name="Google Shape;164;p20"/>
          <p:cNvSpPr/>
          <p:nvPr/>
        </p:nvSpPr>
        <p:spPr>
          <a:xfrm>
            <a:off x="8910006" y="1217600"/>
            <a:ext cx="230400" cy="3941400"/>
          </a:xfrm>
          <a:prstGeom prst="rect">
            <a:avLst/>
          </a:prstGeom>
          <a:solidFill>
            <a:srgbClr val="C00000"/>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2493"/>
              <a:buFont typeface="Arial"/>
              <a:buNone/>
            </a:pPr>
            <a:r>
              <a:t/>
            </a:r>
            <a:endParaRPr b="0" i="0" sz="2495" u="none" cap="none" strike="noStrike">
              <a:solidFill>
                <a:schemeClr val="lt1"/>
              </a:solidFill>
              <a:latin typeface="Arial"/>
              <a:ea typeface="Arial"/>
              <a:cs typeface="Arial"/>
              <a:sym typeface="Arial"/>
            </a:endParaRPr>
          </a:p>
        </p:txBody>
      </p:sp>
      <p:sp>
        <p:nvSpPr>
          <p:cNvPr id="165" name="Google Shape;165;p20"/>
          <p:cNvSpPr/>
          <p:nvPr/>
        </p:nvSpPr>
        <p:spPr>
          <a:xfrm>
            <a:off x="2105025" y="4836100"/>
            <a:ext cx="6807300" cy="322800"/>
          </a:xfrm>
          <a:prstGeom prst="rect">
            <a:avLst/>
          </a:prstGeom>
          <a:solidFill>
            <a:srgbClr val="C00000"/>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2493"/>
              <a:buFont typeface="Arial"/>
              <a:buNone/>
            </a:pPr>
            <a:r>
              <a:t/>
            </a:r>
            <a:endParaRPr b="0" i="0" sz="2495" u="none" cap="none" strike="noStrike">
              <a:solidFill>
                <a:schemeClr val="lt1"/>
              </a:solidFill>
              <a:latin typeface="Arial"/>
              <a:ea typeface="Arial"/>
              <a:cs typeface="Arial"/>
              <a:sym typeface="Arial"/>
            </a:endParaRPr>
          </a:p>
        </p:txBody>
      </p:sp>
      <p:pic>
        <p:nvPicPr>
          <p:cNvPr id="166" name="Google Shape;166;p20"/>
          <p:cNvPicPr preferRelativeResize="0"/>
          <p:nvPr/>
        </p:nvPicPr>
        <p:blipFill rotWithShape="1">
          <a:blip r:embed="rId3">
            <a:alphaModFix/>
          </a:blip>
          <a:srcRect b="0" l="0" r="0" t="0"/>
          <a:stretch/>
        </p:blipFill>
        <p:spPr>
          <a:xfrm>
            <a:off x="0" y="0"/>
            <a:ext cx="9143999" cy="1332186"/>
          </a:xfrm>
          <a:prstGeom prst="rect">
            <a:avLst/>
          </a:prstGeom>
          <a:noFill/>
          <a:ln>
            <a:noFill/>
          </a:ln>
        </p:spPr>
      </p:pic>
      <p:sp>
        <p:nvSpPr>
          <p:cNvPr id="167" name="Google Shape;167;p20"/>
          <p:cNvSpPr txBox="1"/>
          <p:nvPr/>
        </p:nvSpPr>
        <p:spPr>
          <a:xfrm>
            <a:off x="3626175" y="1217600"/>
            <a:ext cx="1669200" cy="430200"/>
          </a:xfrm>
          <a:prstGeom prst="rect">
            <a:avLst/>
          </a:prstGeom>
          <a:noFill/>
          <a:ln>
            <a:noFill/>
          </a:ln>
        </p:spPr>
        <p:txBody>
          <a:bodyPr anchorCtr="0" anchor="t" bIns="91425" lIns="91425" spcFirstLastPara="1" rIns="91425" wrap="square" tIns="91425">
            <a:noAutofit/>
          </a:bodyPr>
          <a:lstStyle/>
          <a:p>
            <a:pPr indent="0" lvl="0" marL="0" marR="0" rtl="0" algn="l">
              <a:lnSpc>
                <a:spcPct val="100000"/>
              </a:lnSpc>
              <a:spcBef>
                <a:spcPts val="0"/>
              </a:spcBef>
              <a:spcAft>
                <a:spcPts val="0"/>
              </a:spcAft>
              <a:buClr>
                <a:srgbClr val="000000"/>
              </a:buClr>
              <a:buSzPts val="1600"/>
              <a:buFont typeface="Arial"/>
              <a:buNone/>
            </a:pPr>
            <a:r>
              <a:rPr b="1" lang="en-US" sz="1600">
                <a:latin typeface="Times New Roman"/>
                <a:ea typeface="Times New Roman"/>
                <a:cs typeface="Times New Roman"/>
                <a:sym typeface="Times New Roman"/>
              </a:rPr>
              <a:t>REFERENCES</a:t>
            </a:r>
            <a:endParaRPr b="1" sz="1600">
              <a:latin typeface="Times New Roman"/>
              <a:ea typeface="Times New Roman"/>
              <a:cs typeface="Times New Roman"/>
              <a:sym typeface="Times New Roman"/>
            </a:endParaRPr>
          </a:p>
          <a:p>
            <a:pPr indent="0" lvl="0" marL="0" marR="0" rtl="0" algn="l">
              <a:lnSpc>
                <a:spcPct val="100000"/>
              </a:lnSpc>
              <a:spcBef>
                <a:spcPts val="0"/>
              </a:spcBef>
              <a:spcAft>
                <a:spcPts val="0"/>
              </a:spcAft>
              <a:buClr>
                <a:srgbClr val="000000"/>
              </a:buClr>
              <a:buSzPts val="1600"/>
              <a:buFont typeface="Arial"/>
              <a:buNone/>
            </a:pPr>
            <a:r>
              <a:t/>
            </a:r>
            <a:endParaRPr b="1" sz="1600">
              <a:latin typeface="Times New Roman"/>
              <a:ea typeface="Times New Roman"/>
              <a:cs typeface="Times New Roman"/>
              <a:sym typeface="Times New Roman"/>
            </a:endParaRPr>
          </a:p>
        </p:txBody>
      </p:sp>
      <p:sp>
        <p:nvSpPr>
          <p:cNvPr id="168" name="Google Shape;168;p20"/>
          <p:cNvSpPr txBox="1"/>
          <p:nvPr/>
        </p:nvSpPr>
        <p:spPr>
          <a:xfrm>
            <a:off x="686435" y="1648460"/>
            <a:ext cx="7764900" cy="24576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400"/>
              </a:spcAft>
              <a:buNone/>
            </a:pPr>
            <a:r>
              <a:rPr lang="en-US" sz="1050">
                <a:solidFill>
                  <a:schemeClr val="dk1"/>
                </a:solidFill>
                <a:latin typeface="Times New Roman"/>
                <a:ea typeface="Times New Roman"/>
                <a:cs typeface="Times New Roman"/>
                <a:sym typeface="Times New Roman"/>
              </a:rPr>
              <a:t xml:space="preserve">[1] L. Villarroel, G. Bavota, B. Russo, R. Oliveto, M. Di Penta, “Release planning of mobile apps based on user reviews,” ICSE, 2016.</a:t>
            </a:r>
          </a:p>
          <a:p>
            <a:pPr indent="0" lvl="0" marL="0" rtl="0" algn="l">
              <a:spcBef>
                <a:spcPts val="0"/>
              </a:spcBef>
              <a:spcAft>
                <a:spcPts val="400"/>
              </a:spcAft>
              <a:buNone/>
            </a:pPr>
            <a:r>
              <a:rPr lang="en-US" sz="1050">
                <a:solidFill>
                  <a:schemeClr val="dk1"/>
                </a:solidFill>
                <a:latin typeface="Times New Roman"/>
                <a:ea typeface="Times New Roman"/>
                <a:cs typeface="Times New Roman"/>
                <a:sym typeface="Times New Roman"/>
              </a:rPr>
              <a:t xml:space="preserve">[2] C. Sun, D. Lo, S.-C. Khoo, J. Jiang, “Towards more accurate retrieval of duplicate bug reports,” ASE, 2011.</a:t>
            </a:r>
          </a:p>
          <a:p>
            <a:pPr indent="0" lvl="0" marL="0" rtl="0" algn="l">
              <a:spcBef>
                <a:spcPts val="0"/>
              </a:spcBef>
              <a:spcAft>
                <a:spcPts val="400"/>
              </a:spcAft>
              <a:buNone/>
            </a:pPr>
            <a:r>
              <a:rPr lang="en-US" sz="1050">
                <a:solidFill>
                  <a:schemeClr val="dk1"/>
                </a:solidFill>
                <a:latin typeface="Times New Roman"/>
                <a:ea typeface="Times New Roman"/>
                <a:cs typeface="Times New Roman"/>
                <a:sym typeface="Times New Roman"/>
              </a:rPr>
              <a:t xml:space="preserve">[3] N. Reimers, I. Gurevych, “Sentence-BERT: Sentence embeddings using Siamese BERT-networks,” EMNLP, 2019.</a:t>
            </a:r>
          </a:p>
          <a:p>
            <a:pPr indent="0" lvl="0" marL="0" rtl="0" algn="l">
              <a:spcBef>
                <a:spcPts val="0"/>
              </a:spcBef>
              <a:spcAft>
                <a:spcPts val="400"/>
              </a:spcAft>
              <a:buNone/>
            </a:pPr>
            <a:r>
              <a:rPr lang="en-US" sz="1050">
                <a:solidFill>
                  <a:schemeClr val="dk1"/>
                </a:solidFill>
                <a:latin typeface="Times New Roman"/>
                <a:ea typeface="Times New Roman"/>
                <a:cs typeface="Times New Roman"/>
                <a:sym typeface="Times New Roman"/>
              </a:rPr>
              <a:t xml:space="preserve">[4] M. Grootendorst, “BERTopic: Neural topic modeling with a class-based TF-IDF procedure,” arXiv:2203.05794, 2022.</a:t>
            </a:r>
          </a:p>
          <a:p>
            <a:pPr indent="0" lvl="0" marL="0" rtl="0" algn="l">
              <a:spcBef>
                <a:spcPts val="0"/>
              </a:spcBef>
              <a:spcAft>
                <a:spcPts val="400"/>
              </a:spcAft>
              <a:buNone/>
            </a:pPr>
            <a:r>
              <a:rPr lang="en-US" sz="1050">
                <a:solidFill>
                  <a:schemeClr val="dk1"/>
                </a:solidFill>
                <a:latin typeface="Times New Roman"/>
                <a:ea typeface="Times New Roman"/>
                <a:cs typeface="Times New Roman"/>
                <a:sym typeface="Times New Roman"/>
              </a:rPr>
              <a:t xml:space="preserve">[5] T. Zhang, I. C. Irsan, F. Thung, D. Lo, “Cupid: Leveraging ChatGPT for more accurate duplicate bug report detection,” arXiv:2308.10022, 2023.</a:t>
            </a:r>
          </a:p>
          <a:p>
            <a:pPr indent="0" lvl="0" marL="0" rtl="0" algn="l">
              <a:spcBef>
                <a:spcPts val="0"/>
              </a:spcBef>
              <a:spcAft>
                <a:spcPts val="400"/>
              </a:spcAft>
              <a:buNone/>
            </a:pPr>
            <a:r>
              <a:rPr lang="en-US" sz="1050">
                <a:solidFill>
                  <a:schemeClr val="dk1"/>
                </a:solidFill>
                <a:latin typeface="Times New Roman"/>
                <a:ea typeface="Times New Roman"/>
                <a:cs typeface="Times New Roman"/>
                <a:sym typeface="Times New Roman"/>
              </a:rPr>
              <a:t xml:space="preserve">[6] R. Peeters, A. Steiner, C. Bizer, “Entity matching using large language models,” EDBT, 2025.</a:t>
            </a:r>
          </a:p>
          <a:p>
            <a:pPr indent="0" lvl="0" marL="0" rtl="0" algn="l">
              <a:spcBef>
                <a:spcPts val="0"/>
              </a:spcBef>
              <a:spcAft>
                <a:spcPts val="400"/>
              </a:spcAft>
              <a:buNone/>
            </a:pPr>
            <a:r>
              <a:rPr lang="en-US" sz="1050">
                <a:solidFill>
                  <a:schemeClr val="dk1"/>
                </a:solidFill>
                <a:latin typeface="Times New Roman"/>
                <a:ea typeface="Times New Roman"/>
                <a:cs typeface="Times New Roman"/>
                <a:sym typeface="Times New Roman"/>
              </a:rPr>
              <a:t xml:space="preserve">[7] “GPTrace: Effective crash deduplication using LLM embeddings,” ICSE, 2026 (arXiv:2512.01609).</a:t>
            </a:r>
          </a:p>
          <a:p>
            <a:pPr indent="0" lvl="0" marL="0" rtl="0" algn="l">
              <a:spcBef>
                <a:spcPts val="0"/>
              </a:spcBef>
              <a:spcAft>
                <a:spcPts val="400"/>
              </a:spcAft>
              <a:buNone/>
            </a:pPr>
            <a:r>
              <a:rPr lang="en-US" sz="1050">
                <a:solidFill>
                  <a:schemeClr val="dk1"/>
                </a:solidFill>
                <a:latin typeface="Times New Roman"/>
                <a:ea typeface="Times New Roman"/>
                <a:cs typeface="Times New Roman"/>
                <a:sym typeface="Times New Roman"/>
              </a:rPr>
              <a:t xml:space="preserve">[8] M. Hong et al., “Dial-In LLM: Human-aligned LLM-in-the-loop intent clustering for customer service dialogues,” EMNLP, 2025.</a:t>
            </a:r>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72" name="Shape 172"/>
        <p:cNvGrpSpPr/>
        <p:nvPr/>
      </p:nvGrpSpPr>
      <p:grpSpPr>
        <a:xfrm>
          <a:off x="0" y="0"/>
          <a:ext cx="0" cy="0"/>
          <a:chOff x="0" y="0"/>
          <a:chExt cx="0" cy="0"/>
        </a:xfrm>
      </p:grpSpPr>
      <p:sp>
        <p:nvSpPr>
          <p:cNvPr id="173" name="Google Shape;173;p21"/>
          <p:cNvSpPr txBox="1"/>
          <p:nvPr/>
        </p:nvSpPr>
        <p:spPr>
          <a:xfrm>
            <a:off x="257175" y="4836100"/>
            <a:ext cx="1343100" cy="2769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1200"/>
              <a:buFont typeface="Arial"/>
              <a:buNone/>
            </a:pPr>
            <a:r>
              <a:rPr b="0" i="0" lang="en-US" sz="1200" u="none" cap="none" strike="noStrike">
                <a:solidFill>
                  <a:schemeClr val="lt1"/>
                </a:solidFill>
                <a:latin typeface="Times New Roman"/>
                <a:ea typeface="Times New Roman"/>
                <a:cs typeface="Times New Roman"/>
                <a:sym typeface="Times New Roman"/>
              </a:rPr>
              <a:t>26/6/2023</a:t>
            </a:r>
            <a:endParaRPr b="0" i="0" sz="1200" u="none" cap="none" strike="noStrike">
              <a:solidFill>
                <a:schemeClr val="lt1"/>
              </a:solidFill>
              <a:latin typeface="Times New Roman"/>
              <a:ea typeface="Times New Roman"/>
              <a:cs typeface="Times New Roman"/>
              <a:sym typeface="Times New Roman"/>
            </a:endParaRPr>
          </a:p>
        </p:txBody>
      </p:sp>
      <p:sp>
        <p:nvSpPr>
          <p:cNvPr id="174" name="Google Shape;174;p21"/>
          <p:cNvSpPr/>
          <p:nvPr/>
        </p:nvSpPr>
        <p:spPr>
          <a:xfrm>
            <a:off x="8910006" y="1217600"/>
            <a:ext cx="230400" cy="3941400"/>
          </a:xfrm>
          <a:prstGeom prst="rect">
            <a:avLst/>
          </a:prstGeom>
          <a:solidFill>
            <a:srgbClr val="C00000"/>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2493"/>
              <a:buFont typeface="Arial"/>
              <a:buNone/>
            </a:pPr>
            <a:r>
              <a:t/>
            </a:r>
            <a:endParaRPr b="0" i="0" sz="2495" u="none" cap="none" strike="noStrike">
              <a:solidFill>
                <a:schemeClr val="lt1"/>
              </a:solidFill>
              <a:latin typeface="Arial"/>
              <a:ea typeface="Arial"/>
              <a:cs typeface="Arial"/>
              <a:sym typeface="Arial"/>
            </a:endParaRPr>
          </a:p>
        </p:txBody>
      </p:sp>
      <p:sp>
        <p:nvSpPr>
          <p:cNvPr id="175" name="Google Shape;175;p21"/>
          <p:cNvSpPr/>
          <p:nvPr/>
        </p:nvSpPr>
        <p:spPr>
          <a:xfrm>
            <a:off x="2105025" y="4836100"/>
            <a:ext cx="6807300" cy="322800"/>
          </a:xfrm>
          <a:prstGeom prst="rect">
            <a:avLst/>
          </a:prstGeom>
          <a:solidFill>
            <a:srgbClr val="C00000"/>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2493"/>
              <a:buFont typeface="Arial"/>
              <a:buNone/>
            </a:pPr>
            <a:r>
              <a:t/>
            </a:r>
            <a:endParaRPr b="0" i="0" sz="2495" u="none" cap="none" strike="noStrike">
              <a:solidFill>
                <a:schemeClr val="lt1"/>
              </a:solidFill>
              <a:latin typeface="Arial"/>
              <a:ea typeface="Arial"/>
              <a:cs typeface="Arial"/>
              <a:sym typeface="Arial"/>
            </a:endParaRPr>
          </a:p>
        </p:txBody>
      </p:sp>
      <p:pic>
        <p:nvPicPr>
          <p:cNvPr id="176" name="Google Shape;176;p21"/>
          <p:cNvPicPr preferRelativeResize="0"/>
          <p:nvPr/>
        </p:nvPicPr>
        <p:blipFill rotWithShape="1">
          <a:blip r:embed="rId3">
            <a:alphaModFix/>
          </a:blip>
          <a:srcRect b="0" l="0" r="0" t="0"/>
          <a:stretch/>
        </p:blipFill>
        <p:spPr>
          <a:xfrm>
            <a:off x="0" y="0"/>
            <a:ext cx="9143999" cy="1332186"/>
          </a:xfrm>
          <a:prstGeom prst="rect">
            <a:avLst/>
          </a:prstGeom>
          <a:noFill/>
          <a:ln>
            <a:noFill/>
          </a:ln>
        </p:spPr>
      </p:pic>
      <p:sp>
        <p:nvSpPr>
          <p:cNvPr id="177" name="Google Shape;177;p21"/>
          <p:cNvSpPr txBox="1"/>
          <p:nvPr/>
        </p:nvSpPr>
        <p:spPr>
          <a:xfrm>
            <a:off x="3626175" y="1217600"/>
            <a:ext cx="1669200" cy="430200"/>
          </a:xfrm>
          <a:prstGeom prst="rect">
            <a:avLst/>
          </a:prstGeom>
          <a:noFill/>
          <a:ln>
            <a:noFill/>
          </a:ln>
        </p:spPr>
        <p:txBody>
          <a:bodyPr anchorCtr="0" anchor="t" bIns="91425" lIns="91425" spcFirstLastPara="1" rIns="91425" wrap="square" tIns="91425">
            <a:noAutofit/>
          </a:bodyPr>
          <a:lstStyle/>
          <a:p>
            <a:pPr indent="0" lvl="0" marL="0" marR="0" rtl="0" algn="l">
              <a:lnSpc>
                <a:spcPct val="100000"/>
              </a:lnSpc>
              <a:spcBef>
                <a:spcPts val="0"/>
              </a:spcBef>
              <a:spcAft>
                <a:spcPts val="0"/>
              </a:spcAft>
              <a:buClr>
                <a:srgbClr val="000000"/>
              </a:buClr>
              <a:buSzPts val="1600"/>
              <a:buFont typeface="Arial"/>
              <a:buNone/>
            </a:pPr>
            <a:r>
              <a:rPr b="1" lang="en-US" sz="1600">
                <a:latin typeface="Times New Roman"/>
                <a:ea typeface="Times New Roman"/>
                <a:cs typeface="Times New Roman"/>
                <a:sym typeface="Times New Roman"/>
              </a:rPr>
              <a:t>REFERENCES</a:t>
            </a:r>
            <a:endParaRPr b="1" sz="1600">
              <a:latin typeface="Times New Roman"/>
              <a:ea typeface="Times New Roman"/>
              <a:cs typeface="Times New Roman"/>
              <a:sym typeface="Times New Roman"/>
            </a:endParaRPr>
          </a:p>
          <a:p>
            <a:pPr indent="0" lvl="0" marL="0" marR="0" rtl="0" algn="l">
              <a:lnSpc>
                <a:spcPct val="100000"/>
              </a:lnSpc>
              <a:spcBef>
                <a:spcPts val="0"/>
              </a:spcBef>
              <a:spcAft>
                <a:spcPts val="0"/>
              </a:spcAft>
              <a:buClr>
                <a:srgbClr val="000000"/>
              </a:buClr>
              <a:buSzPts val="1600"/>
              <a:buFont typeface="Arial"/>
              <a:buNone/>
            </a:pPr>
            <a:r>
              <a:t/>
            </a:r>
            <a:endParaRPr b="1" sz="1600">
              <a:latin typeface="Times New Roman"/>
              <a:ea typeface="Times New Roman"/>
              <a:cs typeface="Times New Roman"/>
              <a:sym typeface="Times New Roman"/>
            </a:endParaRPr>
          </a:p>
        </p:txBody>
      </p:sp>
      <p:sp>
        <p:nvSpPr>
          <p:cNvPr id="178" name="Google Shape;178;p21"/>
          <p:cNvSpPr txBox="1"/>
          <p:nvPr/>
        </p:nvSpPr>
        <p:spPr>
          <a:xfrm>
            <a:off x="686435" y="1648460"/>
            <a:ext cx="7764900" cy="2457600"/>
          </a:xfrm>
          <a:prstGeom prst="rect">
            <a:avLst/>
          </a:prstGeom>
          <a:noFill/>
          <a:ln>
            <a:noFill/>
          </a:ln>
        </p:spPr>
        <p:txBody>
          <a:bodyPr anchorCtr="0" anchor="t" bIns="91425" lIns="91425" spcFirstLastPara="1" rIns="91425" wrap="square" tIns="91425">
            <a:noAutofit/>
          </a:bodyPr>
          <a:lstStyle/>
          <a:p>
            <a:pPr indent="0" lvl="0" marL="0" rtl="0" algn="l">
              <a:spcBef>
                <a:spcPts val="0"/>
              </a:spcBef>
              <a:spcAft>
                <a:spcPts val="400"/>
              </a:spcAft>
              <a:buNone/>
            </a:pPr>
            <a:r>
              <a:rPr lang="en-US" sz="1050">
                <a:solidFill>
                  <a:schemeClr val="dk1"/>
                </a:solidFill>
                <a:latin typeface="Times New Roman"/>
                <a:ea typeface="Times New Roman"/>
                <a:cs typeface="Times New Roman"/>
                <a:sym typeface="Times New Roman"/>
              </a:rPr>
              <a:t xml:space="preserve">[9] P. Pattnayak et al., “LLM-guided lifecycle-aware clustering of multi-turn customer support conversations,” AACL, 2025.</a:t>
            </a:r>
          </a:p>
          <a:p>
            <a:pPr indent="0" lvl="0" marL="0" rtl="0" algn="l">
              <a:spcBef>
                <a:spcPts val="0"/>
              </a:spcBef>
              <a:spcAft>
                <a:spcPts val="400"/>
              </a:spcAft>
              <a:buNone/>
            </a:pPr>
            <a:r>
              <a:rPr lang="en-US" sz="1050">
                <a:solidFill>
                  <a:schemeClr val="dk1"/>
                </a:solidFill>
                <a:latin typeface="Times New Roman"/>
                <a:ea typeface="Times New Roman"/>
                <a:cs typeface="Times New Roman"/>
                <a:sym typeface="Times New Roman"/>
              </a:rPr>
              <a:t xml:space="preserve">[10] F. Liu et al., “TickIt: Leveraging large language models for automated ticket escalation,” FSE, 2025.</a:t>
            </a:r>
          </a:p>
          <a:p>
            <a:pPr indent="0" lvl="0" marL="0" rtl="0" algn="l">
              <a:spcBef>
                <a:spcPts val="0"/>
              </a:spcBef>
              <a:spcAft>
                <a:spcPts val="400"/>
              </a:spcAft>
              <a:buNone/>
            </a:pPr>
            <a:r>
              <a:rPr lang="en-US" sz="1050">
                <a:solidFill>
                  <a:schemeClr val="dk1"/>
                </a:solidFill>
                <a:latin typeface="Times New Roman"/>
                <a:ea typeface="Times New Roman"/>
                <a:cs typeface="Times New Roman"/>
                <a:sym typeface="Times New Roman"/>
              </a:rPr>
              <a:t xml:space="preserve">[11] “Incident-aware duplicate ticket aggregation for cloud systems (iPACK),” ICSE, 2023 (arXiv:2302.09520).</a:t>
            </a:r>
          </a:p>
          <a:p>
            <a:pPr indent="0" lvl="0" marL="0" rtl="0" algn="l">
              <a:spcBef>
                <a:spcPts val="0"/>
              </a:spcBef>
              <a:spcAft>
                <a:spcPts val="400"/>
              </a:spcAft>
              <a:buNone/>
            </a:pPr>
            <a:r>
              <a:rPr lang="en-US" sz="1050">
                <a:solidFill>
                  <a:schemeClr val="dk1"/>
                </a:solidFill>
                <a:latin typeface="Times New Roman"/>
                <a:ea typeface="Times New Roman"/>
                <a:cs typeface="Times New Roman"/>
                <a:sym typeface="Times New Roman"/>
              </a:rPr>
              <a:t xml:space="preserve">[12] SentiSum, “What is anomaly detection?,” product documentation, help.sentisum.com, 2025.</a:t>
            </a:r>
          </a:p>
          <a:p>
            <a:pPr indent="0" lvl="0" marL="0" rtl="0" algn="l">
              <a:spcBef>
                <a:spcPts val="0"/>
              </a:spcBef>
              <a:spcAft>
                <a:spcPts val="400"/>
              </a:spcAft>
              <a:buNone/>
            </a:pPr>
            <a:r>
              <a:rPr lang="en-US" sz="1050">
                <a:solidFill>
                  <a:schemeClr val="dk1"/>
                </a:solidFill>
                <a:latin typeface="Times New Roman"/>
                <a:ea typeface="Times New Roman"/>
                <a:cs typeface="Times New Roman"/>
                <a:sym typeface="Times New Roman"/>
              </a:rPr>
              <a:t xml:space="preserve">[13] G. S. Manku, A. Jain, A. Das Sarma, “Detecting near-duplicates for web crawling,” WWW, 2007.</a:t>
            </a:r>
          </a:p>
          <a:p>
            <a:pPr indent="0" lvl="0" marL="0" rtl="0" algn="l">
              <a:spcBef>
                <a:spcPts val="0"/>
              </a:spcBef>
              <a:spcAft>
                <a:spcPts val="400"/>
              </a:spcAft>
              <a:buNone/>
            </a:pPr>
            <a:r>
              <a:rPr lang="en-US" sz="1050">
                <a:solidFill>
                  <a:schemeClr val="dk1"/>
                </a:solidFill>
                <a:latin typeface="Times New Roman"/>
                <a:ea typeface="Times New Roman"/>
                <a:cs typeface="Times New Roman"/>
                <a:sym typeface="Times New Roman"/>
              </a:rPr>
              <a:t xml:space="preserve">[14] A. Z. Broder, “On the resemblance and containment of documents,” Compression and Complexity of Sequences, 1997.</a:t>
            </a:r>
          </a:p>
          <a:p>
            <a:pPr indent="0" lvl="0" marL="0" rtl="0" algn="l">
              <a:spcBef>
                <a:spcPts val="0"/>
              </a:spcBef>
              <a:spcAft>
                <a:spcPts val="400"/>
              </a:spcAft>
              <a:buNone/>
            </a:pPr>
            <a:r>
              <a:rPr lang="en-US" sz="1050">
                <a:solidFill>
                  <a:schemeClr val="dk1"/>
                </a:solidFill>
                <a:latin typeface="Times New Roman"/>
                <a:ea typeface="Times New Roman"/>
                <a:cs typeface="Times New Roman"/>
                <a:sym typeface="Times New Roman"/>
              </a:rPr>
              <a:t xml:space="preserve">[15] E. S. Page, “Continuous inspection schemes,” Biometrika, vol. 41, 1954 (CUSUM).</a:t>
            </a:r>
          </a:p>
        </p:txBody>
      </p:sp>
      <p:sp>
        <p:nvSpPr>
          <p:cNvPr id="179" name="Google Shape;179;p21"/>
          <p:cNvSpPr txBox="1"/>
          <p:nvPr/>
        </p:nvSpPr>
        <p:spPr>
          <a:xfrm>
            <a:off x="686525" y="1648700"/>
            <a:ext cx="7929900" cy="369300"/>
          </a:xfrm>
          <a:prstGeom prst="rect">
            <a:avLst/>
          </a:prstGeom>
          <a:noFill/>
          <a:ln>
            <a:noFill/>
          </a:ln>
        </p:spPr>
        <p:txBody>
          <a:bodyPr anchorCtr="0" anchor="t" bIns="91425" lIns="91425" spcFirstLastPara="1" rIns="91425" wrap="square" tIns="91425">
            <a:spAutoFit/>
          </a:bodyPr>
          <a:lstStyle/>
          <a:p>
            <a:pPr indent="0" lvl="0" marL="0" marR="0" rtl="0" algn="l">
              <a:lnSpc>
                <a:spcPct val="115000"/>
              </a:lnSpc>
              <a:spcBef>
                <a:spcPts val="1200"/>
              </a:spcBef>
              <a:spcAft>
                <a:spcPts val="1200"/>
              </a:spcAft>
              <a:buClr>
                <a:srgbClr val="000000"/>
              </a:buClr>
              <a:buSzPts val="1200"/>
              <a:buFont typeface="Arial"/>
              <a:buNone/>
            </a:pPr>
            <a:r>
              <a:rPr lang="en-US" sz="1200">
                <a:solidFill>
                  <a:schemeClr val="dk1"/>
                </a:solidFill>
                <a:latin typeface="Times New Roman"/>
                <a:ea typeface="Times New Roman"/>
                <a:cs typeface="Times New Roman"/>
                <a:sym typeface="Times New Roman"/>
              </a:rPr>
              <a:t/>
            </a:r>
            <a:endParaRPr b="0" i="0" sz="1200" u="none" cap="none" strike="noStrike">
              <a:solidFill>
                <a:schemeClr val="dk1"/>
              </a:solidFill>
              <a:latin typeface="Times New Roman"/>
              <a:ea typeface="Times New Roman"/>
              <a:cs typeface="Times New Roman"/>
              <a:sym typeface="Times New Roman"/>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83" name="Shape 183"/>
        <p:cNvGrpSpPr/>
        <p:nvPr/>
      </p:nvGrpSpPr>
      <p:grpSpPr>
        <a:xfrm>
          <a:off x="0" y="0"/>
          <a:ext cx="0" cy="0"/>
          <a:chOff x="0" y="0"/>
          <a:chExt cx="0" cy="0"/>
        </a:xfrm>
      </p:grpSpPr>
      <p:sp>
        <p:nvSpPr>
          <p:cNvPr id="184" name="Google Shape;184;p22"/>
          <p:cNvSpPr txBox="1"/>
          <p:nvPr/>
        </p:nvSpPr>
        <p:spPr>
          <a:xfrm>
            <a:off x="257175" y="4836100"/>
            <a:ext cx="1343100" cy="2769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1200"/>
              <a:buFont typeface="Arial"/>
              <a:buNone/>
            </a:pPr>
            <a:r>
              <a:rPr b="0" i="0" lang="en-US" sz="1200" u="none" cap="none" strike="noStrike">
                <a:solidFill>
                  <a:schemeClr val="lt1"/>
                </a:solidFill>
                <a:latin typeface="Times New Roman"/>
                <a:ea typeface="Times New Roman"/>
                <a:cs typeface="Times New Roman"/>
                <a:sym typeface="Times New Roman"/>
              </a:rPr>
              <a:t>26/6/2023</a:t>
            </a:r>
            <a:endParaRPr b="0" i="0" sz="1200" u="none" cap="none" strike="noStrike">
              <a:solidFill>
                <a:schemeClr val="lt1"/>
              </a:solidFill>
              <a:latin typeface="Times New Roman"/>
              <a:ea typeface="Times New Roman"/>
              <a:cs typeface="Times New Roman"/>
              <a:sym typeface="Times New Roman"/>
            </a:endParaRPr>
          </a:p>
        </p:txBody>
      </p:sp>
      <p:sp>
        <p:nvSpPr>
          <p:cNvPr id="185" name="Google Shape;185;p22"/>
          <p:cNvSpPr/>
          <p:nvPr/>
        </p:nvSpPr>
        <p:spPr>
          <a:xfrm>
            <a:off x="8910006" y="1217600"/>
            <a:ext cx="230400" cy="3941400"/>
          </a:xfrm>
          <a:prstGeom prst="rect">
            <a:avLst/>
          </a:prstGeom>
          <a:solidFill>
            <a:srgbClr val="C00000"/>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2493"/>
              <a:buFont typeface="Arial"/>
              <a:buNone/>
            </a:pPr>
            <a:r>
              <a:t/>
            </a:r>
            <a:endParaRPr b="0" i="0" sz="2495" u="none" cap="none" strike="noStrike">
              <a:solidFill>
                <a:schemeClr val="lt1"/>
              </a:solidFill>
              <a:latin typeface="Arial"/>
              <a:ea typeface="Arial"/>
              <a:cs typeface="Arial"/>
              <a:sym typeface="Arial"/>
            </a:endParaRPr>
          </a:p>
        </p:txBody>
      </p:sp>
      <p:sp>
        <p:nvSpPr>
          <p:cNvPr id="186" name="Google Shape;186;p22"/>
          <p:cNvSpPr/>
          <p:nvPr/>
        </p:nvSpPr>
        <p:spPr>
          <a:xfrm>
            <a:off x="2105025" y="4836100"/>
            <a:ext cx="6807300" cy="322800"/>
          </a:xfrm>
          <a:prstGeom prst="rect">
            <a:avLst/>
          </a:prstGeom>
          <a:solidFill>
            <a:srgbClr val="C00000"/>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2493"/>
              <a:buFont typeface="Arial"/>
              <a:buNone/>
            </a:pPr>
            <a:r>
              <a:t/>
            </a:r>
            <a:endParaRPr b="0" i="0" sz="2495" u="none" cap="none" strike="noStrike">
              <a:solidFill>
                <a:schemeClr val="lt1"/>
              </a:solidFill>
              <a:latin typeface="Arial"/>
              <a:ea typeface="Arial"/>
              <a:cs typeface="Arial"/>
              <a:sym typeface="Arial"/>
            </a:endParaRPr>
          </a:p>
        </p:txBody>
      </p:sp>
      <p:pic>
        <p:nvPicPr>
          <p:cNvPr id="187" name="Google Shape;187;p22"/>
          <p:cNvPicPr preferRelativeResize="0"/>
          <p:nvPr/>
        </p:nvPicPr>
        <p:blipFill rotWithShape="1">
          <a:blip r:embed="rId3">
            <a:alphaModFix/>
          </a:blip>
          <a:srcRect b="0" l="0" r="0" t="0"/>
          <a:stretch/>
        </p:blipFill>
        <p:spPr>
          <a:xfrm>
            <a:off x="0" y="0"/>
            <a:ext cx="9143999" cy="1332186"/>
          </a:xfrm>
          <a:prstGeom prst="rect">
            <a:avLst/>
          </a:prstGeom>
          <a:noFill/>
          <a:ln>
            <a:noFill/>
          </a:ln>
        </p:spPr>
      </p:pic>
      <p:sp>
        <p:nvSpPr>
          <p:cNvPr id="188" name="Google Shape;188;p22"/>
          <p:cNvSpPr txBox="1"/>
          <p:nvPr/>
        </p:nvSpPr>
        <p:spPr>
          <a:xfrm>
            <a:off x="2353425" y="2070900"/>
            <a:ext cx="4480200" cy="923400"/>
          </a:xfrm>
          <a:prstGeom prst="rect">
            <a:avLst/>
          </a:prstGeom>
          <a:noFill/>
          <a:ln>
            <a:noFill/>
          </a:ln>
        </p:spPr>
        <p:txBody>
          <a:bodyPr anchorCtr="0" anchor="t" bIns="91425" lIns="91425" spcFirstLastPara="1" rIns="91425" wrap="square" tIns="91425">
            <a:spAutoFit/>
          </a:bodyPr>
          <a:lstStyle/>
          <a:p>
            <a:pPr indent="0" lvl="0" marL="0" marR="0" rtl="0" algn="l">
              <a:lnSpc>
                <a:spcPct val="100000"/>
              </a:lnSpc>
              <a:spcBef>
                <a:spcPts val="0"/>
              </a:spcBef>
              <a:spcAft>
                <a:spcPts val="0"/>
              </a:spcAft>
              <a:buClr>
                <a:srgbClr val="000000"/>
              </a:buClr>
              <a:buSzPts val="4800"/>
              <a:buFont typeface="Arial"/>
              <a:buNone/>
            </a:pPr>
            <a:r>
              <a:rPr b="0" i="0" lang="en-US" sz="4800" u="none" cap="none" strike="noStrike">
                <a:solidFill>
                  <a:srgbClr val="FF0000"/>
                </a:solidFill>
                <a:latin typeface="Arial"/>
                <a:ea typeface="Arial"/>
                <a:cs typeface="Arial"/>
                <a:sym typeface="Arial"/>
              </a:rPr>
              <a:t>THANK YOU !</a:t>
            </a:r>
            <a:endParaRPr b="0" i="0" sz="4800" u="none" cap="none" strike="noStrike">
              <a:solidFill>
                <a:srgbClr val="FF0000"/>
              </a:solidFill>
              <a:latin typeface="Arial"/>
              <a:ea typeface="Arial"/>
              <a:cs typeface="Arial"/>
              <a:sym typeface="Arial"/>
            </a:endParaRPr>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6" name="Shape 66"/>
        <p:cNvGrpSpPr/>
        <p:nvPr/>
      </p:nvGrpSpPr>
      <p:grpSpPr>
        <a:xfrm>
          <a:off x="0" y="0"/>
          <a:ext cx="0" cy="0"/>
          <a:chOff x="0" y="0"/>
          <a:chExt cx="0" cy="0"/>
        </a:xfrm>
      </p:grpSpPr>
      <p:sp>
        <p:nvSpPr>
          <p:cNvPr id="67" name="Google Shape;67;p11"/>
          <p:cNvSpPr txBox="1"/>
          <p:nvPr/>
        </p:nvSpPr>
        <p:spPr>
          <a:xfrm>
            <a:off x="257175" y="4836100"/>
            <a:ext cx="1343100" cy="2769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1200"/>
              <a:buFont typeface="Arial"/>
              <a:buNone/>
            </a:pPr>
            <a:r>
              <a:rPr b="0" i="0" lang="en-US" sz="1200" u="none" cap="none" strike="noStrike">
                <a:solidFill>
                  <a:schemeClr val="lt1"/>
                </a:solidFill>
                <a:latin typeface="Times New Roman"/>
                <a:ea typeface="Times New Roman"/>
                <a:cs typeface="Times New Roman"/>
                <a:sym typeface="Times New Roman"/>
              </a:rPr>
              <a:t>26/6/2023</a:t>
            </a:r>
            <a:endParaRPr b="0" i="0" sz="1200" u="none" cap="none" strike="noStrike">
              <a:solidFill>
                <a:schemeClr val="lt1"/>
              </a:solidFill>
              <a:latin typeface="Times New Roman"/>
              <a:ea typeface="Times New Roman"/>
              <a:cs typeface="Times New Roman"/>
              <a:sym typeface="Times New Roman"/>
            </a:endParaRPr>
          </a:p>
        </p:txBody>
      </p:sp>
      <p:sp>
        <p:nvSpPr>
          <p:cNvPr id="68" name="Google Shape;68;p11"/>
          <p:cNvSpPr/>
          <p:nvPr/>
        </p:nvSpPr>
        <p:spPr>
          <a:xfrm>
            <a:off x="8910006" y="1217600"/>
            <a:ext cx="230400" cy="3941400"/>
          </a:xfrm>
          <a:prstGeom prst="rect">
            <a:avLst/>
          </a:prstGeom>
          <a:solidFill>
            <a:srgbClr val="C00000"/>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2493"/>
              <a:buFont typeface="Arial"/>
              <a:buNone/>
            </a:pPr>
            <a:r>
              <a:t/>
            </a:r>
            <a:endParaRPr b="0" i="0" sz="2495" u="none" cap="none" strike="noStrike">
              <a:solidFill>
                <a:schemeClr val="lt1"/>
              </a:solidFill>
              <a:latin typeface="Arial"/>
              <a:ea typeface="Arial"/>
              <a:cs typeface="Arial"/>
              <a:sym typeface="Arial"/>
            </a:endParaRPr>
          </a:p>
        </p:txBody>
      </p:sp>
      <p:sp>
        <p:nvSpPr>
          <p:cNvPr id="69" name="Google Shape;69;p11"/>
          <p:cNvSpPr/>
          <p:nvPr/>
        </p:nvSpPr>
        <p:spPr>
          <a:xfrm>
            <a:off x="2105025" y="4836100"/>
            <a:ext cx="6807300" cy="322800"/>
          </a:xfrm>
          <a:prstGeom prst="rect">
            <a:avLst/>
          </a:prstGeom>
          <a:solidFill>
            <a:srgbClr val="C00000"/>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2493"/>
              <a:buFont typeface="Arial"/>
              <a:buNone/>
            </a:pPr>
            <a:r>
              <a:t/>
            </a:r>
            <a:endParaRPr b="0" i="0" sz="2495" u="none" cap="none" strike="noStrike">
              <a:solidFill>
                <a:schemeClr val="lt1"/>
              </a:solidFill>
              <a:latin typeface="Arial"/>
              <a:ea typeface="Arial"/>
              <a:cs typeface="Arial"/>
              <a:sym typeface="Arial"/>
            </a:endParaRPr>
          </a:p>
        </p:txBody>
      </p:sp>
      <p:pic>
        <p:nvPicPr>
          <p:cNvPr id="70" name="Google Shape;70;p11"/>
          <p:cNvPicPr preferRelativeResize="0"/>
          <p:nvPr/>
        </p:nvPicPr>
        <p:blipFill rotWithShape="1">
          <a:blip r:embed="rId3">
            <a:alphaModFix/>
          </a:blip>
          <a:srcRect b="0" l="0" r="0" t="0"/>
          <a:stretch/>
        </p:blipFill>
        <p:spPr>
          <a:xfrm>
            <a:off x="0" y="0"/>
            <a:ext cx="9143999" cy="1332186"/>
          </a:xfrm>
          <a:prstGeom prst="rect">
            <a:avLst/>
          </a:prstGeom>
          <a:noFill/>
          <a:ln>
            <a:noFill/>
          </a:ln>
        </p:spPr>
      </p:pic>
      <p:sp>
        <p:nvSpPr>
          <p:cNvPr id="71" name="Google Shape;71;p11"/>
          <p:cNvSpPr txBox="1"/>
          <p:nvPr/>
        </p:nvSpPr>
        <p:spPr>
          <a:xfrm>
            <a:off x="678139" y="1217597"/>
            <a:ext cx="7968000" cy="3504300"/>
          </a:xfrm>
          <a:prstGeom prst="rect">
            <a:avLst/>
          </a:prstGeom>
          <a:noFill/>
          <a:ln>
            <a:noFill/>
          </a:ln>
        </p:spPr>
        <p:txBody>
          <a:bodyPr anchorCtr="0" anchor="t" bIns="91425" lIns="91425" spcFirstLastPara="1" rIns="107625" wrap="square" tIns="91425">
            <a:normAutofit/>
          </a:bodyPr>
          <a:lstStyle/>
          <a:p>
            <a:pPr indent="0" lvl="0" marL="0" marR="0" rtl="0" algn="ctr">
              <a:lnSpc>
                <a:spcPct val="100000"/>
              </a:lnSpc>
              <a:spcBef>
                <a:spcPts val="0"/>
              </a:spcBef>
              <a:spcAft>
                <a:spcPts val="0"/>
              </a:spcAft>
              <a:buClr>
                <a:srgbClr val="000000"/>
              </a:buClr>
              <a:buSzPts val="1800"/>
              <a:buFont typeface="Arial"/>
              <a:buNone/>
            </a:pPr>
            <a:r>
              <a:rPr b="1" lang="en-US">
                <a:latin typeface="Times New Roman"/>
                <a:ea typeface="Times New Roman"/>
                <a:cs typeface="Times New Roman"/>
                <a:sym typeface="Times New Roman"/>
              </a:rPr>
              <a:t>LITERATURE SURVEY (2/3)</a:t>
            </a:r>
            <a:endParaRPr b="1">
              <a:latin typeface="Times New Roman"/>
              <a:ea typeface="Times New Roman"/>
              <a:cs typeface="Times New Roman"/>
              <a:sym typeface="Times New Roman"/>
            </a:endParaRPr>
          </a:p>
          <a:p>
            <a:pPr indent="0" lvl="0" marL="0" marR="0" rtl="0" algn="ctr">
              <a:lnSpc>
                <a:spcPct val="100000"/>
              </a:lnSpc>
              <a:spcBef>
                <a:spcPts val="0"/>
              </a:spcBef>
              <a:spcAft>
                <a:spcPts val="0"/>
              </a:spcAft>
              <a:buClr>
                <a:srgbClr val="000000"/>
              </a:buClr>
              <a:buSzPts val="1800"/>
              <a:buFont typeface="Arial"/>
              <a:buNone/>
            </a:pPr>
            <a:r>
              <a:t/>
            </a:r>
            <a:endParaRPr b="1" i="0" sz="1800" u="none" cap="none" strike="noStrike">
              <a:solidFill>
                <a:schemeClr val="dk1"/>
              </a:solidFill>
              <a:latin typeface="Times New Roman"/>
              <a:ea typeface="Times New Roman"/>
              <a:cs typeface="Times New Roman"/>
              <a:sym typeface="Times New Roman"/>
            </a:endParaRPr>
          </a:p>
          <a:p>
            <a:pPr indent="0" lvl="0" marL="0" rtl="0" algn="just">
              <a:spcBef>
                <a:spcPts val="0"/>
              </a:spcBef>
              <a:spcAft>
                <a:spcPts val="0"/>
              </a:spcAft>
              <a:buClr>
                <a:schemeClr val="dk1"/>
              </a:buClr>
              <a:buSzPts val="1100"/>
              <a:buFont typeface="Arial"/>
              <a:buNone/>
            </a:pPr>
            <a:r>
              <a:t/>
            </a:r>
            <a:endParaRPr sz="1600">
              <a:solidFill>
                <a:schemeClr val="dk1"/>
              </a:solidFill>
              <a:latin typeface="Times New Roman"/>
              <a:ea typeface="Times New Roman"/>
              <a:cs typeface="Times New Roman"/>
              <a:sym typeface="Times New Roman"/>
            </a:endParaRPr>
          </a:p>
        </p:txBody>
      </p:sp>
      <p:graphicFrame>
        <p:nvGraphicFramePr>
          <p:cNvPr id="72" name="Google Shape;72;p11"/>
          <p:cNvGraphicFramePr/>
          <p:nvPr/>
        </p:nvGraphicFramePr>
        <p:xfrm>
          <a:off x="497000" y="1500000"/>
          <a:ext cx="8150000" cy="2840000"/>
        </p:xfrm>
        <a:graphic>
          <a:graphicData uri="http://schemas.openxmlformats.org/drawingml/2006/table">
            <a:tbl>
              <a:tblPr>
                <a:noFill/>
                <a:tableStyleId>{ADC876BD-21E3-499D-94FC-3D607E5DCE7B}</a:tableStyleId>
              </a:tblPr>
              <a:tblGrid>
                <a:gridCol w="2050000"/>
                <a:gridCol w="1400000"/>
                <a:gridCol w="1600000"/>
                <a:gridCol w="1500000"/>
                <a:gridCol w="1600000"/>
              </a:tblGrid>
              <a:tr h="280000">
                <a:tc>
                  <a:txBody>
                    <a:bodyPr/>
                    <a:lstStyle/>
                    <a:p>
                      <a:pPr indent="0" lvl="0" marL="0" rtl="0" algn="l">
                        <a:spcBef>
                          <a:spcPts val="0"/>
                        </a:spcBef>
                        <a:spcAft>
                          <a:spcPts val="0"/>
                        </a:spcAft>
                        <a:buNone/>
                      </a:pPr>
                      <a:r>
                        <a:rPr b="1" lang="en-US" sz="1000">
                          <a:latin typeface="Times New Roman"/>
                          <a:ea typeface="Times New Roman"/>
                          <a:cs typeface="Times New Roman"/>
                          <a:sym typeface="Times New Roman"/>
                        </a:rPr>
                        <a:t>Paper (venue, year)</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c>
                  <a:txBody>
                    <a:bodyPr/>
                    <a:lstStyle/>
                    <a:p>
                      <a:pPr indent="0" lvl="0" marL="0" rtl="0" algn="l">
                        <a:spcBef>
                          <a:spcPts val="0"/>
                        </a:spcBef>
                        <a:spcAft>
                          <a:spcPts val="0"/>
                        </a:spcAft>
                        <a:buNone/>
                      </a:pPr>
                      <a:r>
                        <a:rPr b="1" lang="en-US" sz="1000">
                          <a:latin typeface="Times New Roman"/>
                          <a:ea typeface="Times New Roman"/>
                          <a:cs typeface="Times New Roman"/>
                          <a:sym typeface="Times New Roman"/>
                        </a:rPr>
                        <a:t>Method</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c>
                  <a:txBody>
                    <a:bodyPr/>
                    <a:lstStyle/>
                    <a:p>
                      <a:pPr indent="0" lvl="0" marL="0" rtl="0" algn="l">
                        <a:spcBef>
                          <a:spcPts val="0"/>
                        </a:spcBef>
                        <a:spcAft>
                          <a:spcPts val="0"/>
                        </a:spcAft>
                        <a:buNone/>
                      </a:pPr>
                      <a:r>
                        <a:rPr b="1" lang="en-US" sz="1000">
                          <a:latin typeface="Times New Roman"/>
                          <a:ea typeface="Times New Roman"/>
                          <a:cs typeface="Times New Roman"/>
                          <a:sym typeface="Times New Roman"/>
                        </a:rPr>
                        <a:t>Parameters / thresholds</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c>
                  <a:txBody>
                    <a:bodyPr/>
                    <a:lstStyle/>
                    <a:p>
                      <a:pPr indent="0" lvl="0" marL="0" rtl="0" algn="l">
                        <a:spcBef>
                          <a:spcPts val="0"/>
                        </a:spcBef>
                        <a:spcAft>
                          <a:spcPts val="0"/>
                        </a:spcAft>
                        <a:buNone/>
                      </a:pPr>
                      <a:r>
                        <a:rPr b="1" lang="en-US" sz="1000">
                          <a:latin typeface="Times New Roman"/>
                          <a:ea typeface="Times New Roman"/>
                          <a:cs typeface="Times New Roman"/>
                          <a:sym typeface="Times New Roman"/>
                        </a:rPr>
                        <a:t>Limitation</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c>
                  <a:txBody>
                    <a:bodyPr/>
                    <a:lstStyle/>
                    <a:p>
                      <a:pPr indent="0" lvl="0" marL="0" rtl="0" algn="l">
                        <a:spcBef>
                          <a:spcPts val="0"/>
                        </a:spcBef>
                        <a:spcAft>
                          <a:spcPts val="0"/>
                        </a:spcAft>
                        <a:buNone/>
                      </a:pPr>
                      <a:r>
                        <a:rPr b="1" lang="en-US" sz="1000">
                          <a:latin typeface="Times New Roman"/>
                          <a:ea typeface="Times New Roman"/>
                          <a:cs typeface="Times New Roman"/>
                          <a:sym typeface="Times New Roman"/>
                        </a:rPr>
                        <a:t>Our improvement</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r>
              <a:tr h="640000">
                <a:tc>
                  <a:txBody>
                    <a:bodyPr/>
                    <a:lstStyle/>
                    <a:p>
                      <a:pPr indent="0" lvl="0" marL="0" rtl="0" algn="l">
                        <a:spcBef>
                          <a:spcPts val="0"/>
                        </a:spcBef>
                        <a:spcAft>
                          <a:spcPts val="0"/>
                        </a:spcAft>
                        <a:buNone/>
                      </a:pPr>
                      <a:r>
                        <a:rPr lang="en-US" sz="900">
                          <a:latin typeface="Times New Roman"/>
                          <a:ea typeface="Times New Roman"/>
                          <a:cs typeface="Times New Roman"/>
                          <a:sym typeface="Times New Roman"/>
                        </a:rPr>
                        <a:t>“Cupid: Leveraging ChatGPT for More Accurate Duplicate Bug Report Detection” [5], 2023</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c>
                  <a:txBody>
                    <a:bodyPr/>
                    <a:lstStyle/>
                    <a:p>
                      <a:pPr indent="0" lvl="0" marL="0" rtl="0" algn="l">
                        <a:spcBef>
                          <a:spcPts val="0"/>
                        </a:spcBef>
                        <a:spcAft>
                          <a:spcPts val="0"/>
                        </a:spcAft>
                        <a:buNone/>
                      </a:pPr>
                      <a:r>
                        <a:rPr lang="en-US" sz="900">
                          <a:latin typeface="Times New Roman"/>
                          <a:ea typeface="Times New Roman"/>
                          <a:cs typeface="Times New Roman"/>
                          <a:sym typeface="Times New Roman"/>
                        </a:rPr>
                        <a:t>ChatGPT extracts essentials, then REP retrieval</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c>
                  <a:txBody>
                    <a:bodyPr/>
                    <a:lstStyle/>
                    <a:p>
                      <a:pPr indent="0" lvl="0" marL="0" rtl="0" algn="l">
                        <a:spcBef>
                          <a:spcPts val="0"/>
                        </a:spcBef>
                        <a:spcAft>
                          <a:spcPts val="0"/>
                        </a:spcAft>
                        <a:buNone/>
                      </a:pPr>
                      <a:r>
                        <a:rPr lang="en-US" sz="900">
                          <a:latin typeface="Times New Roman"/>
                          <a:ea typeface="Times New Roman"/>
                          <a:cs typeface="Times New Roman"/>
                          <a:sym typeface="Times New Roman"/>
                        </a:rPr>
                        <a:t>LLM on 40–60% of reports; Recall-Rate@10 0.60–0.65</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c>
                  <a:txBody>
                    <a:bodyPr/>
                    <a:lstStyle/>
                    <a:p>
                      <a:pPr indent="0" lvl="0" marL="0" rtl="0" algn="l">
                        <a:spcBef>
                          <a:spcPts val="0"/>
                        </a:spcBef>
                        <a:spcAft>
                          <a:spcPts val="0"/>
                        </a:spcAft>
                        <a:buNone/>
                      </a:pPr>
                      <a:r>
                        <a:rPr lang="en-US" sz="900">
                          <a:latin typeface="Times New Roman"/>
                          <a:ea typeface="Times New Roman"/>
                          <a:cs typeface="Times New Roman"/>
                          <a:sym typeface="Times New Roman"/>
                        </a:rPr>
                        <a:t>Ranking only; no cases, spikes or escalation</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c>
                  <a:txBody>
                    <a:bodyPr/>
                    <a:lstStyle/>
                    <a:p>
                      <a:pPr indent="0" lvl="0" marL="0" rtl="0" algn="l">
                        <a:spcBef>
                          <a:spcPts val="0"/>
                        </a:spcBef>
                        <a:spcAft>
                          <a:spcPts val="0"/>
                        </a:spcAft>
                        <a:buNone/>
                      </a:pPr>
                      <a:r>
                        <a:rPr lang="en-US" sz="900">
                          <a:latin typeface="Times New Roman"/>
                          <a:ea typeface="Times New Roman"/>
                          <a:cs typeface="Times New Roman"/>
                          <a:sym typeface="Times New Roman"/>
                        </a:rPr>
                        <a:t>Online cases with spike alerts and RCA</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r>
              <a:tr h="640000">
                <a:tc>
                  <a:txBody>
                    <a:bodyPr/>
                    <a:lstStyle/>
                    <a:p>
                      <a:pPr indent="0" lvl="0" marL="0" rtl="0" algn="l">
                        <a:spcBef>
                          <a:spcPts val="0"/>
                        </a:spcBef>
                        <a:spcAft>
                          <a:spcPts val="0"/>
                        </a:spcAft>
                        <a:buNone/>
                      </a:pPr>
                      <a:r>
                        <a:rPr lang="en-US" sz="900">
                          <a:latin typeface="Times New Roman"/>
                          <a:ea typeface="Times New Roman"/>
                          <a:cs typeface="Times New Roman"/>
                          <a:sym typeface="Times New Roman"/>
                        </a:rPr>
                        <a:t>“Entity Matching using Large Language Models” [6], EDBT 2025</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c>
                  <a:txBody>
                    <a:bodyPr/>
                    <a:lstStyle/>
                    <a:p>
                      <a:pPr indent="0" lvl="0" marL="0" rtl="0" algn="l">
                        <a:spcBef>
                          <a:spcPts val="0"/>
                        </a:spcBef>
                        <a:spcAft>
                          <a:spcPts val="0"/>
                        </a:spcAft>
                        <a:buNone/>
                      </a:pPr>
                      <a:r>
                        <a:rPr lang="en-US" sz="900">
                          <a:latin typeface="Times New Roman"/>
                          <a:ea typeface="Times New Roman"/>
                          <a:cs typeface="Times New Roman"/>
                          <a:sym typeface="Times New Roman"/>
                        </a:rPr>
                        <a:t>Zero-shot GPT-4 pair judge</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c>
                  <a:txBody>
                    <a:bodyPr/>
                    <a:lstStyle/>
                    <a:p>
                      <a:pPr indent="0" lvl="0" marL="0" rtl="0" algn="l">
                        <a:spcBef>
                          <a:spcPts val="0"/>
                        </a:spcBef>
                        <a:spcAft>
                          <a:spcPts val="0"/>
                        </a:spcAft>
                        <a:buNone/>
                      </a:pPr>
                      <a:r>
                        <a:rPr lang="en-US" sz="900">
                          <a:latin typeface="Times New Roman"/>
                          <a:ea typeface="Times New Roman"/>
                          <a:cs typeface="Times New Roman"/>
                          <a:sym typeface="Times New Roman"/>
                        </a:rPr>
                        <a:t>Prompt only; F1 89.6–98.4 on record pairs</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c>
                  <a:txBody>
                    <a:bodyPr/>
                    <a:lstStyle/>
                    <a:p>
                      <a:pPr indent="0" lvl="0" marL="0" rtl="0" algn="l">
                        <a:spcBef>
                          <a:spcPts val="0"/>
                        </a:spcBef>
                        <a:spcAft>
                          <a:spcPts val="0"/>
                        </a:spcAft>
                        <a:buNone/>
                      </a:pPr>
                      <a:r>
                        <a:rPr lang="en-US" sz="900">
                          <a:latin typeface="Times New Roman"/>
                          <a:ea typeface="Times New Roman"/>
                          <a:cs typeface="Times New Roman"/>
                          <a:sym typeface="Times New Roman"/>
                        </a:rPr>
                        <a:t>Judges every pair: cost grows with pairs</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c>
                  <a:txBody>
                    <a:bodyPr/>
                    <a:lstStyle/>
                    <a:p>
                      <a:pPr indent="0" lvl="0" marL="0" rtl="0" algn="l">
                        <a:spcBef>
                          <a:spcPts val="0"/>
                        </a:spcBef>
                        <a:spcAft>
                          <a:spcPts val="0"/>
                        </a:spcAft>
                        <a:buNone/>
                      </a:pPr>
                      <a:r>
                        <a:rPr lang="en-US" sz="900">
                          <a:latin typeface="Times New Roman"/>
                          <a:ea typeface="Times New Roman"/>
                          <a:cs typeface="Times New Roman"/>
                          <a:sym typeface="Times New Roman"/>
                        </a:rPr>
                        <a:t>Judge only in the calibrated band, at most 5 candidates</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r>
              <a:tr h="640000">
                <a:tc>
                  <a:txBody>
                    <a:bodyPr/>
                    <a:lstStyle/>
                    <a:p>
                      <a:pPr indent="0" lvl="0" marL="0" rtl="0" algn="l">
                        <a:spcBef>
                          <a:spcPts val="0"/>
                        </a:spcBef>
                        <a:spcAft>
                          <a:spcPts val="0"/>
                        </a:spcAft>
                        <a:buNone/>
                      </a:pPr>
                      <a:r>
                        <a:rPr lang="en-US" sz="900">
                          <a:latin typeface="Times New Roman"/>
                          <a:ea typeface="Times New Roman"/>
                          <a:cs typeface="Times New Roman"/>
                          <a:sym typeface="Times New Roman"/>
                        </a:rPr>
                        <a:t>“GPTrace: Effective Crash Deduplication Using LLM Embeddings” [7], ICSE 2026</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c>
                  <a:txBody>
                    <a:bodyPr/>
                    <a:lstStyle/>
                    <a:p>
                      <a:pPr indent="0" lvl="0" marL="0" rtl="0" algn="l">
                        <a:spcBef>
                          <a:spcPts val="0"/>
                        </a:spcBef>
                        <a:spcAft>
                          <a:spcPts val="0"/>
                        </a:spcAft>
                        <a:buNone/>
                      </a:pPr>
                      <a:r>
                        <a:rPr lang="en-US" sz="900">
                          <a:latin typeface="Times New Roman"/>
                          <a:ea typeface="Times New Roman"/>
                          <a:cs typeface="Times New Roman"/>
                          <a:sym typeface="Times New Roman"/>
                        </a:rPr>
                        <a:t>LLM embeddings + HDBSCAN clustering</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c>
                  <a:txBody>
                    <a:bodyPr/>
                    <a:lstStyle/>
                    <a:p>
                      <a:pPr indent="0" lvl="0" marL="0" rtl="0" algn="l">
                        <a:spcBef>
                          <a:spcPts val="0"/>
                        </a:spcBef>
                        <a:spcAft>
                          <a:spcPts val="0"/>
                        </a:spcAft>
                        <a:buNone/>
                      </a:pPr>
                      <a:r>
                        <a:rPr lang="en-US" sz="900">
                          <a:latin typeface="Times New Roman"/>
                          <a:ea typeface="Times New Roman"/>
                          <a:cs typeface="Times New Roman"/>
                          <a:sym typeface="Times New Roman"/>
                        </a:rPr>
                        <a:t>Density clustering over 300K crash reports</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c>
                  <a:txBody>
                    <a:bodyPr/>
                    <a:lstStyle/>
                    <a:p>
                      <a:pPr indent="0" lvl="0" marL="0" rtl="0" algn="l">
                        <a:spcBef>
                          <a:spcPts val="0"/>
                        </a:spcBef>
                        <a:spcAft>
                          <a:spcPts val="0"/>
                        </a:spcAft>
                        <a:buNone/>
                      </a:pPr>
                      <a:r>
                        <a:rPr lang="en-US" sz="900">
                          <a:latin typeface="Times New Roman"/>
                          <a:ea typeface="Times New Roman"/>
                          <a:cs typeface="Times New Roman"/>
                          <a:sym typeface="Times New Roman"/>
                        </a:rPr>
                        <a:t>Batch; stack traces only</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c>
                  <a:txBody>
                    <a:bodyPr/>
                    <a:lstStyle/>
                    <a:p>
                      <a:pPr indent="0" lvl="0" marL="0" rtl="0" algn="l">
                        <a:spcBef>
                          <a:spcPts val="0"/>
                        </a:spcBef>
                        <a:spcAft>
                          <a:spcPts val="0"/>
                        </a:spcAft>
                        <a:buNone/>
                      </a:pPr>
                      <a:r>
                        <a:rPr lang="en-US" sz="900">
                          <a:latin typeface="Times New Roman"/>
                          <a:ea typeface="Times New Roman"/>
                          <a:cs typeface="Times New Roman"/>
                          <a:sym typeface="Times New Roman"/>
                        </a:rPr>
                        <a:t>Online grouping of free-text complaints</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r>
              <a:tr h="640000">
                <a:tc>
                  <a:txBody>
                    <a:bodyPr/>
                    <a:lstStyle/>
                    <a:p>
                      <a:pPr indent="0" lvl="0" marL="0" rtl="0" algn="l">
                        <a:spcBef>
                          <a:spcPts val="0"/>
                        </a:spcBef>
                        <a:spcAft>
                          <a:spcPts val="0"/>
                        </a:spcAft>
                        <a:buNone/>
                      </a:pPr>
                      <a:r>
                        <a:rPr lang="en-US" sz="900">
                          <a:latin typeface="Times New Roman"/>
                          <a:ea typeface="Times New Roman"/>
                          <a:cs typeface="Times New Roman"/>
                          <a:sym typeface="Times New Roman"/>
                        </a:rPr>
                        <a:t>“Dial-In LLM: Human-Aligned LLM-in-the-loop Intent Clustering for Customer Service Dialogues” [8], EMNLP 2025</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c>
                  <a:txBody>
                    <a:bodyPr/>
                    <a:lstStyle/>
                    <a:p>
                      <a:pPr indent="0" lvl="0" marL="0" rtl="0" algn="l">
                        <a:spcBef>
                          <a:spcPts val="0"/>
                        </a:spcBef>
                        <a:spcAft>
                          <a:spcPts val="0"/>
                        </a:spcAft>
                        <a:buNone/>
                      </a:pPr>
                      <a:r>
                        <a:rPr lang="en-US" sz="900">
                          <a:latin typeface="Times New Roman"/>
                          <a:ea typeface="Times New Roman"/>
                          <a:cs typeface="Times New Roman"/>
                          <a:sym typeface="Times New Roman"/>
                        </a:rPr>
                        <a:t>LLM-in-the-loop intent clustering</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c>
                  <a:txBody>
                    <a:bodyPr/>
                    <a:lstStyle/>
                    <a:p>
                      <a:pPr indent="0" lvl="0" marL="0" rtl="0" algn="l">
                        <a:spcBef>
                          <a:spcPts val="0"/>
                        </a:spcBef>
                        <a:spcAft>
                          <a:spcPts val="0"/>
                        </a:spcAft>
                        <a:buNone/>
                      </a:pPr>
                      <a:r>
                        <a:rPr lang="en-US" sz="900">
                          <a:latin typeface="Times New Roman"/>
                          <a:ea typeface="Times New Roman"/>
                          <a:cs typeface="Times New Roman"/>
                          <a:sym typeface="Times New Roman"/>
                        </a:rPr>
                        <a:t>100k calls, 1,507 clusters; &gt;95% agreement with humans</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c>
                  <a:txBody>
                    <a:bodyPr/>
                    <a:lstStyle/>
                    <a:p>
                      <a:pPr indent="0" lvl="0" marL="0" rtl="0" algn="l">
                        <a:spcBef>
                          <a:spcPts val="0"/>
                        </a:spcBef>
                        <a:spcAft>
                          <a:spcPts val="0"/>
                        </a:spcAft>
                        <a:buNone/>
                      </a:pPr>
                      <a:r>
                        <a:rPr lang="en-US" sz="900">
                          <a:latin typeface="Times New Roman"/>
                          <a:ea typeface="Times New Roman"/>
                          <a:cs typeface="Times New Roman"/>
                          <a:sym typeface="Times New Roman"/>
                        </a:rPr>
                        <a:t>Intents, not problems; batch</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c>
                  <a:txBody>
                    <a:bodyPr/>
                    <a:lstStyle/>
                    <a:p>
                      <a:pPr indent="0" lvl="0" marL="0" rtl="0" algn="l">
                        <a:spcBef>
                          <a:spcPts val="0"/>
                        </a:spcBef>
                        <a:spcAft>
                          <a:spcPts val="0"/>
                        </a:spcAft>
                        <a:buNone/>
                      </a:pPr>
                      <a:r>
                        <a:rPr lang="en-US" sz="900">
                          <a:latin typeface="Times New Roman"/>
                          <a:ea typeface="Times New Roman"/>
                          <a:cs typeface="Times New Roman"/>
                          <a:sym typeface="Times New Roman"/>
                        </a:rPr>
                        <a:t>Problem cases decided as complaints arrive</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r>
            </a:tbl>
          </a:graphicData>
        </a:graphic>
      </p:graphicFrame>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6" name="Shape 66"/>
        <p:cNvGrpSpPr/>
        <p:nvPr/>
      </p:nvGrpSpPr>
      <p:grpSpPr>
        <a:xfrm>
          <a:off x="0" y="0"/>
          <a:ext cx="0" cy="0"/>
          <a:chOff x="0" y="0"/>
          <a:chExt cx="0" cy="0"/>
        </a:xfrm>
      </p:grpSpPr>
      <p:sp>
        <p:nvSpPr>
          <p:cNvPr id="67" name="Google Shape;67;p11"/>
          <p:cNvSpPr txBox="1"/>
          <p:nvPr/>
        </p:nvSpPr>
        <p:spPr>
          <a:xfrm>
            <a:off x="257175" y="4836100"/>
            <a:ext cx="1343100" cy="2769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1200"/>
              <a:buFont typeface="Arial"/>
              <a:buNone/>
            </a:pPr>
            <a:r>
              <a:rPr b="0" i="0" lang="en-US" sz="1200" u="none" cap="none" strike="noStrike">
                <a:solidFill>
                  <a:schemeClr val="lt1"/>
                </a:solidFill>
                <a:latin typeface="Times New Roman"/>
                <a:ea typeface="Times New Roman"/>
                <a:cs typeface="Times New Roman"/>
                <a:sym typeface="Times New Roman"/>
              </a:rPr>
              <a:t>26/6/2023</a:t>
            </a:r>
            <a:endParaRPr b="0" i="0" sz="1200" u="none" cap="none" strike="noStrike">
              <a:solidFill>
                <a:schemeClr val="lt1"/>
              </a:solidFill>
              <a:latin typeface="Times New Roman"/>
              <a:ea typeface="Times New Roman"/>
              <a:cs typeface="Times New Roman"/>
              <a:sym typeface="Times New Roman"/>
            </a:endParaRPr>
          </a:p>
        </p:txBody>
      </p:sp>
      <p:sp>
        <p:nvSpPr>
          <p:cNvPr id="68" name="Google Shape;68;p11"/>
          <p:cNvSpPr/>
          <p:nvPr/>
        </p:nvSpPr>
        <p:spPr>
          <a:xfrm>
            <a:off x="8910006" y="1217600"/>
            <a:ext cx="230400" cy="3941400"/>
          </a:xfrm>
          <a:prstGeom prst="rect">
            <a:avLst/>
          </a:prstGeom>
          <a:solidFill>
            <a:srgbClr val="C00000"/>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2493"/>
              <a:buFont typeface="Arial"/>
              <a:buNone/>
            </a:pPr>
            <a:r>
              <a:t/>
            </a:r>
            <a:endParaRPr b="0" i="0" sz="2495" u="none" cap="none" strike="noStrike">
              <a:solidFill>
                <a:schemeClr val="lt1"/>
              </a:solidFill>
              <a:latin typeface="Arial"/>
              <a:ea typeface="Arial"/>
              <a:cs typeface="Arial"/>
              <a:sym typeface="Arial"/>
            </a:endParaRPr>
          </a:p>
        </p:txBody>
      </p:sp>
      <p:sp>
        <p:nvSpPr>
          <p:cNvPr id="69" name="Google Shape;69;p11"/>
          <p:cNvSpPr/>
          <p:nvPr/>
        </p:nvSpPr>
        <p:spPr>
          <a:xfrm>
            <a:off x="2105025" y="4836100"/>
            <a:ext cx="6807300" cy="322800"/>
          </a:xfrm>
          <a:prstGeom prst="rect">
            <a:avLst/>
          </a:prstGeom>
          <a:solidFill>
            <a:srgbClr val="C00000"/>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2493"/>
              <a:buFont typeface="Arial"/>
              <a:buNone/>
            </a:pPr>
            <a:r>
              <a:t/>
            </a:r>
            <a:endParaRPr b="0" i="0" sz="2495" u="none" cap="none" strike="noStrike">
              <a:solidFill>
                <a:schemeClr val="lt1"/>
              </a:solidFill>
              <a:latin typeface="Arial"/>
              <a:ea typeface="Arial"/>
              <a:cs typeface="Arial"/>
              <a:sym typeface="Arial"/>
            </a:endParaRPr>
          </a:p>
        </p:txBody>
      </p:sp>
      <p:pic>
        <p:nvPicPr>
          <p:cNvPr id="70" name="Google Shape;70;p11"/>
          <p:cNvPicPr preferRelativeResize="0"/>
          <p:nvPr/>
        </p:nvPicPr>
        <p:blipFill rotWithShape="1">
          <a:blip r:embed="rId3">
            <a:alphaModFix/>
          </a:blip>
          <a:srcRect b="0" l="0" r="0" t="0"/>
          <a:stretch/>
        </p:blipFill>
        <p:spPr>
          <a:xfrm>
            <a:off x="0" y="0"/>
            <a:ext cx="9143999" cy="1332186"/>
          </a:xfrm>
          <a:prstGeom prst="rect">
            <a:avLst/>
          </a:prstGeom>
          <a:noFill/>
          <a:ln>
            <a:noFill/>
          </a:ln>
        </p:spPr>
      </p:pic>
      <p:sp>
        <p:nvSpPr>
          <p:cNvPr id="71" name="Google Shape;71;p11"/>
          <p:cNvSpPr txBox="1"/>
          <p:nvPr/>
        </p:nvSpPr>
        <p:spPr>
          <a:xfrm>
            <a:off x="678139" y="1217597"/>
            <a:ext cx="7968000" cy="3504300"/>
          </a:xfrm>
          <a:prstGeom prst="rect">
            <a:avLst/>
          </a:prstGeom>
          <a:noFill/>
          <a:ln>
            <a:noFill/>
          </a:ln>
        </p:spPr>
        <p:txBody>
          <a:bodyPr anchorCtr="0" anchor="t" bIns="91425" lIns="91425" spcFirstLastPara="1" rIns="107625" wrap="square" tIns="91425">
            <a:normAutofit/>
          </a:bodyPr>
          <a:lstStyle/>
          <a:p>
            <a:pPr indent="0" lvl="0" marL="0" marR="0" rtl="0" algn="ctr">
              <a:lnSpc>
                <a:spcPct val="100000"/>
              </a:lnSpc>
              <a:spcBef>
                <a:spcPts val="0"/>
              </a:spcBef>
              <a:spcAft>
                <a:spcPts val="0"/>
              </a:spcAft>
              <a:buClr>
                <a:srgbClr val="000000"/>
              </a:buClr>
              <a:buSzPts val="1800"/>
              <a:buFont typeface="Arial"/>
              <a:buNone/>
            </a:pPr>
            <a:r>
              <a:rPr b="1" lang="en-US">
                <a:latin typeface="Times New Roman"/>
                <a:ea typeface="Times New Roman"/>
                <a:cs typeface="Times New Roman"/>
                <a:sym typeface="Times New Roman"/>
              </a:rPr>
              <a:t>LITERATURE SURVEY (3/3)</a:t>
            </a:r>
            <a:endParaRPr b="1">
              <a:latin typeface="Times New Roman"/>
              <a:ea typeface="Times New Roman"/>
              <a:cs typeface="Times New Roman"/>
              <a:sym typeface="Times New Roman"/>
            </a:endParaRPr>
          </a:p>
          <a:p>
            <a:pPr indent="0" lvl="0" marL="0" marR="0" rtl="0" algn="ctr">
              <a:lnSpc>
                <a:spcPct val="100000"/>
              </a:lnSpc>
              <a:spcBef>
                <a:spcPts val="0"/>
              </a:spcBef>
              <a:spcAft>
                <a:spcPts val="0"/>
              </a:spcAft>
              <a:buClr>
                <a:srgbClr val="000000"/>
              </a:buClr>
              <a:buSzPts val="1800"/>
              <a:buFont typeface="Arial"/>
              <a:buNone/>
            </a:pPr>
            <a:r>
              <a:t/>
            </a:r>
            <a:endParaRPr b="1" i="0" sz="1800" u="none" cap="none" strike="noStrike">
              <a:solidFill>
                <a:schemeClr val="dk1"/>
              </a:solidFill>
              <a:latin typeface="Times New Roman"/>
              <a:ea typeface="Times New Roman"/>
              <a:cs typeface="Times New Roman"/>
              <a:sym typeface="Times New Roman"/>
            </a:endParaRPr>
          </a:p>
          <a:p>
            <a:pPr indent="0" lvl="0" marL="0" rtl="0" algn="just">
              <a:spcBef>
                <a:spcPts val="0"/>
              </a:spcBef>
              <a:spcAft>
                <a:spcPts val="0"/>
              </a:spcAft>
              <a:buClr>
                <a:schemeClr val="dk1"/>
              </a:buClr>
              <a:buSzPts val="1100"/>
              <a:buFont typeface="Arial"/>
              <a:buNone/>
            </a:pPr>
            <a:r>
              <a:t/>
            </a:r>
            <a:endParaRPr sz="1600">
              <a:solidFill>
                <a:schemeClr val="dk1"/>
              </a:solidFill>
              <a:latin typeface="Times New Roman"/>
              <a:ea typeface="Times New Roman"/>
              <a:cs typeface="Times New Roman"/>
              <a:sym typeface="Times New Roman"/>
            </a:endParaRPr>
          </a:p>
        </p:txBody>
      </p:sp>
      <p:graphicFrame>
        <p:nvGraphicFramePr>
          <p:cNvPr id="72" name="Google Shape;72;p11"/>
          <p:cNvGraphicFramePr/>
          <p:nvPr/>
        </p:nvGraphicFramePr>
        <p:xfrm>
          <a:off x="497000" y="1500000"/>
          <a:ext cx="8150000" cy="2600000"/>
        </p:xfrm>
        <a:graphic>
          <a:graphicData uri="http://schemas.openxmlformats.org/drawingml/2006/table">
            <a:tbl>
              <a:tblPr>
                <a:noFill/>
                <a:tableStyleId>{ADC876BD-21E3-499D-94FC-3D607E5DCE7B}</a:tableStyleId>
              </a:tblPr>
              <a:tblGrid>
                <a:gridCol w="2050000"/>
                <a:gridCol w="1400000"/>
                <a:gridCol w="1600000"/>
                <a:gridCol w="1500000"/>
                <a:gridCol w="1600000"/>
              </a:tblGrid>
              <a:tr h="280000">
                <a:tc>
                  <a:txBody>
                    <a:bodyPr/>
                    <a:lstStyle/>
                    <a:p>
                      <a:pPr indent="0" lvl="0" marL="0" rtl="0" algn="l">
                        <a:spcBef>
                          <a:spcPts val="0"/>
                        </a:spcBef>
                        <a:spcAft>
                          <a:spcPts val="0"/>
                        </a:spcAft>
                        <a:buNone/>
                      </a:pPr>
                      <a:r>
                        <a:rPr b="1" lang="en-US" sz="1000">
                          <a:latin typeface="Times New Roman"/>
                          <a:ea typeface="Times New Roman"/>
                          <a:cs typeface="Times New Roman"/>
                          <a:sym typeface="Times New Roman"/>
                        </a:rPr>
                        <a:t>Paper (venue, year)</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c>
                  <a:txBody>
                    <a:bodyPr/>
                    <a:lstStyle/>
                    <a:p>
                      <a:pPr indent="0" lvl="0" marL="0" rtl="0" algn="l">
                        <a:spcBef>
                          <a:spcPts val="0"/>
                        </a:spcBef>
                        <a:spcAft>
                          <a:spcPts val="0"/>
                        </a:spcAft>
                        <a:buNone/>
                      </a:pPr>
                      <a:r>
                        <a:rPr b="1" lang="en-US" sz="1000">
                          <a:latin typeface="Times New Roman"/>
                          <a:ea typeface="Times New Roman"/>
                          <a:cs typeface="Times New Roman"/>
                          <a:sym typeface="Times New Roman"/>
                        </a:rPr>
                        <a:t>Method</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c>
                  <a:txBody>
                    <a:bodyPr/>
                    <a:lstStyle/>
                    <a:p>
                      <a:pPr indent="0" lvl="0" marL="0" rtl="0" algn="l">
                        <a:spcBef>
                          <a:spcPts val="0"/>
                        </a:spcBef>
                        <a:spcAft>
                          <a:spcPts val="0"/>
                        </a:spcAft>
                        <a:buNone/>
                      </a:pPr>
                      <a:r>
                        <a:rPr b="1" lang="en-US" sz="1000">
                          <a:latin typeface="Times New Roman"/>
                          <a:ea typeface="Times New Roman"/>
                          <a:cs typeface="Times New Roman"/>
                          <a:sym typeface="Times New Roman"/>
                        </a:rPr>
                        <a:t>Parameters / thresholds</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c>
                  <a:txBody>
                    <a:bodyPr/>
                    <a:lstStyle/>
                    <a:p>
                      <a:pPr indent="0" lvl="0" marL="0" rtl="0" algn="l">
                        <a:spcBef>
                          <a:spcPts val="0"/>
                        </a:spcBef>
                        <a:spcAft>
                          <a:spcPts val="0"/>
                        </a:spcAft>
                        <a:buNone/>
                      </a:pPr>
                      <a:r>
                        <a:rPr b="1" lang="en-US" sz="1000">
                          <a:latin typeface="Times New Roman"/>
                          <a:ea typeface="Times New Roman"/>
                          <a:cs typeface="Times New Roman"/>
                          <a:sym typeface="Times New Roman"/>
                        </a:rPr>
                        <a:t>Limitation</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c>
                  <a:txBody>
                    <a:bodyPr/>
                    <a:lstStyle/>
                    <a:p>
                      <a:pPr indent="0" lvl="0" marL="0" rtl="0" algn="l">
                        <a:spcBef>
                          <a:spcPts val="0"/>
                        </a:spcBef>
                        <a:spcAft>
                          <a:spcPts val="0"/>
                        </a:spcAft>
                        <a:buNone/>
                      </a:pPr>
                      <a:r>
                        <a:rPr b="1" lang="en-US" sz="1000">
                          <a:latin typeface="Times New Roman"/>
                          <a:ea typeface="Times New Roman"/>
                          <a:cs typeface="Times New Roman"/>
                          <a:sym typeface="Times New Roman"/>
                        </a:rPr>
                        <a:t>Our improvement</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r>
              <a:tr h="580000">
                <a:tc>
                  <a:txBody>
                    <a:bodyPr/>
                    <a:lstStyle/>
                    <a:p>
                      <a:pPr indent="0" lvl="0" marL="0" rtl="0" algn="l">
                        <a:spcBef>
                          <a:spcPts val="0"/>
                        </a:spcBef>
                        <a:spcAft>
                          <a:spcPts val="0"/>
                        </a:spcAft>
                        <a:buNone/>
                      </a:pPr>
                      <a:r>
                        <a:rPr lang="en-US" sz="900">
                          <a:latin typeface="Times New Roman"/>
                          <a:ea typeface="Times New Roman"/>
                          <a:cs typeface="Times New Roman"/>
                          <a:sym typeface="Times New Roman"/>
                        </a:rPr>
                        <a:t>“LLM-Guided Lifecycle-Aware Clustering of Multi-Turn Customer Support Conversations” [9], AACL 2025</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c>
                  <a:txBody>
                    <a:bodyPr/>
                    <a:lstStyle/>
                    <a:p>
                      <a:pPr indent="0" lvl="0" marL="0" rtl="0" algn="l">
                        <a:spcBef>
                          <a:spcPts val="0"/>
                        </a:spcBef>
                        <a:spcAft>
                          <a:spcPts val="0"/>
                        </a:spcAft>
                        <a:buNone/>
                      </a:pPr>
                      <a:r>
                        <a:rPr lang="en-US" sz="900">
                          <a:latin typeface="Times New Roman"/>
                          <a:ea typeface="Times New Roman"/>
                          <a:cs typeface="Times New Roman"/>
                          <a:sym typeface="Times New Roman"/>
                        </a:rPr>
                        <a:t>Incremental clustering; LLM splits degraded clusters</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c>
                  <a:txBody>
                    <a:bodyPr/>
                    <a:lstStyle/>
                    <a:p>
                      <a:pPr indent="0" lvl="0" marL="0" rtl="0" algn="l">
                        <a:spcBef>
                          <a:spcPts val="0"/>
                        </a:spcBef>
                        <a:spcAft>
                          <a:spcPts val="0"/>
                        </a:spcAft>
                        <a:buNone/>
                      </a:pPr>
                      <a:r>
                        <a:rPr lang="en-US" sz="900">
                          <a:latin typeface="Times New Roman"/>
                          <a:ea typeface="Times New Roman"/>
                          <a:cs typeface="Times New Roman"/>
                          <a:sym typeface="Times New Roman"/>
                        </a:rPr>
                        <a:t>Silhouette / Davies-Bouldin quality triggers</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c>
                  <a:txBody>
                    <a:bodyPr/>
                    <a:lstStyle/>
                    <a:p>
                      <a:pPr indent="0" lvl="0" marL="0" rtl="0" algn="l">
                        <a:spcBef>
                          <a:spcPts val="0"/>
                        </a:spcBef>
                        <a:spcAft>
                          <a:spcPts val="0"/>
                        </a:spcAft>
                        <a:buNone/>
                      </a:pPr>
                      <a:r>
                        <a:rPr lang="en-US" sz="900">
                          <a:latin typeface="Times New Roman"/>
                          <a:ea typeface="Times New Roman"/>
                          <a:cs typeface="Times New Roman"/>
                          <a:sym typeface="Times New Roman"/>
                        </a:rPr>
                        <a:t>No spike detection, RCA or escalation</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c>
                  <a:txBody>
                    <a:bodyPr/>
                    <a:lstStyle/>
                    <a:p>
                      <a:pPr indent="0" lvl="0" marL="0" rtl="0" algn="l">
                        <a:spcBef>
                          <a:spcPts val="0"/>
                        </a:spcBef>
                        <a:spcAft>
                          <a:spcPts val="0"/>
                        </a:spcAft>
                        <a:buNone/>
                      </a:pPr>
                      <a:r>
                        <a:rPr lang="en-US" sz="900">
                          <a:latin typeface="Times New Roman"/>
                          <a:ea typeface="Times New Roman"/>
                          <a:cs typeface="Times New Roman"/>
                          <a:sym typeface="Times New Roman"/>
                        </a:rPr>
                        <a:t>Full pipeline: spikes, RCA, approval</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r>
              <a:tr h="580000">
                <a:tc>
                  <a:txBody>
                    <a:bodyPr/>
                    <a:lstStyle/>
                    <a:p>
                      <a:pPr indent="0" lvl="0" marL="0" rtl="0" algn="l">
                        <a:spcBef>
                          <a:spcPts val="0"/>
                        </a:spcBef>
                        <a:spcAft>
                          <a:spcPts val="0"/>
                        </a:spcAft>
                        <a:buNone/>
                      </a:pPr>
                      <a:r>
                        <a:rPr lang="en-US" sz="900">
                          <a:latin typeface="Times New Roman"/>
                          <a:ea typeface="Times New Roman"/>
                          <a:cs typeface="Times New Roman"/>
                          <a:sym typeface="Times New Roman"/>
                        </a:rPr>
                        <a:t>“TickIt: Leveraging Large Language Models for Automated Ticket Escalation” [10], FSE 2025 (ByteDance)</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c>
                  <a:txBody>
                    <a:bodyPr/>
                    <a:lstStyle/>
                    <a:p>
                      <a:pPr indent="0" lvl="0" marL="0" rtl="0" algn="l">
                        <a:spcBef>
                          <a:spcPts val="0"/>
                        </a:spcBef>
                        <a:spcAft>
                          <a:spcPts val="0"/>
                        </a:spcAft>
                        <a:buNone/>
                      </a:pPr>
                      <a:r>
                        <a:rPr lang="en-US" sz="900">
                          <a:latin typeface="Times New Roman"/>
                          <a:ea typeface="Times New Roman"/>
                          <a:cs typeface="Times New Roman"/>
                          <a:sym typeface="Times New Roman"/>
                        </a:rPr>
                        <a:t>LLM escalation with category fine-tuning</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c>
                  <a:txBody>
                    <a:bodyPr/>
                    <a:lstStyle/>
                    <a:p>
                      <a:pPr indent="0" lvl="0" marL="0" rtl="0" algn="l">
                        <a:spcBef>
                          <a:spcPts val="0"/>
                        </a:spcBef>
                        <a:spcAft>
                          <a:spcPts val="0"/>
                        </a:spcAft>
                        <a:buNone/>
                      </a:pPr>
                      <a:r>
                        <a:rPr lang="en-US" sz="900">
                          <a:latin typeface="Times New Roman"/>
                          <a:ea typeface="Times New Roman"/>
                          <a:cs typeface="Times New Roman"/>
                          <a:sym typeface="Times New Roman"/>
                        </a:rPr>
                        <a:t>Predefined ticket categories</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c>
                  <a:txBody>
                    <a:bodyPr/>
                    <a:lstStyle/>
                    <a:p>
                      <a:pPr indent="0" lvl="0" marL="0" rtl="0" algn="l">
                        <a:spcBef>
                          <a:spcPts val="0"/>
                        </a:spcBef>
                        <a:spcAft>
                          <a:spcPts val="0"/>
                        </a:spcAft>
                        <a:buNone/>
                      </a:pPr>
                      <a:r>
                        <a:rPr lang="en-US" sz="900">
                          <a:latin typeface="Times New Roman"/>
                          <a:ea typeface="Times New Roman"/>
                          <a:cs typeface="Times New Roman"/>
                          <a:sym typeface="Times New Roman"/>
                        </a:rPr>
                        <a:t>Fixed category set; no spike detection</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c>
                  <a:txBody>
                    <a:bodyPr/>
                    <a:lstStyle/>
                    <a:p>
                      <a:pPr indent="0" lvl="0" marL="0" rtl="0" algn="l">
                        <a:spcBef>
                          <a:spcPts val="0"/>
                        </a:spcBef>
                        <a:spcAft>
                          <a:spcPts val="0"/>
                        </a:spcAft>
                        <a:buNone/>
                      </a:pPr>
                      <a:r>
                        <a:rPr lang="en-US" sz="900">
                          <a:latin typeface="Times New Roman"/>
                          <a:ea typeface="Times New Roman"/>
                          <a:cs typeface="Times New Roman"/>
                          <a:sym typeface="Times New Roman"/>
                        </a:rPr>
                        <a:t>Open-ended cases + CUSUM + vague alarm</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r>
              <a:tr h="580000">
                <a:tc>
                  <a:txBody>
                    <a:bodyPr/>
                    <a:lstStyle/>
                    <a:p>
                      <a:pPr indent="0" lvl="0" marL="0" rtl="0" algn="l">
                        <a:spcBef>
                          <a:spcPts val="0"/>
                        </a:spcBef>
                        <a:spcAft>
                          <a:spcPts val="0"/>
                        </a:spcAft>
                        <a:buNone/>
                      </a:pPr>
                      <a:r>
                        <a:rPr lang="en-US" sz="900">
                          <a:latin typeface="Times New Roman"/>
                          <a:ea typeface="Times New Roman"/>
                          <a:cs typeface="Times New Roman"/>
                          <a:sym typeface="Times New Roman"/>
                        </a:rPr>
                        <a:t>“Incident-aware Duplicate Ticket Aggregation for Cloud Systems” (iPACK) [11], ICSE 2023 (Microsoft)</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c>
                  <a:txBody>
                    <a:bodyPr/>
                    <a:lstStyle/>
                    <a:p>
                      <a:pPr indent="0" lvl="0" marL="0" rtl="0" algn="l">
                        <a:spcBef>
                          <a:spcPts val="0"/>
                        </a:spcBef>
                        <a:spcAft>
                          <a:spcPts val="0"/>
                        </a:spcAft>
                        <a:buNone/>
                      </a:pPr>
                      <a:r>
                        <a:rPr lang="en-US" sz="900">
                          <a:latin typeface="Times New Roman"/>
                          <a:ea typeface="Times New Roman"/>
                          <a:cs typeface="Times New Roman"/>
                          <a:sym typeface="Times New Roman"/>
                        </a:rPr>
                        <a:t>Links tickets to cloud incident alerts</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c>
                  <a:txBody>
                    <a:bodyPr/>
                    <a:lstStyle/>
                    <a:p>
                      <a:pPr indent="0" lvl="0" marL="0" rtl="0" algn="l">
                        <a:spcBef>
                          <a:spcPts val="0"/>
                        </a:spcBef>
                        <a:spcAft>
                          <a:spcPts val="0"/>
                        </a:spcAft>
                        <a:buNone/>
                      </a:pPr>
                      <a:r>
                        <a:rPr lang="en-US" sz="900">
                          <a:latin typeface="Times New Roman"/>
                          <a:ea typeface="Times New Roman"/>
                          <a:cs typeface="Times New Roman"/>
                          <a:sym typeface="Times New Roman"/>
                        </a:rPr>
                        <a:t>Requires monitoring alerts; F1 0.87–0.94</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c>
                  <a:txBody>
                    <a:bodyPr/>
                    <a:lstStyle/>
                    <a:p>
                      <a:pPr indent="0" lvl="0" marL="0" rtl="0" algn="l">
                        <a:spcBef>
                          <a:spcPts val="0"/>
                        </a:spcBef>
                        <a:spcAft>
                          <a:spcPts val="0"/>
                        </a:spcAft>
                        <a:buNone/>
                      </a:pPr>
                      <a:r>
                        <a:rPr lang="en-US" sz="900">
                          <a:latin typeface="Times New Roman"/>
                          <a:ea typeface="Times New Roman"/>
                          <a:cs typeface="Times New Roman"/>
                          <a:sym typeface="Times New Roman"/>
                        </a:rPr>
                        <a:t>Depends on telemetry</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c>
                  <a:txBody>
                    <a:bodyPr/>
                    <a:lstStyle/>
                    <a:p>
                      <a:pPr indent="0" lvl="0" marL="0" rtl="0" algn="l">
                        <a:spcBef>
                          <a:spcPts val="0"/>
                        </a:spcBef>
                        <a:spcAft>
                          <a:spcPts val="0"/>
                        </a:spcAft>
                        <a:buNone/>
                      </a:pPr>
                      <a:r>
                        <a:rPr lang="en-US" sz="900">
                          <a:latin typeface="Times New Roman"/>
                          <a:ea typeface="Times New Roman"/>
                          <a:cs typeface="Times New Roman"/>
                          <a:sym typeface="Times New Roman"/>
                        </a:rPr>
                        <a:t>Works from complaint text alone</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r>
              <a:tr h="580000">
                <a:tc>
                  <a:txBody>
                    <a:bodyPr/>
                    <a:lstStyle/>
                    <a:p>
                      <a:pPr indent="0" lvl="0" marL="0" rtl="0" algn="l">
                        <a:spcBef>
                          <a:spcPts val="0"/>
                        </a:spcBef>
                        <a:spcAft>
                          <a:spcPts val="0"/>
                        </a:spcAft>
                        <a:buNone/>
                      </a:pPr>
                      <a:r>
                        <a:rPr lang="en-US" sz="900">
                          <a:latin typeface="Times New Roman"/>
                          <a:ea typeface="Times New Roman"/>
                          <a:cs typeface="Times New Roman"/>
                          <a:sym typeface="Times New Roman"/>
                        </a:rPr>
                        <a:t>SentiSum anomaly detection [12], commercial, 2025</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c>
                  <a:txBody>
                    <a:bodyPr/>
                    <a:lstStyle/>
                    <a:p>
                      <a:pPr indent="0" lvl="0" marL="0" rtl="0" algn="l">
                        <a:spcBef>
                          <a:spcPts val="0"/>
                        </a:spcBef>
                        <a:spcAft>
                          <a:spcPts val="0"/>
                        </a:spcAft>
                        <a:buNone/>
                      </a:pPr>
                      <a:r>
                        <a:rPr lang="en-US" sz="900">
                          <a:latin typeface="Times New Roman"/>
                          <a:ea typeface="Times New Roman"/>
                          <a:cs typeface="Times New Roman"/>
                          <a:sym typeface="Times New Roman"/>
                        </a:rPr>
                        <a:t>Anomaly detection per tag</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c>
                  <a:txBody>
                    <a:bodyPr/>
                    <a:lstStyle/>
                    <a:p>
                      <a:pPr indent="0" lvl="0" marL="0" rtl="0" algn="l">
                        <a:spcBef>
                          <a:spcPts val="0"/>
                        </a:spcBef>
                        <a:spcAft>
                          <a:spcPts val="0"/>
                        </a:spcAft>
                        <a:buNone/>
                      </a:pPr>
                      <a:r>
                        <a:rPr lang="en-US" sz="900">
                          <a:latin typeface="Times New Roman"/>
                          <a:ea typeface="Times New Roman"/>
                          <a:cs typeface="Times New Roman"/>
                          <a:sym typeface="Times New Roman"/>
                        </a:rPr>
                        <a:t>z-score &gt; 2 per tag</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c>
                  <a:txBody>
                    <a:bodyPr/>
                    <a:lstStyle/>
                    <a:p>
                      <a:pPr indent="0" lvl="0" marL="0" rtl="0" algn="l">
                        <a:spcBef>
                          <a:spcPts val="0"/>
                        </a:spcBef>
                        <a:spcAft>
                          <a:spcPts val="0"/>
                        </a:spcAft>
                        <a:buNone/>
                      </a:pPr>
                      <a:r>
                        <a:rPr lang="en-US" sz="900">
                          <a:latin typeface="Times New Roman"/>
                          <a:ea typeface="Times New Roman"/>
                          <a:cs typeface="Times New Roman"/>
                          <a:sym typeface="Times New Roman"/>
                        </a:rPr>
                        <a:t>Fails at 0–2 complaints per window (0% detected)</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c>
                  <a:txBody>
                    <a:bodyPr/>
                    <a:lstStyle/>
                    <a:p>
                      <a:pPr indent="0" lvl="0" marL="0" rtl="0" algn="l">
                        <a:spcBef>
                          <a:spcPts val="0"/>
                        </a:spcBef>
                        <a:spcAft>
                          <a:spcPts val="0"/>
                        </a:spcAft>
                        <a:buNone/>
                      </a:pPr>
                      <a:r>
                        <a:rPr lang="en-US" sz="900">
                          <a:latin typeface="Times New Roman"/>
                          <a:ea typeface="Times New Roman"/>
                          <a:cs typeface="Times New Roman"/>
                          <a:sym typeface="Times New Roman"/>
                        </a:rPr>
                        <a:t>Poisson CUSUM, h = 2 (76–91% detected)</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r>
            </a:tbl>
          </a:graphicData>
        </a:graphic>
      </p:graphicFrame>
      <p:sp>
        <p:nvSpPr>
          <p:cNvPr id="950" name="Results text 950"/>
          <p:cNvSpPr txBox="1"/>
          <p:nvPr/>
        </p:nvSpPr>
        <p:spPr>
          <a:xfrm>
            <a:off x="497000" y="4170000"/>
            <a:ext cx="8150000" cy="620000"/>
          </a:xfrm>
          <a:prstGeom prst="rect">
            <a:avLst/>
          </a:prstGeom>
          <a:noFill/>
          <a:ln>
            <a:noFill/>
          </a:ln>
        </p:spPr>
        <p:txBody>
          <a:bodyPr anchorCtr="0" anchor="t" bIns="45720" lIns="45720" spcFirstLastPara="1" rIns="45720" wrap="square" tIns="45720">
            <a:noAutofit/>
          </a:bodyPr>
          <a:lstStyle/>
          <a:p>
            <a:pPr indent="0" lvl="0" marL="0" rtl="0" algn="l">
              <a:spcBef>
                <a:spcPts val="0"/>
              </a:spcBef>
              <a:spcAft>
                <a:spcPts val="0"/>
              </a:spcAft>
              <a:buNone/>
            </a:pPr>
            <a:r>
              <a:rPr b="1" lang="en-US" sz="1000">
                <a:solidFill>
                  <a:schemeClr val="dk1"/>
                </a:solidFill>
                <a:latin typeface="Times New Roman"/>
                <a:ea typeface="Times New Roman"/>
                <a:cs typeface="Times New Roman"/>
                <a:sym typeface="Times New Roman"/>
              </a:rPr>
              <a:t xml:space="preserve">Research finding: several systems group duplicate reports (CLAP, TickIt, iPACK, Dial-In LLM), but none we found in academic papers, industry blogs, products or patents combines online problem-level case merging of raw complaint text with per-case spike detection, root-cause explanation and human-approved escalation.</a:t>
            </a:r>
          </a:p>
        </p:txBody>
      </p:sp>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0" name="Shape 120"/>
        <p:cNvGrpSpPr/>
        <p:nvPr/>
      </p:nvGrpSpPr>
      <p:grpSpPr>
        <a:xfrm>
          <a:off x="0" y="0"/>
          <a:ext cx="0" cy="0"/>
          <a:chOff x="0" y="0"/>
          <a:chExt cx="0" cy="0"/>
        </a:xfrm>
      </p:grpSpPr>
      <p:sp>
        <p:nvSpPr>
          <p:cNvPr id="121" name="Google Shape;121;p16"/>
          <p:cNvSpPr txBox="1"/>
          <p:nvPr/>
        </p:nvSpPr>
        <p:spPr>
          <a:xfrm>
            <a:off x="257175" y="4836100"/>
            <a:ext cx="1343100" cy="2769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1200"/>
              <a:buFont typeface="Arial"/>
              <a:buNone/>
            </a:pPr>
            <a:r>
              <a:rPr b="0" i="0" lang="en-US" sz="1200" u="none" cap="none" strike="noStrike">
                <a:solidFill>
                  <a:schemeClr val="lt1"/>
                </a:solidFill>
                <a:latin typeface="Times New Roman"/>
                <a:ea typeface="Times New Roman"/>
                <a:cs typeface="Times New Roman"/>
                <a:sym typeface="Times New Roman"/>
              </a:rPr>
              <a:t>26/6/2023</a:t>
            </a:r>
            <a:endParaRPr b="0" i="0" sz="1200" u="none" cap="none" strike="noStrike">
              <a:solidFill>
                <a:schemeClr val="lt1"/>
              </a:solidFill>
              <a:latin typeface="Times New Roman"/>
              <a:ea typeface="Times New Roman"/>
              <a:cs typeface="Times New Roman"/>
              <a:sym typeface="Times New Roman"/>
            </a:endParaRPr>
          </a:p>
        </p:txBody>
      </p:sp>
      <p:sp>
        <p:nvSpPr>
          <p:cNvPr id="122" name="Google Shape;122;p16"/>
          <p:cNvSpPr/>
          <p:nvPr/>
        </p:nvSpPr>
        <p:spPr>
          <a:xfrm>
            <a:off x="6309074" y="4882011"/>
            <a:ext cx="2118600" cy="108900"/>
          </a:xfrm>
          <a:prstGeom prst="rect">
            <a:avLst/>
          </a:prstGeom>
          <a:solidFill>
            <a:srgbClr val="C00000"/>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2493"/>
              <a:buFont typeface="Arial"/>
              <a:buNone/>
            </a:pPr>
            <a:r>
              <a:t/>
            </a:r>
            <a:endParaRPr b="0" i="0" sz="2495" u="none" cap="none" strike="noStrike">
              <a:solidFill>
                <a:schemeClr val="lt1"/>
              </a:solidFill>
              <a:latin typeface="Arial"/>
              <a:ea typeface="Arial"/>
              <a:cs typeface="Arial"/>
              <a:sym typeface="Arial"/>
            </a:endParaRPr>
          </a:p>
        </p:txBody>
      </p:sp>
      <p:pic>
        <p:nvPicPr>
          <p:cNvPr id="123" name="Google Shape;123;p16"/>
          <p:cNvPicPr preferRelativeResize="0"/>
          <p:nvPr/>
        </p:nvPicPr>
        <p:blipFill rotWithShape="1">
          <a:blip r:embed="rId3">
            <a:alphaModFix/>
          </a:blip>
          <a:srcRect b="0" l="0" r="0" t="0"/>
          <a:stretch/>
        </p:blipFill>
        <p:spPr>
          <a:xfrm>
            <a:off x="0" y="0"/>
            <a:ext cx="9143999" cy="1332186"/>
          </a:xfrm>
          <a:prstGeom prst="rect">
            <a:avLst/>
          </a:prstGeom>
          <a:noFill/>
          <a:ln>
            <a:noFill/>
          </a:ln>
        </p:spPr>
      </p:pic>
      <p:sp>
        <p:nvSpPr>
          <p:cNvPr id="124" name="Google Shape;124;p16"/>
          <p:cNvSpPr/>
          <p:nvPr/>
        </p:nvSpPr>
        <p:spPr>
          <a:xfrm>
            <a:off x="2105025" y="4836100"/>
            <a:ext cx="6807300" cy="322800"/>
          </a:xfrm>
          <a:prstGeom prst="rect">
            <a:avLst/>
          </a:prstGeom>
          <a:solidFill>
            <a:srgbClr val="C00000"/>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2493"/>
              <a:buFont typeface="Arial"/>
              <a:buNone/>
            </a:pPr>
            <a:r>
              <a:t/>
            </a:r>
            <a:endParaRPr b="0" i="0" sz="2495" u="none" cap="none" strike="noStrike">
              <a:solidFill>
                <a:schemeClr val="lt1"/>
              </a:solidFill>
              <a:latin typeface="Arial"/>
              <a:ea typeface="Arial"/>
              <a:cs typeface="Arial"/>
              <a:sym typeface="Arial"/>
            </a:endParaRPr>
          </a:p>
        </p:txBody>
      </p:sp>
      <p:sp>
        <p:nvSpPr>
          <p:cNvPr id="125" name="Google Shape;125;p16"/>
          <p:cNvSpPr/>
          <p:nvPr/>
        </p:nvSpPr>
        <p:spPr>
          <a:xfrm>
            <a:off x="8909371" y="1288085"/>
            <a:ext cx="230400" cy="3941400"/>
          </a:xfrm>
          <a:prstGeom prst="rect">
            <a:avLst/>
          </a:prstGeom>
          <a:solidFill>
            <a:srgbClr val="C00000"/>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2493"/>
              <a:buFont typeface="Arial"/>
              <a:buNone/>
            </a:pPr>
            <a:r>
              <a:t/>
            </a:r>
            <a:endParaRPr b="0" i="0" sz="2495" u="none" cap="none" strike="noStrike">
              <a:solidFill>
                <a:schemeClr val="lt1"/>
              </a:solidFill>
              <a:latin typeface="Arial"/>
              <a:ea typeface="Arial"/>
              <a:cs typeface="Arial"/>
              <a:sym typeface="Arial"/>
            </a:endParaRPr>
          </a:p>
        </p:txBody>
      </p:sp>
      <p:sp>
        <p:nvSpPr>
          <p:cNvPr id="126" name="Google Shape;126;p16"/>
          <p:cNvSpPr/>
          <p:nvPr/>
        </p:nvSpPr>
        <p:spPr>
          <a:xfrm>
            <a:off x="1631250" y="1287476"/>
            <a:ext cx="5687400" cy="322800"/>
          </a:xfrm>
          <a:prstGeom prst="rect">
            <a:avLst/>
          </a:prstGeom>
          <a:noFill/>
          <a:ln>
            <a:noFill/>
          </a:ln>
        </p:spPr>
        <p:txBody>
          <a:bodyPr anchorCtr="0" anchor="t"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600"/>
              <a:buFont typeface="Arial"/>
              <a:buNone/>
            </a:pPr>
            <a:r>
              <a:rPr b="1" lang="en-US" sz="1600">
                <a:latin typeface="Times New Roman"/>
                <a:ea typeface="Times New Roman"/>
                <a:cs typeface="Times New Roman"/>
                <a:sym typeface="Times New Roman"/>
              </a:rPr>
              <a:t>RESULTS: PRECISION VS RECALL</a:t>
            </a:r>
            <a:endParaRPr b="1" i="0" sz="1600" u="none" cap="none" strike="noStrike">
              <a:solidFill>
                <a:srgbClr val="000000"/>
              </a:solidFill>
              <a:latin typeface="Times New Roman"/>
              <a:ea typeface="Times New Roman"/>
              <a:cs typeface="Times New Roman"/>
              <a:sym typeface="Times New Roman"/>
            </a:endParaRPr>
          </a:p>
        </p:txBody>
      </p:sp>
      <p:pic>
        <p:nvPicPr>
          <p:cNvPr id="127" name="Google Shape;127;p16"/>
          <p:cNvPicPr preferRelativeResize="0"/>
          <p:nvPr/>
        </p:nvPicPr>
        <p:blipFill>
          <a:blip r:embed="rId4">
            <a:alphaModFix/>
          </a:blip>
          <a:stretch>
            <a:fillRect/>
          </a:stretch>
        </p:blipFill>
        <p:spPr>
          <a:xfrm>
            <a:off x="380000" y="1640000"/>
            <a:ext cx="5350000" cy="3152678"/>
          </a:xfrm>
          <a:prstGeom prst="rect">
            <a:avLst/>
          </a:prstGeom>
          <a:noFill/>
          <a:ln>
            <a:noFill/>
          </a:ln>
        </p:spPr>
      </p:pic>
      <p:sp>
        <p:nvSpPr>
          <p:cNvPr id="918" name="Results text 918"/>
          <p:cNvSpPr txBox="1"/>
          <p:nvPr/>
        </p:nvSpPr>
        <p:spPr>
          <a:xfrm>
            <a:off x="5850000" y="1600000"/>
            <a:ext cx="3050000" cy="3150000"/>
          </a:xfrm>
          <a:prstGeom prst="rect">
            <a:avLst/>
          </a:prstGeom>
          <a:noFill/>
          <a:ln>
            <a:noFill/>
          </a:ln>
        </p:spPr>
        <p:txBody>
          <a:bodyPr anchorCtr="0" anchor="t" bIns="45720" lIns="45720" spcFirstLastPara="1" rIns="45720" wrap="square" tIns="45720">
            <a:noAutofit/>
          </a:bodyPr>
          <a:lstStyle/>
          <a:p>
            <a:pPr indent="-285750" lvl="0" marL="342900" rtl="0" algn="l">
              <a:spcBef>
                <a:spcPts val="0"/>
              </a:spcBef>
              <a:spcAft>
                <a:spcPts val="500"/>
              </a:spcAft>
              <a:buClr>
                <a:schemeClr val="dk1"/>
              </a:buClr>
              <a:buSzPts val="1200"/>
              <a:buFont typeface="Times New Roman"/>
              <a:buChar char="●"/>
            </a:pPr>
            <a:r>
              <a:rPr b="1" lang="en-US" sz="1200">
                <a:solidFill>
                  <a:schemeClr val="dk1"/>
                </a:solidFill>
                <a:latin typeface="Times New Roman"/>
                <a:ea typeface="Times New Roman"/>
                <a:cs typeface="Times New Roman"/>
                <a:sym typeface="Times New Roman"/>
              </a:rPr>
              <a:t xml:space="preserve">Only InsightDesk</a:t>
            </a:r>
            <a:r>
              <a:rPr lang="en-US" sz="1200">
                <a:solidFill>
                  <a:schemeClr val="dk1"/>
                </a:solidFill>
                <a:latin typeface="Times New Roman"/>
                <a:ea typeface="Times New Roman"/>
                <a:cs typeface="Times New Roman"/>
                <a:sym typeface="Times New Roman"/>
              </a:rPr>
              <a:t xml:space="preserve"> keeps precision high while finding useful recall.</a:t>
            </a:r>
          </a:p>
          <a:p>
            <a:pPr indent="-285750" lvl="0" marL="342900" rtl="0" algn="l">
              <a:spcBef>
                <a:spcPts val="0"/>
              </a:spcBef>
              <a:spcAft>
                <a:spcPts val="500"/>
              </a:spcAft>
              <a:buClr>
                <a:schemeClr val="dk1"/>
              </a:buClr>
              <a:buSzPts val="1200"/>
              <a:buFont typeface="Times New Roman"/>
              <a:buChar char="●"/>
            </a:pPr>
            <a:r>
              <a:rPr b="1" lang="en-US" sz="1200">
                <a:solidFill>
                  <a:schemeClr val="dk1"/>
                </a:solidFill>
                <a:latin typeface="Times New Roman"/>
                <a:ea typeface="Times New Roman"/>
                <a:cs typeface="Times New Roman"/>
                <a:sym typeface="Times New Roman"/>
              </a:rPr>
              <a:t xml:space="preserve">Topic models</a:t>
            </a:r>
            <a:r>
              <a:rPr lang="en-US" sz="1200">
                <a:solidFill>
                  <a:schemeClr val="dk1"/>
                </a:solidFill>
                <a:latin typeface="Times New Roman"/>
                <a:ea typeface="Times New Roman"/>
                <a:cs typeface="Times New Roman"/>
                <a:sym typeface="Times New Roman"/>
              </a:rPr>
              <a:t xml:space="preserve"> group themes, not problems (BERTopic precision 0.16).</a:t>
            </a:r>
          </a:p>
          <a:p>
            <a:pPr indent="-285750" lvl="0" marL="342900" rtl="0" algn="l">
              <a:spcBef>
                <a:spcPts val="0"/>
              </a:spcBef>
              <a:spcAft>
                <a:spcPts val="500"/>
              </a:spcAft>
              <a:buClr>
                <a:schemeClr val="dk1"/>
              </a:buClr>
              <a:buSzPts val="1200"/>
              <a:buFont typeface="Times New Roman"/>
              <a:buChar char="●"/>
            </a:pPr>
            <a:r>
              <a:rPr b="1" lang="en-US" sz="1200">
                <a:solidFill>
                  <a:schemeClr val="dk1"/>
                </a:solidFill>
                <a:latin typeface="Times New Roman"/>
                <a:ea typeface="Times New Roman"/>
                <a:cs typeface="Times New Roman"/>
                <a:sym typeface="Times New Roman"/>
              </a:rPr>
              <a:t xml:space="preserve">Generalises:</a:t>
            </a:r>
            <a:r>
              <a:rPr lang="en-US" sz="1200">
                <a:solidFill>
                  <a:schemeClr val="dk1"/>
                </a:solidFill>
                <a:latin typeface="Times New Roman"/>
                <a:ea typeface="Times New Roman"/>
                <a:cs typeface="Times New Roman"/>
                <a:sym typeface="Times New Roman"/>
              </a:rPr>
              <a:t xml:space="preserve"> unseen apps case precision 0.92, unseen company 0.89.</a:t>
            </a:r>
          </a:p>
          <a:p>
            <a:pPr indent="-285750" lvl="0" marL="342900" rtl="0" algn="l">
              <a:spcBef>
                <a:spcPts val="0"/>
              </a:spcBef>
              <a:spcAft>
                <a:spcPts val="500"/>
              </a:spcAft>
              <a:buClr>
                <a:schemeClr val="dk1"/>
              </a:buClr>
              <a:buSzPts val="1200"/>
              <a:buFont typeface="Times New Roman"/>
              <a:buChar char="●"/>
            </a:pPr>
            <a:r>
              <a:rPr b="1" lang="en-US" sz="1200">
                <a:solidFill>
                  <a:schemeClr val="dk1"/>
                </a:solidFill>
                <a:latin typeface="Times New Roman"/>
                <a:ea typeface="Times New Roman"/>
                <a:cs typeface="Times New Roman"/>
                <a:sym typeface="Times New Roman"/>
              </a:rPr>
              <a:t xml:space="preserve">Duplicate retrieval (top-5):</a:t>
            </a:r>
            <a:r>
              <a:rPr lang="en-US" sz="1200">
                <a:solidFill>
                  <a:schemeClr val="dk1"/>
                </a:solidFill>
                <a:latin typeface="Times New Roman"/>
                <a:ea typeface="Times New Roman"/>
                <a:cs typeface="Times New Roman"/>
                <a:sym typeface="Times New Roman"/>
              </a:rPr>
              <a:t xml:space="preserve"> 0.46–0.56 vs REP 0.43–0.44 on 233K bug reports.</a:t>
            </a:r>
          </a:p>
        </p:txBody>
      </p:sp>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20" name="Shape 120"/>
        <p:cNvGrpSpPr/>
        <p:nvPr/>
      </p:nvGrpSpPr>
      <p:grpSpPr>
        <a:xfrm>
          <a:off x="0" y="0"/>
          <a:ext cx="0" cy="0"/>
          <a:chOff x="0" y="0"/>
          <a:chExt cx="0" cy="0"/>
        </a:xfrm>
      </p:grpSpPr>
      <p:sp>
        <p:nvSpPr>
          <p:cNvPr id="121" name="Google Shape;121;p16"/>
          <p:cNvSpPr txBox="1"/>
          <p:nvPr/>
        </p:nvSpPr>
        <p:spPr>
          <a:xfrm>
            <a:off x="257175" y="4836100"/>
            <a:ext cx="1343100" cy="2769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1200"/>
              <a:buFont typeface="Arial"/>
              <a:buNone/>
            </a:pPr>
            <a:r>
              <a:rPr b="0" i="0" lang="en-US" sz="1200" u="none" cap="none" strike="noStrike">
                <a:solidFill>
                  <a:schemeClr val="lt1"/>
                </a:solidFill>
                <a:latin typeface="Times New Roman"/>
                <a:ea typeface="Times New Roman"/>
                <a:cs typeface="Times New Roman"/>
                <a:sym typeface="Times New Roman"/>
              </a:rPr>
              <a:t>26/6/2023</a:t>
            </a:r>
            <a:endParaRPr b="0" i="0" sz="1200" u="none" cap="none" strike="noStrike">
              <a:solidFill>
                <a:schemeClr val="lt1"/>
              </a:solidFill>
              <a:latin typeface="Times New Roman"/>
              <a:ea typeface="Times New Roman"/>
              <a:cs typeface="Times New Roman"/>
              <a:sym typeface="Times New Roman"/>
            </a:endParaRPr>
          </a:p>
        </p:txBody>
      </p:sp>
      <p:sp>
        <p:nvSpPr>
          <p:cNvPr id="122" name="Google Shape;122;p16"/>
          <p:cNvSpPr/>
          <p:nvPr/>
        </p:nvSpPr>
        <p:spPr>
          <a:xfrm>
            <a:off x="6309074" y="4882011"/>
            <a:ext cx="2118600" cy="108900"/>
          </a:xfrm>
          <a:prstGeom prst="rect">
            <a:avLst/>
          </a:prstGeom>
          <a:solidFill>
            <a:srgbClr val="C00000"/>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2493"/>
              <a:buFont typeface="Arial"/>
              <a:buNone/>
            </a:pPr>
            <a:r>
              <a:t/>
            </a:r>
            <a:endParaRPr b="0" i="0" sz="2495" u="none" cap="none" strike="noStrike">
              <a:solidFill>
                <a:schemeClr val="lt1"/>
              </a:solidFill>
              <a:latin typeface="Arial"/>
              <a:ea typeface="Arial"/>
              <a:cs typeface="Arial"/>
              <a:sym typeface="Arial"/>
            </a:endParaRPr>
          </a:p>
        </p:txBody>
      </p:sp>
      <p:pic>
        <p:nvPicPr>
          <p:cNvPr id="123" name="Google Shape;123;p16"/>
          <p:cNvPicPr preferRelativeResize="0"/>
          <p:nvPr/>
        </p:nvPicPr>
        <p:blipFill rotWithShape="1">
          <a:blip r:embed="rId3">
            <a:alphaModFix/>
          </a:blip>
          <a:srcRect b="0" l="0" r="0" t="0"/>
          <a:stretch/>
        </p:blipFill>
        <p:spPr>
          <a:xfrm>
            <a:off x="0" y="0"/>
            <a:ext cx="9143999" cy="1332186"/>
          </a:xfrm>
          <a:prstGeom prst="rect">
            <a:avLst/>
          </a:prstGeom>
          <a:noFill/>
          <a:ln>
            <a:noFill/>
          </a:ln>
        </p:spPr>
      </p:pic>
      <p:sp>
        <p:nvSpPr>
          <p:cNvPr id="124" name="Google Shape;124;p16"/>
          <p:cNvSpPr/>
          <p:nvPr/>
        </p:nvSpPr>
        <p:spPr>
          <a:xfrm>
            <a:off x="2105025" y="4836100"/>
            <a:ext cx="6807300" cy="322800"/>
          </a:xfrm>
          <a:prstGeom prst="rect">
            <a:avLst/>
          </a:prstGeom>
          <a:solidFill>
            <a:srgbClr val="C00000"/>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2493"/>
              <a:buFont typeface="Arial"/>
              <a:buNone/>
            </a:pPr>
            <a:r>
              <a:t/>
            </a:r>
            <a:endParaRPr b="0" i="0" sz="2495" u="none" cap="none" strike="noStrike">
              <a:solidFill>
                <a:schemeClr val="lt1"/>
              </a:solidFill>
              <a:latin typeface="Arial"/>
              <a:ea typeface="Arial"/>
              <a:cs typeface="Arial"/>
              <a:sym typeface="Arial"/>
            </a:endParaRPr>
          </a:p>
        </p:txBody>
      </p:sp>
      <p:sp>
        <p:nvSpPr>
          <p:cNvPr id="125" name="Google Shape;125;p16"/>
          <p:cNvSpPr/>
          <p:nvPr/>
        </p:nvSpPr>
        <p:spPr>
          <a:xfrm>
            <a:off x="8909371" y="1288085"/>
            <a:ext cx="230400" cy="3941400"/>
          </a:xfrm>
          <a:prstGeom prst="rect">
            <a:avLst/>
          </a:prstGeom>
          <a:solidFill>
            <a:srgbClr val="C00000"/>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2493"/>
              <a:buFont typeface="Arial"/>
              <a:buNone/>
            </a:pPr>
            <a:r>
              <a:t/>
            </a:r>
            <a:endParaRPr b="0" i="0" sz="2495" u="none" cap="none" strike="noStrike">
              <a:solidFill>
                <a:schemeClr val="lt1"/>
              </a:solidFill>
              <a:latin typeface="Arial"/>
              <a:ea typeface="Arial"/>
              <a:cs typeface="Arial"/>
              <a:sym typeface="Arial"/>
            </a:endParaRPr>
          </a:p>
        </p:txBody>
      </p:sp>
      <p:sp>
        <p:nvSpPr>
          <p:cNvPr id="126" name="Google Shape;126;p16"/>
          <p:cNvSpPr/>
          <p:nvPr/>
        </p:nvSpPr>
        <p:spPr>
          <a:xfrm>
            <a:off x="1631250" y="1287476"/>
            <a:ext cx="5687400" cy="322800"/>
          </a:xfrm>
          <a:prstGeom prst="rect">
            <a:avLst/>
          </a:prstGeom>
          <a:noFill/>
          <a:ln>
            <a:noFill/>
          </a:ln>
        </p:spPr>
        <p:txBody>
          <a:bodyPr anchorCtr="0" anchor="t"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600"/>
              <a:buFont typeface="Arial"/>
              <a:buNone/>
            </a:pPr>
            <a:r>
              <a:rPr b="1" lang="en-US" sz="1600">
                <a:latin typeface="Times New Roman"/>
                <a:ea typeface="Times New Roman"/>
                <a:cs typeface="Times New Roman"/>
                <a:sym typeface="Times New Roman"/>
              </a:rPr>
              <a:t>RESULTS: INCIDENT DETECTION</a:t>
            </a:r>
            <a:endParaRPr b="1" i="0" sz="1600" u="none" cap="none" strike="noStrike">
              <a:solidFill>
                <a:srgbClr val="000000"/>
              </a:solidFill>
              <a:latin typeface="Times New Roman"/>
              <a:ea typeface="Times New Roman"/>
              <a:cs typeface="Times New Roman"/>
              <a:sym typeface="Times New Roman"/>
            </a:endParaRPr>
          </a:p>
        </p:txBody>
      </p:sp>
      <p:pic>
        <p:nvPicPr>
          <p:cNvPr id="127" name="Google Shape;127;p16"/>
          <p:cNvPicPr preferRelativeResize="0"/>
          <p:nvPr/>
        </p:nvPicPr>
        <p:blipFill>
          <a:blip r:embed="rId4">
            <a:alphaModFix/>
          </a:blip>
          <a:stretch>
            <a:fillRect/>
          </a:stretch>
        </p:blipFill>
        <p:spPr>
          <a:xfrm>
            <a:off x="380000" y="1640000"/>
            <a:ext cx="5350000" cy="2372470"/>
          </a:xfrm>
          <a:prstGeom prst="rect">
            <a:avLst/>
          </a:prstGeom>
          <a:noFill/>
          <a:ln>
            <a:noFill/>
          </a:ln>
        </p:spPr>
      </p:pic>
      <p:sp>
        <p:nvSpPr>
          <p:cNvPr id="919" name="Results text 919"/>
          <p:cNvSpPr txBox="1"/>
          <p:nvPr/>
        </p:nvSpPr>
        <p:spPr>
          <a:xfrm>
            <a:off x="5850000" y="1600000"/>
            <a:ext cx="3050000" cy="3150000"/>
          </a:xfrm>
          <a:prstGeom prst="rect">
            <a:avLst/>
          </a:prstGeom>
          <a:noFill/>
          <a:ln>
            <a:noFill/>
          </a:ln>
        </p:spPr>
        <p:txBody>
          <a:bodyPr anchorCtr="0" anchor="t" bIns="45720" lIns="45720" spcFirstLastPara="1" rIns="45720" wrap="square" tIns="45720">
            <a:noAutofit/>
          </a:bodyPr>
          <a:lstStyle/>
          <a:p>
            <a:pPr indent="-285750" lvl="0" marL="342900" rtl="0" algn="l">
              <a:spcBef>
                <a:spcPts val="0"/>
              </a:spcBef>
              <a:spcAft>
                <a:spcPts val="500"/>
              </a:spcAft>
              <a:buClr>
                <a:schemeClr val="dk1"/>
              </a:buClr>
              <a:buSzPts val="1200"/>
              <a:buFont typeface="Times New Roman"/>
              <a:buChar char="●"/>
            </a:pPr>
            <a:r>
              <a:rPr b="1" lang="en-US" sz="1200">
                <a:solidFill>
                  <a:schemeClr val="dk1"/>
                </a:solidFill>
                <a:latin typeface="Times New Roman"/>
                <a:ea typeface="Times New Roman"/>
                <a:cs typeface="Times New Roman"/>
                <a:sym typeface="Times New Roman"/>
              </a:rPr>
              <a:t xml:space="preserve">CUSUM:</a:t>
            </a:r>
            <a:r>
              <a:rPr lang="en-US" sz="1200">
                <a:solidFill>
                  <a:schemeClr val="dk1"/>
                </a:solidFill>
                <a:latin typeface="Times New Roman"/>
                <a:ea typeface="Times New Roman"/>
                <a:cs typeface="Times New Roman"/>
                <a:sym typeface="Times New Roman"/>
              </a:rPr>
              <a:t xml:space="preserve"> 76–91% of outbreaks detected on bug-report streams, under 1 false alarm per 100 windows.</a:t>
            </a:r>
          </a:p>
          <a:p>
            <a:pPr indent="-285750" lvl="0" marL="342900" rtl="0" algn="l">
              <a:spcBef>
                <a:spcPts val="0"/>
              </a:spcBef>
              <a:spcAft>
                <a:spcPts val="500"/>
              </a:spcAft>
              <a:buClr>
                <a:schemeClr val="dk1"/>
              </a:buClr>
              <a:buSzPts val="1200"/>
              <a:buFont typeface="Times New Roman"/>
              <a:buChar char="●"/>
            </a:pPr>
            <a:r>
              <a:rPr b="1" lang="en-US" sz="1200">
                <a:solidFill>
                  <a:schemeClr val="dk1"/>
                </a:solidFill>
                <a:latin typeface="Times New Roman"/>
                <a:ea typeface="Times New Roman"/>
                <a:cs typeface="Times New Roman"/>
                <a:sym typeface="Times New Roman"/>
              </a:rPr>
              <a:t xml:space="preserve">z-score</a:t>
            </a:r>
            <a:r>
              <a:rPr lang="en-US" sz="1200">
                <a:solidFill>
                  <a:schemeClr val="dk1"/>
                </a:solidFill>
                <a:latin typeface="Times New Roman"/>
                <a:ea typeface="Times New Roman"/>
                <a:cs typeface="Times New Roman"/>
                <a:sym typeface="Times New Roman"/>
              </a:rPr>
              <a:t xml:space="preserve"> (used by feedback tools): 0% detected.</a:t>
            </a:r>
          </a:p>
          <a:p>
            <a:pPr indent="-285750" lvl="0" marL="342900" rtl="0" algn="l">
              <a:spcBef>
                <a:spcPts val="0"/>
              </a:spcBef>
              <a:spcAft>
                <a:spcPts val="500"/>
              </a:spcAft>
              <a:buClr>
                <a:schemeClr val="dk1"/>
              </a:buClr>
              <a:buSzPts val="1200"/>
              <a:buFont typeface="Times New Roman"/>
              <a:buChar char="●"/>
            </a:pPr>
            <a:r>
              <a:rPr b="1" lang="en-US" sz="1200">
                <a:solidFill>
                  <a:schemeClr val="dk1"/>
                </a:solidFill>
                <a:latin typeface="Times New Roman"/>
                <a:ea typeface="Times New Roman"/>
                <a:cs typeface="Times New Roman"/>
                <a:sym typeface="Times New Roman"/>
              </a:rPr>
              <a:t xml:space="preserve">Vague alarm:</a:t>
            </a:r>
            <a:r>
              <a:rPr lang="en-US" sz="1200">
                <a:solidFill>
                  <a:schemeClr val="dk1"/>
                </a:solidFill>
                <a:latin typeface="Times New Roman"/>
                <a:ea typeface="Times New Roman"/>
                <a:cs typeface="Times New Roman"/>
                <a:sym typeface="Times New Roman"/>
              </a:rPr>
              <a:t xml:space="preserve"> 100% of vague-only outages with 10+ complaints.</a:t>
            </a:r>
          </a:p>
          <a:p>
            <a:pPr indent="-285750" lvl="0" marL="342900" rtl="0" algn="l">
              <a:spcBef>
                <a:spcPts val="0"/>
              </a:spcBef>
              <a:spcAft>
                <a:spcPts val="500"/>
              </a:spcAft>
              <a:buClr>
                <a:schemeClr val="dk1"/>
              </a:buClr>
              <a:buSzPts val="1200"/>
              <a:buFont typeface="Times New Roman"/>
              <a:buChar char="●"/>
            </a:pPr>
            <a:r>
              <a:rPr b="1" lang="en-US" sz="1200">
                <a:solidFill>
                  <a:schemeClr val="dk1"/>
                </a:solidFill>
                <a:latin typeface="Times New Roman"/>
                <a:ea typeface="Times New Roman"/>
                <a:cs typeface="Times New Roman"/>
                <a:sym typeface="Times New Roman"/>
              </a:rPr>
              <a:t xml:space="preserve">End to end:</a:t>
            </a:r>
            <a:r>
              <a:rPr lang="en-US" sz="1200">
                <a:solidFill>
                  <a:schemeClr val="dk1"/>
                </a:solidFill>
                <a:latin typeface="Times New Roman"/>
                <a:ea typeface="Times New Roman"/>
                <a:cs typeface="Times New Roman"/>
                <a:sym typeface="Times New Roman"/>
              </a:rPr>
              <a:t xml:space="preserve"> 94% of incidents escalation-eligible within 12 h, 0 false alarms.</a:t>
            </a:r>
          </a:p>
        </p:txBody>
      </p:sp>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9" name="Shape 109"/>
        <p:cNvGrpSpPr/>
        <p:nvPr/>
      </p:nvGrpSpPr>
      <p:grpSpPr>
        <a:xfrm>
          <a:off x="0" y="0"/>
          <a:ext cx="0" cy="0"/>
          <a:chOff x="0" y="0"/>
          <a:chExt cx="0" cy="0"/>
        </a:xfrm>
      </p:grpSpPr>
      <p:sp>
        <p:nvSpPr>
          <p:cNvPr id="110" name="Google Shape;110;p15"/>
          <p:cNvSpPr txBox="1"/>
          <p:nvPr/>
        </p:nvSpPr>
        <p:spPr>
          <a:xfrm>
            <a:off x="257175" y="4836100"/>
            <a:ext cx="1343100" cy="2769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1200"/>
              <a:buFont typeface="Arial"/>
              <a:buNone/>
            </a:pPr>
            <a:r>
              <a:rPr b="0" i="0" lang="en-US" sz="1200" u="none" cap="none" strike="noStrike">
                <a:solidFill>
                  <a:schemeClr val="lt1"/>
                </a:solidFill>
                <a:latin typeface="Times New Roman"/>
                <a:ea typeface="Times New Roman"/>
                <a:cs typeface="Times New Roman"/>
                <a:sym typeface="Times New Roman"/>
              </a:rPr>
              <a:t>26/6/2023</a:t>
            </a:r>
            <a:endParaRPr b="0" i="0" sz="1200" u="none" cap="none" strike="noStrike">
              <a:solidFill>
                <a:schemeClr val="lt1"/>
              </a:solidFill>
              <a:latin typeface="Times New Roman"/>
              <a:ea typeface="Times New Roman"/>
              <a:cs typeface="Times New Roman"/>
              <a:sym typeface="Times New Roman"/>
            </a:endParaRPr>
          </a:p>
        </p:txBody>
      </p:sp>
      <p:sp>
        <p:nvSpPr>
          <p:cNvPr id="111" name="Google Shape;111;p15"/>
          <p:cNvSpPr/>
          <p:nvPr/>
        </p:nvSpPr>
        <p:spPr>
          <a:xfrm>
            <a:off x="6309074" y="4882011"/>
            <a:ext cx="2118600" cy="108900"/>
          </a:xfrm>
          <a:prstGeom prst="rect">
            <a:avLst/>
          </a:prstGeom>
          <a:solidFill>
            <a:srgbClr val="C00000"/>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2493"/>
              <a:buFont typeface="Arial"/>
              <a:buNone/>
            </a:pPr>
            <a:r>
              <a:t/>
            </a:r>
            <a:endParaRPr b="0" i="0" sz="2495" u="none" cap="none" strike="noStrike">
              <a:solidFill>
                <a:schemeClr val="lt1"/>
              </a:solidFill>
              <a:latin typeface="Arial"/>
              <a:ea typeface="Arial"/>
              <a:cs typeface="Arial"/>
              <a:sym typeface="Arial"/>
            </a:endParaRPr>
          </a:p>
        </p:txBody>
      </p:sp>
      <p:pic>
        <p:nvPicPr>
          <p:cNvPr id="112" name="Google Shape;112;p15"/>
          <p:cNvPicPr preferRelativeResize="0"/>
          <p:nvPr/>
        </p:nvPicPr>
        <p:blipFill rotWithShape="1">
          <a:blip r:embed="rId3">
            <a:alphaModFix/>
          </a:blip>
          <a:srcRect b="0" l="0" r="0" t="0"/>
          <a:stretch/>
        </p:blipFill>
        <p:spPr>
          <a:xfrm>
            <a:off x="0" y="0"/>
            <a:ext cx="9143999" cy="1332186"/>
          </a:xfrm>
          <a:prstGeom prst="rect">
            <a:avLst/>
          </a:prstGeom>
          <a:noFill/>
          <a:ln>
            <a:noFill/>
          </a:ln>
        </p:spPr>
      </p:pic>
      <p:sp>
        <p:nvSpPr>
          <p:cNvPr id="113" name="Google Shape;113;p15"/>
          <p:cNvSpPr txBox="1"/>
          <p:nvPr/>
        </p:nvSpPr>
        <p:spPr>
          <a:xfrm>
            <a:off x="850500" y="1271075"/>
            <a:ext cx="7443000" cy="461700"/>
          </a:xfrm>
          <a:prstGeom prst="rect">
            <a:avLst/>
          </a:prstGeom>
          <a:noFill/>
          <a:ln>
            <a:noFill/>
          </a:ln>
        </p:spPr>
        <p:txBody>
          <a:bodyPr anchorCtr="0" anchor="t" bIns="91425" lIns="91425" spcFirstLastPara="1" rIns="91425" wrap="square" tIns="91425">
            <a:spAutoFit/>
          </a:bodyPr>
          <a:lstStyle/>
          <a:p>
            <a:pPr indent="0" lvl="0" marL="0" marR="0" rtl="0" algn="ctr">
              <a:lnSpc>
                <a:spcPct val="100000"/>
              </a:lnSpc>
              <a:spcBef>
                <a:spcPts val="0"/>
              </a:spcBef>
              <a:spcAft>
                <a:spcPts val="0"/>
              </a:spcAft>
              <a:buClr>
                <a:srgbClr val="000000"/>
              </a:buClr>
              <a:buSzPts val="1600"/>
              <a:buFont typeface="Arial"/>
              <a:buNone/>
            </a:pPr>
            <a:r>
              <a:rPr b="1" lang="en-US" sz="1800">
                <a:latin typeface="Times New Roman"/>
                <a:ea typeface="Times New Roman"/>
                <a:cs typeface="Times New Roman"/>
                <a:sym typeface="Times New Roman"/>
              </a:rPr>
              <a:t>MATHEMATICAL FORMULATION</a:t>
            </a:r>
            <a:endParaRPr b="1" i="0" sz="1800" u="none" cap="none" strike="noStrike">
              <a:solidFill>
                <a:srgbClr val="000000"/>
              </a:solidFill>
              <a:latin typeface="Times New Roman"/>
              <a:ea typeface="Times New Roman"/>
              <a:cs typeface="Times New Roman"/>
              <a:sym typeface="Times New Roman"/>
            </a:endParaRPr>
          </a:p>
        </p:txBody>
      </p:sp>
      <p:sp>
        <p:nvSpPr>
          <p:cNvPr id="114" name="Google Shape;114;p15"/>
          <p:cNvSpPr/>
          <p:nvPr/>
        </p:nvSpPr>
        <p:spPr>
          <a:xfrm>
            <a:off x="2105025" y="4836100"/>
            <a:ext cx="6807300" cy="322800"/>
          </a:xfrm>
          <a:prstGeom prst="rect">
            <a:avLst/>
          </a:prstGeom>
          <a:solidFill>
            <a:srgbClr val="C00000"/>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2493"/>
              <a:buFont typeface="Arial"/>
              <a:buNone/>
            </a:pPr>
            <a:r>
              <a:t/>
            </a:r>
            <a:endParaRPr b="0" i="0" sz="2495" u="none" cap="none" strike="noStrike">
              <a:solidFill>
                <a:schemeClr val="lt1"/>
              </a:solidFill>
              <a:latin typeface="Arial"/>
              <a:ea typeface="Arial"/>
              <a:cs typeface="Arial"/>
              <a:sym typeface="Arial"/>
            </a:endParaRPr>
          </a:p>
        </p:txBody>
      </p:sp>
      <p:sp>
        <p:nvSpPr>
          <p:cNvPr id="115" name="Google Shape;115;p15"/>
          <p:cNvSpPr/>
          <p:nvPr/>
        </p:nvSpPr>
        <p:spPr>
          <a:xfrm>
            <a:off x="8910006" y="1217600"/>
            <a:ext cx="230400" cy="3941400"/>
          </a:xfrm>
          <a:prstGeom prst="rect">
            <a:avLst/>
          </a:prstGeom>
          <a:solidFill>
            <a:srgbClr val="C00000"/>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2493"/>
              <a:buFont typeface="Arial"/>
              <a:buNone/>
            </a:pPr>
            <a:r>
              <a:t/>
            </a:r>
            <a:endParaRPr b="0" i="0" sz="2495" u="none" cap="none" strike="noStrike">
              <a:solidFill>
                <a:schemeClr val="lt1"/>
              </a:solidFill>
              <a:latin typeface="Arial"/>
              <a:ea typeface="Arial"/>
              <a:cs typeface="Arial"/>
              <a:sym typeface="Arial"/>
            </a:endParaRPr>
          </a:p>
        </p:txBody>
      </p:sp>
      <p:sp>
        <p:nvSpPr>
          <p:cNvPr id="116" name="Google Shape;116;p15"/>
          <p:cNvSpPr txBox="1"/>
          <p:nvPr/>
        </p:nvSpPr>
        <p:spPr>
          <a:xfrm>
            <a:off x="713875" y="1579150"/>
            <a:ext cx="7408500" cy="2802300"/>
          </a:xfrm>
          <a:prstGeom prst="rect">
            <a:avLst/>
          </a:prstGeom>
          <a:noFill/>
          <a:ln>
            <a:noFill/>
          </a:ln>
        </p:spPr>
        <p:txBody>
          <a:bodyPr anchorCtr="0" anchor="t" bIns="91425" lIns="91425" spcFirstLastPara="1" rIns="91425" wrap="square" tIns="91425">
            <a:noAutofit/>
          </a:bodyPr>
          <a:lstStyle/>
          <a:p>
            <a:pPr indent="-285750" lvl="0" marL="342900" rtl="0" algn="l">
              <a:spcBef>
                <a:spcPts val="0"/>
              </a:spcBef>
              <a:spcAft>
                <a:spcPts val="350"/>
              </a:spcAft>
              <a:buClr>
                <a:schemeClr val="dk1"/>
              </a:buClr>
              <a:buSzPts val="1200"/>
              <a:buFont typeface="Times New Roman"/>
              <a:buChar char="●"/>
            </a:pPr>
            <a:r>
              <a:rPr b="1" lang="en-US" sz="1200">
                <a:solidFill>
                  <a:schemeClr val="dk1"/>
                </a:solidFill>
                <a:latin typeface="Times New Roman"/>
                <a:ea typeface="Times New Roman"/>
                <a:cs typeface="Times New Roman"/>
                <a:sym typeface="Times New Roman"/>
              </a:rPr>
              <a:t xml:space="preserve">Retrieval:</a:t>
            </a:r>
            <a:r>
              <a:rPr lang="en-US" sz="1200">
                <a:solidFill>
                  <a:schemeClr val="dk1"/>
                </a:solidFill>
                <a:latin typeface="Times New Roman"/>
                <a:ea typeface="Times New Roman"/>
                <a:cs typeface="Times New Roman"/>
                <a:sym typeface="Times New Roman"/>
              </a:rPr>
              <a:t xml:space="preserve"> e(x) = MiniLM(x) ∈ ℝ³⁸⁴ with ‖e‖ = 1;  S(x, C) = max over exemplars m ∈ E_C of e(x)·e(m);  keep the top 5 cases of the same product.</a:t>
            </a:r>
          </a:p>
          <a:p>
            <a:pPr indent="-285750" lvl="0" marL="342900" rtl="0" algn="l">
              <a:spcBef>
                <a:spcPts val="0"/>
              </a:spcBef>
              <a:spcAft>
                <a:spcPts val="350"/>
              </a:spcAft>
              <a:buClr>
                <a:schemeClr val="dk1"/>
              </a:buClr>
              <a:buSzPts val="1200"/>
              <a:buFont typeface="Times New Roman"/>
              <a:buChar char="●"/>
            </a:pPr>
            <a:r>
              <a:rPr b="1" lang="en-US" sz="1200">
                <a:solidFill>
                  <a:schemeClr val="dk1"/>
                </a:solidFill>
                <a:latin typeface="Times New Roman"/>
                <a:ea typeface="Times New Roman"/>
                <a:cs typeface="Times New Roman"/>
                <a:sym typeface="Times New Roman"/>
              </a:rPr>
              <a:t xml:space="preserve">Decision band:</a:t>
            </a:r>
            <a:r>
              <a:rPr lang="en-US" sz="1200">
                <a:solidFill>
                  <a:schemeClr val="dk1"/>
                </a:solidFill>
                <a:latin typeface="Times New Roman"/>
                <a:ea typeface="Times New Roman"/>
                <a:cs typeface="Times New Roman"/>
                <a:sym typeface="Times New Roman"/>
              </a:rPr>
              <a:t xml:space="preserve"> join automatically if S* ≥ t_high; open a new case if S* &lt; t_low; otherwise the LLM judge decides.</a:t>
            </a:r>
          </a:p>
          <a:p>
            <a:pPr indent="-285750" lvl="0" marL="342900" rtl="0" algn="l">
              <a:spcBef>
                <a:spcPts val="0"/>
              </a:spcBef>
              <a:spcAft>
                <a:spcPts val="350"/>
              </a:spcAft>
              <a:buClr>
                <a:schemeClr val="dk1"/>
              </a:buClr>
              <a:buSzPts val="1200"/>
              <a:buFont typeface="Times New Roman"/>
              <a:buChar char="●"/>
            </a:pPr>
            <a:r>
              <a:rPr b="1" lang="en-US" sz="1200">
                <a:solidFill>
                  <a:schemeClr val="dk1"/>
                </a:solidFill>
                <a:latin typeface="Times New Roman"/>
                <a:ea typeface="Times New Roman"/>
                <a:cs typeface="Times New Roman"/>
                <a:sym typeface="Times New Roman"/>
              </a:rPr>
              <a:t xml:space="preserve">Upper threshold:</a:t>
            </a:r>
            <a:r>
              <a:rPr lang="en-US" sz="1200">
                <a:solidFill>
                  <a:schemeClr val="dk1"/>
                </a:solidFill>
                <a:latin typeface="Times New Roman"/>
                <a:ea typeface="Times New Roman"/>
                <a:cs typeface="Times New Roman"/>
                <a:sym typeface="Times New Roman"/>
              </a:rPr>
              <a:t xml:space="preserve"> t_high = min{ t : Prec(t) ≥ 0.97 }, Prec(t) = share of true duplicates among tuning pairs with similarity ≥ t  →  0.8306.</a:t>
            </a:r>
          </a:p>
          <a:p>
            <a:pPr indent="-285750" lvl="0" marL="342900" rtl="0" algn="l">
              <a:spcBef>
                <a:spcPts val="0"/>
              </a:spcBef>
              <a:spcAft>
                <a:spcPts val="350"/>
              </a:spcAft>
              <a:buClr>
                <a:schemeClr val="dk1"/>
              </a:buClr>
              <a:buSzPts val="1200"/>
              <a:buFont typeface="Times New Roman"/>
              <a:buChar char="●"/>
            </a:pPr>
            <a:r>
              <a:rPr b="1" lang="en-US" sz="1200">
                <a:solidFill>
                  <a:schemeClr val="dk1"/>
                </a:solidFill>
                <a:latin typeface="Times New Roman"/>
                <a:ea typeface="Times New Roman"/>
                <a:cs typeface="Times New Roman"/>
                <a:sym typeface="Times New Roman"/>
              </a:rPr>
              <a:t xml:space="preserve">Lower threshold:</a:t>
            </a:r>
            <a:r>
              <a:rPr lang="en-US" sz="1200">
                <a:solidFill>
                  <a:schemeClr val="dk1"/>
                </a:solidFill>
                <a:latin typeface="Times New Roman"/>
                <a:ea typeface="Times New Roman"/>
                <a:cs typeface="Times New Roman"/>
                <a:sym typeface="Times New Roman"/>
              </a:rPr>
              <a:t xml:space="preserve"> t_low = 20th percentile of similarities of true duplicate pairs  →  0.26 for tickets and bug reports; 0.40 for short texts (app reviews, chat), confirmed on unseen apps.</a:t>
            </a:r>
          </a:p>
          <a:p>
            <a:pPr indent="-285750" lvl="0" marL="342900" rtl="0" algn="l">
              <a:spcBef>
                <a:spcPts val="0"/>
              </a:spcBef>
              <a:spcAft>
                <a:spcPts val="350"/>
              </a:spcAft>
              <a:buClr>
                <a:schemeClr val="dk1"/>
              </a:buClr>
              <a:buSzPts val="1200"/>
              <a:buFont typeface="Times New Roman"/>
              <a:buChar char="●"/>
            </a:pPr>
            <a:r>
              <a:rPr b="1" lang="en-US" sz="1200">
                <a:solidFill>
                  <a:schemeClr val="dk1"/>
                </a:solidFill>
                <a:latin typeface="Times New Roman"/>
                <a:ea typeface="Times New Roman"/>
                <a:cs typeface="Times New Roman"/>
                <a:sym typeface="Times New Roman"/>
              </a:rPr>
              <a:t xml:space="preserve">Spike CUSUM:</a:t>
            </a:r>
            <a:r>
              <a:rPr lang="en-US" sz="1200">
                <a:solidFill>
                  <a:schemeClr val="dk1"/>
                </a:solidFill>
                <a:latin typeface="Times New Roman"/>
                <a:ea typeface="Times New Roman"/>
                <a:cs typeface="Times New Roman"/>
                <a:sym typeface="Times New Roman"/>
              </a:rPr>
              <a:t xml:space="preserve"> λ = (Σ last 28 windows + 0.5) / (n + 7);  k = 1 / ln((λ + 1)/λ);  S = max(0, S + c − k);  alert when S ≥ 2.</a:t>
            </a:r>
          </a:p>
          <a:p>
            <a:pPr indent="-285750" lvl="0" marL="342900" rtl="0" algn="l">
              <a:spcBef>
                <a:spcPts val="0"/>
              </a:spcBef>
              <a:spcAft>
                <a:spcPts val="350"/>
              </a:spcAft>
              <a:buClr>
                <a:schemeClr val="dk1"/>
              </a:buClr>
              <a:buSzPts val="1200"/>
              <a:buFont typeface="Times New Roman"/>
              <a:buChar char="●"/>
            </a:pPr>
            <a:r>
              <a:rPr b="1" lang="en-US" sz="1200">
                <a:solidFill>
                  <a:schemeClr val="dk1"/>
                </a:solidFill>
                <a:latin typeface="Times New Roman"/>
                <a:ea typeface="Times New Roman"/>
                <a:cs typeface="Times New Roman"/>
                <a:sym typeface="Times New Roman"/>
              </a:rPr>
              <a:t xml:space="preserve">Vague alarm:</a:t>
            </a:r>
            <a:r>
              <a:rPr lang="en-US" sz="1200">
                <a:solidFill>
                  <a:schemeClr val="dk1"/>
                </a:solidFill>
                <a:latin typeface="Times New Roman"/>
                <a:ea typeface="Times New Roman"/>
                <a:cs typeface="Times New Roman"/>
                <a:sym typeface="Times New Roman"/>
              </a:rPr>
              <a:t xml:space="preserve"> alert when v ≥ 2 and P(X ≥ v) &lt; 0.001 with X ~ Poisson(λ).</a:t>
            </a:r>
          </a:p>
        </p:txBody>
      </p:sp>
    </p:spTree>
  </p:cSld>
  <p:clrMapOvr>
    <a:masterClrMapping/>
  </p:clrMapOvr>
</p:sld>
</file>

<file path=ppt/slides/slide2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6" name="Shape 66"/>
        <p:cNvGrpSpPr/>
        <p:nvPr/>
      </p:nvGrpSpPr>
      <p:grpSpPr>
        <a:xfrm>
          <a:off x="0" y="0"/>
          <a:ext cx="0" cy="0"/>
          <a:chOff x="0" y="0"/>
          <a:chExt cx="0" cy="0"/>
        </a:xfrm>
      </p:grpSpPr>
      <p:sp>
        <p:nvSpPr>
          <p:cNvPr id="67" name="Google Shape;67;p11"/>
          <p:cNvSpPr txBox="1"/>
          <p:nvPr/>
        </p:nvSpPr>
        <p:spPr>
          <a:xfrm>
            <a:off x="257175" y="4836100"/>
            <a:ext cx="1343100" cy="2769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1200"/>
              <a:buFont typeface="Arial"/>
              <a:buNone/>
            </a:pPr>
            <a:r>
              <a:rPr b="0" i="0" lang="en-US" sz="1200" u="none" cap="none" strike="noStrike">
                <a:solidFill>
                  <a:schemeClr val="lt1"/>
                </a:solidFill>
                <a:latin typeface="Times New Roman"/>
                <a:ea typeface="Times New Roman"/>
                <a:cs typeface="Times New Roman"/>
                <a:sym typeface="Times New Roman"/>
              </a:rPr>
              <a:t>26/6/2023</a:t>
            </a:r>
            <a:endParaRPr b="0" i="0" sz="1200" u="none" cap="none" strike="noStrike">
              <a:solidFill>
                <a:schemeClr val="lt1"/>
              </a:solidFill>
              <a:latin typeface="Times New Roman"/>
              <a:ea typeface="Times New Roman"/>
              <a:cs typeface="Times New Roman"/>
              <a:sym typeface="Times New Roman"/>
            </a:endParaRPr>
          </a:p>
        </p:txBody>
      </p:sp>
      <p:sp>
        <p:nvSpPr>
          <p:cNvPr id="68" name="Google Shape;68;p11"/>
          <p:cNvSpPr/>
          <p:nvPr/>
        </p:nvSpPr>
        <p:spPr>
          <a:xfrm>
            <a:off x="8910006" y="1217600"/>
            <a:ext cx="230400" cy="3941400"/>
          </a:xfrm>
          <a:prstGeom prst="rect">
            <a:avLst/>
          </a:prstGeom>
          <a:solidFill>
            <a:srgbClr val="C00000"/>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2493"/>
              <a:buFont typeface="Arial"/>
              <a:buNone/>
            </a:pPr>
            <a:r>
              <a:t/>
            </a:r>
            <a:endParaRPr b="0" i="0" sz="2495" u="none" cap="none" strike="noStrike">
              <a:solidFill>
                <a:schemeClr val="lt1"/>
              </a:solidFill>
              <a:latin typeface="Arial"/>
              <a:ea typeface="Arial"/>
              <a:cs typeface="Arial"/>
              <a:sym typeface="Arial"/>
            </a:endParaRPr>
          </a:p>
        </p:txBody>
      </p:sp>
      <p:sp>
        <p:nvSpPr>
          <p:cNvPr id="69" name="Google Shape;69;p11"/>
          <p:cNvSpPr/>
          <p:nvPr/>
        </p:nvSpPr>
        <p:spPr>
          <a:xfrm>
            <a:off x="2105025" y="4836100"/>
            <a:ext cx="6807300" cy="322800"/>
          </a:xfrm>
          <a:prstGeom prst="rect">
            <a:avLst/>
          </a:prstGeom>
          <a:solidFill>
            <a:srgbClr val="C00000"/>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2493"/>
              <a:buFont typeface="Arial"/>
              <a:buNone/>
            </a:pPr>
            <a:r>
              <a:t/>
            </a:r>
            <a:endParaRPr b="0" i="0" sz="2495" u="none" cap="none" strike="noStrike">
              <a:solidFill>
                <a:schemeClr val="lt1"/>
              </a:solidFill>
              <a:latin typeface="Arial"/>
              <a:ea typeface="Arial"/>
              <a:cs typeface="Arial"/>
              <a:sym typeface="Arial"/>
            </a:endParaRPr>
          </a:p>
        </p:txBody>
      </p:sp>
      <p:pic>
        <p:nvPicPr>
          <p:cNvPr id="70" name="Google Shape;70;p11"/>
          <p:cNvPicPr preferRelativeResize="0"/>
          <p:nvPr/>
        </p:nvPicPr>
        <p:blipFill rotWithShape="1">
          <a:blip r:embed="rId3">
            <a:alphaModFix/>
          </a:blip>
          <a:srcRect b="0" l="0" r="0" t="0"/>
          <a:stretch/>
        </p:blipFill>
        <p:spPr>
          <a:xfrm>
            <a:off x="0" y="0"/>
            <a:ext cx="9143999" cy="1332186"/>
          </a:xfrm>
          <a:prstGeom prst="rect">
            <a:avLst/>
          </a:prstGeom>
          <a:noFill/>
          <a:ln>
            <a:noFill/>
          </a:ln>
        </p:spPr>
      </p:pic>
      <p:sp>
        <p:nvSpPr>
          <p:cNvPr id="71" name="Google Shape;71;p11"/>
          <p:cNvSpPr txBox="1"/>
          <p:nvPr/>
        </p:nvSpPr>
        <p:spPr>
          <a:xfrm>
            <a:off x="678139" y="1217597"/>
            <a:ext cx="7968000" cy="3504300"/>
          </a:xfrm>
          <a:prstGeom prst="rect">
            <a:avLst/>
          </a:prstGeom>
          <a:noFill/>
          <a:ln>
            <a:noFill/>
          </a:ln>
        </p:spPr>
        <p:txBody>
          <a:bodyPr anchorCtr="0" anchor="t" bIns="91425" lIns="91425" spcFirstLastPara="1" rIns="107625" wrap="square" tIns="91425">
            <a:normAutofit/>
          </a:bodyPr>
          <a:lstStyle/>
          <a:p>
            <a:pPr indent="0" lvl="0" marL="0" marR="0" rtl="0" algn="ctr">
              <a:lnSpc>
                <a:spcPct val="100000"/>
              </a:lnSpc>
              <a:spcBef>
                <a:spcPts val="0"/>
              </a:spcBef>
              <a:spcAft>
                <a:spcPts val="0"/>
              </a:spcAft>
              <a:buClr>
                <a:srgbClr val="000000"/>
              </a:buClr>
              <a:buSzPts val="1800"/>
              <a:buFont typeface="Arial"/>
              <a:buNone/>
            </a:pPr>
            <a:r>
              <a:rPr b="1" lang="en-US">
                <a:latin typeface="Times New Roman"/>
                <a:ea typeface="Times New Roman"/>
                <a:cs typeface="Times New Roman"/>
                <a:sym typeface="Times New Roman"/>
              </a:rPr>
              <a:t>THRESHOLD CALIBRATION &amp; SENSITIVITY</a:t>
            </a:r>
            <a:endParaRPr b="1">
              <a:latin typeface="Times New Roman"/>
              <a:ea typeface="Times New Roman"/>
              <a:cs typeface="Times New Roman"/>
              <a:sym typeface="Times New Roman"/>
            </a:endParaRPr>
          </a:p>
          <a:p>
            <a:pPr indent="0" lvl="0" marL="0" marR="0" rtl="0" algn="ctr">
              <a:lnSpc>
                <a:spcPct val="100000"/>
              </a:lnSpc>
              <a:spcBef>
                <a:spcPts val="0"/>
              </a:spcBef>
              <a:spcAft>
                <a:spcPts val="0"/>
              </a:spcAft>
              <a:buClr>
                <a:srgbClr val="000000"/>
              </a:buClr>
              <a:buSzPts val="1800"/>
              <a:buFont typeface="Arial"/>
              <a:buNone/>
            </a:pPr>
            <a:r>
              <a:t/>
            </a:r>
            <a:endParaRPr b="1" i="0" sz="1800" u="none" cap="none" strike="noStrike">
              <a:solidFill>
                <a:schemeClr val="dk1"/>
              </a:solidFill>
              <a:latin typeface="Times New Roman"/>
              <a:ea typeface="Times New Roman"/>
              <a:cs typeface="Times New Roman"/>
              <a:sym typeface="Times New Roman"/>
            </a:endParaRPr>
          </a:p>
          <a:p>
            <a:pPr indent="0" lvl="0" marL="0" rtl="0" algn="just">
              <a:spcBef>
                <a:spcPts val="0"/>
              </a:spcBef>
              <a:spcAft>
                <a:spcPts val="0"/>
              </a:spcAft>
              <a:buClr>
                <a:schemeClr val="dk1"/>
              </a:buClr>
              <a:buSzPts val="1100"/>
              <a:buFont typeface="Arial"/>
              <a:buNone/>
            </a:pPr>
            <a:r>
              <a:t/>
            </a:r>
            <a:endParaRPr sz="1600">
              <a:solidFill>
                <a:schemeClr val="dk1"/>
              </a:solidFill>
              <a:latin typeface="Times New Roman"/>
              <a:ea typeface="Times New Roman"/>
              <a:cs typeface="Times New Roman"/>
              <a:sym typeface="Times New Roman"/>
            </a:endParaRPr>
          </a:p>
        </p:txBody>
      </p:sp>
      <p:graphicFrame>
        <p:nvGraphicFramePr>
          <p:cNvPr id="72" name="Google Shape;72;p11"/>
          <p:cNvGraphicFramePr/>
          <p:nvPr/>
        </p:nvGraphicFramePr>
        <p:xfrm>
          <a:off x="497000" y="1580000"/>
          <a:ext cx="8100000" cy="2800000"/>
        </p:xfrm>
        <a:graphic>
          <a:graphicData uri="http://schemas.openxmlformats.org/drawingml/2006/table">
            <a:tbl>
              <a:tblPr>
                <a:noFill/>
                <a:tableStyleId>{ADC876BD-21E3-499D-94FC-3D607E5DCE7B}</a:tableStyleId>
              </a:tblPr>
              <a:tblGrid>
                <a:gridCol w="2450000"/>
                <a:gridCol w="1300000"/>
                <a:gridCol w="1350000"/>
                <a:gridCol w="850000"/>
                <a:gridCol w="750000"/>
                <a:gridCol w="650000"/>
                <a:gridCol w="750000"/>
              </a:tblGrid>
              <a:tr h="280000">
                <a:tc>
                  <a:txBody>
                    <a:bodyPr/>
                    <a:lstStyle/>
                    <a:p>
                      <a:pPr indent="0" lvl="0" marL="0" rtl="0" algn="l">
                        <a:spcBef>
                          <a:spcPts val="0"/>
                        </a:spcBef>
                        <a:spcAft>
                          <a:spcPts val="0"/>
                        </a:spcAft>
                        <a:buNone/>
                      </a:pPr>
                      <a:r>
                        <a:rPr b="1" lang="en-US" sz="1000">
                          <a:latin typeface="Times New Roman"/>
                          <a:ea typeface="Times New Roman"/>
                          <a:cs typeface="Times New Roman"/>
                          <a:sym typeface="Times New Roman"/>
                        </a:rPr>
                        <a:t>Setting</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c>
                  <a:txBody>
                    <a:bodyPr/>
                    <a:lstStyle/>
                    <a:p>
                      <a:pPr indent="0" lvl="0" marL="0" rtl="0" algn="l">
                        <a:spcBef>
                          <a:spcPts val="0"/>
                        </a:spcBef>
                        <a:spcAft>
                          <a:spcPts val="0"/>
                        </a:spcAft>
                        <a:buNone/>
                      </a:pPr>
                      <a:r>
                        <a:rPr b="1" lang="en-US" sz="1000">
                          <a:latin typeface="Times New Roman"/>
                          <a:ea typeface="Times New Roman"/>
                          <a:cs typeface="Times New Roman"/>
                          <a:sym typeface="Times New Roman"/>
                        </a:rPr>
                        <a:t>t_low</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c>
                  <a:txBody>
                    <a:bodyPr/>
                    <a:lstStyle/>
                    <a:p>
                      <a:pPr indent="0" lvl="0" marL="0" rtl="0" algn="l">
                        <a:spcBef>
                          <a:spcPts val="0"/>
                        </a:spcBef>
                        <a:spcAft>
                          <a:spcPts val="0"/>
                        </a:spcAft>
                        <a:buNone/>
                      </a:pPr>
                      <a:r>
                        <a:rPr b="1" lang="en-US" sz="1000">
                          <a:latin typeface="Times New Roman"/>
                          <a:ea typeface="Times New Roman"/>
                          <a:cs typeface="Times New Roman"/>
                          <a:sym typeface="Times New Roman"/>
                        </a:rPr>
                        <a:t>t_high</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c>
                  <a:txBody>
                    <a:bodyPr/>
                    <a:lstStyle/>
                    <a:p>
                      <a:pPr indent="0" lvl="0" marL="0" rtl="0" algn="l">
                        <a:spcBef>
                          <a:spcPts val="0"/>
                        </a:spcBef>
                        <a:spcAft>
                          <a:spcPts val="0"/>
                        </a:spcAft>
                        <a:buNone/>
                      </a:pPr>
                      <a:r>
                        <a:rPr b="1" lang="en-US" sz="1000">
                          <a:latin typeface="Times New Roman"/>
                          <a:ea typeface="Times New Roman"/>
                          <a:cs typeface="Times New Roman"/>
                          <a:sym typeface="Times New Roman"/>
                        </a:rPr>
                        <a:t>Precision</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c>
                  <a:txBody>
                    <a:bodyPr/>
                    <a:lstStyle/>
                    <a:p>
                      <a:pPr indent="0" lvl="0" marL="0" rtl="0" algn="l">
                        <a:spcBef>
                          <a:spcPts val="0"/>
                        </a:spcBef>
                        <a:spcAft>
                          <a:spcPts val="0"/>
                        </a:spcAft>
                        <a:buNone/>
                      </a:pPr>
                      <a:r>
                        <a:rPr b="1" lang="en-US" sz="1000">
                          <a:latin typeface="Times New Roman"/>
                          <a:ea typeface="Times New Roman"/>
                          <a:cs typeface="Times New Roman"/>
                          <a:sym typeface="Times New Roman"/>
                        </a:rPr>
                        <a:t>Recall</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c>
                  <a:txBody>
                    <a:bodyPr/>
                    <a:lstStyle/>
                    <a:p>
                      <a:pPr indent="0" lvl="0" marL="0" rtl="0" algn="l">
                        <a:spcBef>
                          <a:spcPts val="0"/>
                        </a:spcBef>
                        <a:spcAft>
                          <a:spcPts val="0"/>
                        </a:spcAft>
                        <a:buNone/>
                      </a:pPr>
                      <a:r>
                        <a:rPr b="1" lang="en-US" sz="1000">
                          <a:latin typeface="Times New Roman"/>
                          <a:ea typeface="Times New Roman"/>
                          <a:cs typeface="Times New Roman"/>
                          <a:sym typeface="Times New Roman"/>
                        </a:rPr>
                        <a:t>F1</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c>
                  <a:txBody>
                    <a:bodyPr/>
                    <a:lstStyle/>
                    <a:p>
                      <a:pPr indent="0" lvl="0" marL="0" rtl="0" algn="l">
                        <a:spcBef>
                          <a:spcPts val="0"/>
                        </a:spcBef>
                        <a:spcAft>
                          <a:spcPts val="0"/>
                        </a:spcAft>
                        <a:buNone/>
                      </a:pPr>
                      <a:r>
                        <a:rPr b="1" lang="en-US" sz="1000">
                          <a:latin typeface="Times New Roman"/>
                          <a:ea typeface="Times New Roman"/>
                          <a:cs typeface="Times New Roman"/>
                          <a:sym typeface="Times New Roman"/>
                        </a:rPr>
                        <a:t>LLM share</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r>
              <a:tr h="360000">
                <a:tc>
                  <a:txBody>
                    <a:bodyPr/>
                    <a:lstStyle/>
                    <a:p>
                      <a:pPr indent="0" lvl="0" marL="0" rtl="0" algn="l">
                        <a:spcBef>
                          <a:spcPts val="0"/>
                        </a:spcBef>
                        <a:spcAft>
                          <a:spcPts val="0"/>
                        </a:spcAft>
                        <a:buNone/>
                      </a:pPr>
                      <a:r>
                        <a:rPr b="1" lang="en-US" sz="900">
                          <a:latin typeface="Times New Roman"/>
                          <a:ea typeface="Times New Roman"/>
                          <a:cs typeface="Times New Roman"/>
                          <a:sym typeface="Times New Roman"/>
                        </a:rPr>
                        <a:t>Short-text setting (deployed)</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c>
                  <a:txBody>
                    <a:bodyPr/>
                    <a:lstStyle/>
                    <a:p>
                      <a:pPr indent="0" lvl="0" marL="0" rtl="0" algn="l">
                        <a:spcBef>
                          <a:spcPts val="0"/>
                        </a:spcBef>
                        <a:spcAft>
                          <a:spcPts val="0"/>
                        </a:spcAft>
                        <a:buNone/>
                      </a:pPr>
                      <a:r>
                        <a:rPr b="1" lang="en-US" sz="900">
                          <a:latin typeface="Times New Roman"/>
                          <a:ea typeface="Times New Roman"/>
                          <a:cs typeface="Times New Roman"/>
                          <a:sym typeface="Times New Roman"/>
                        </a:rPr>
                        <a:t>0.40</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c>
                  <a:txBody>
                    <a:bodyPr/>
                    <a:lstStyle/>
                    <a:p>
                      <a:pPr indent="0" lvl="0" marL="0" rtl="0" algn="l">
                        <a:spcBef>
                          <a:spcPts val="0"/>
                        </a:spcBef>
                        <a:spcAft>
                          <a:spcPts val="0"/>
                        </a:spcAft>
                        <a:buNone/>
                      </a:pPr>
                      <a:r>
                        <a:rPr b="1" lang="en-US" sz="900">
                          <a:latin typeface="Times New Roman"/>
                          <a:ea typeface="Times New Roman"/>
                          <a:cs typeface="Times New Roman"/>
                          <a:sym typeface="Times New Roman"/>
                        </a:rPr>
                        <a:t>0.8306</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c>
                  <a:txBody>
                    <a:bodyPr/>
                    <a:lstStyle/>
                    <a:p>
                      <a:pPr indent="0" lvl="0" marL="0" rtl="0" algn="l">
                        <a:spcBef>
                          <a:spcPts val="0"/>
                        </a:spcBef>
                        <a:spcAft>
                          <a:spcPts val="0"/>
                        </a:spcAft>
                        <a:buNone/>
                      </a:pPr>
                      <a:r>
                        <a:rPr b="1" lang="en-US" sz="900">
                          <a:latin typeface="Times New Roman"/>
                          <a:ea typeface="Times New Roman"/>
                          <a:cs typeface="Times New Roman"/>
                          <a:sym typeface="Times New Roman"/>
                        </a:rPr>
                        <a:t>0.883</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c>
                  <a:txBody>
                    <a:bodyPr/>
                    <a:lstStyle/>
                    <a:p>
                      <a:pPr indent="0" lvl="0" marL="0" rtl="0" algn="l">
                        <a:spcBef>
                          <a:spcPts val="0"/>
                        </a:spcBef>
                        <a:spcAft>
                          <a:spcPts val="0"/>
                        </a:spcAft>
                        <a:buNone/>
                      </a:pPr>
                      <a:r>
                        <a:rPr b="1" lang="en-US" sz="900">
                          <a:latin typeface="Times New Roman"/>
                          <a:ea typeface="Times New Roman"/>
                          <a:cs typeface="Times New Roman"/>
                          <a:sym typeface="Times New Roman"/>
                        </a:rPr>
                        <a:t>0.284</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c>
                  <a:txBody>
                    <a:bodyPr/>
                    <a:lstStyle/>
                    <a:p>
                      <a:pPr indent="0" lvl="0" marL="0" rtl="0" algn="l">
                        <a:spcBef>
                          <a:spcPts val="0"/>
                        </a:spcBef>
                        <a:spcAft>
                          <a:spcPts val="0"/>
                        </a:spcAft>
                        <a:buNone/>
                      </a:pPr>
                      <a:r>
                        <a:rPr b="1" lang="en-US" sz="900">
                          <a:latin typeface="Times New Roman"/>
                          <a:ea typeface="Times New Roman"/>
                          <a:cs typeface="Times New Roman"/>
                          <a:sym typeface="Times New Roman"/>
                        </a:rPr>
                        <a:t>0.430</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c>
                  <a:txBody>
                    <a:bodyPr/>
                    <a:lstStyle/>
                    <a:p>
                      <a:pPr indent="0" lvl="0" marL="0" rtl="0" algn="l">
                        <a:spcBef>
                          <a:spcPts val="0"/>
                        </a:spcBef>
                        <a:spcAft>
                          <a:spcPts val="0"/>
                        </a:spcAft>
                        <a:buNone/>
                      </a:pPr>
                      <a:r>
                        <a:rPr b="1" lang="en-US" sz="900">
                          <a:latin typeface="Times New Roman"/>
                          <a:ea typeface="Times New Roman"/>
                          <a:cs typeface="Times New Roman"/>
                          <a:sym typeface="Times New Roman"/>
                        </a:rPr>
                        <a:t>66%</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r>
              <a:tr h="360000">
                <a:tc>
                  <a:txBody>
                    <a:bodyPr/>
                    <a:lstStyle/>
                    <a:p>
                      <a:pPr indent="0" lvl="0" marL="0" rtl="0" algn="l">
                        <a:spcBef>
                          <a:spcPts val="0"/>
                        </a:spcBef>
                        <a:spcAft>
                          <a:spcPts val="0"/>
                        </a:spcAft>
                        <a:buNone/>
                      </a:pPr>
                      <a:r>
                        <a:rPr lang="en-US" sz="900">
                          <a:latin typeface="Times New Roman"/>
                          <a:ea typeface="Times New Roman"/>
                          <a:cs typeface="Times New Roman"/>
                          <a:sym typeface="Times New Roman"/>
                        </a:rPr>
                        <a:t>Long-text setting (tickets, bug reports)</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c>
                  <a:txBody>
                    <a:bodyPr/>
                    <a:lstStyle/>
                    <a:p>
                      <a:pPr indent="0" lvl="0" marL="0" rtl="0" algn="l">
                        <a:spcBef>
                          <a:spcPts val="0"/>
                        </a:spcBef>
                        <a:spcAft>
                          <a:spcPts val="0"/>
                        </a:spcAft>
                        <a:buNone/>
                      </a:pPr>
                      <a:r>
                        <a:rPr lang="en-US" sz="900">
                          <a:latin typeface="Times New Roman"/>
                          <a:ea typeface="Times New Roman"/>
                          <a:cs typeface="Times New Roman"/>
                          <a:sym typeface="Times New Roman"/>
                        </a:rPr>
                        <a:t>0.26</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c>
                  <a:txBody>
                    <a:bodyPr/>
                    <a:lstStyle/>
                    <a:p>
                      <a:pPr indent="0" lvl="0" marL="0" rtl="0" algn="l">
                        <a:spcBef>
                          <a:spcPts val="0"/>
                        </a:spcBef>
                        <a:spcAft>
                          <a:spcPts val="0"/>
                        </a:spcAft>
                        <a:buNone/>
                      </a:pPr>
                      <a:r>
                        <a:rPr lang="en-US" sz="900">
                          <a:latin typeface="Times New Roman"/>
                          <a:ea typeface="Times New Roman"/>
                          <a:cs typeface="Times New Roman"/>
                          <a:sym typeface="Times New Roman"/>
                        </a:rPr>
                        <a:t>0.8306</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c>
                  <a:txBody>
                    <a:bodyPr/>
                    <a:lstStyle/>
                    <a:p>
                      <a:pPr indent="0" lvl="0" marL="0" rtl="0" algn="l">
                        <a:spcBef>
                          <a:spcPts val="0"/>
                        </a:spcBef>
                        <a:spcAft>
                          <a:spcPts val="0"/>
                        </a:spcAft>
                        <a:buNone/>
                      </a:pPr>
                      <a:r>
                        <a:rPr lang="en-US" sz="900">
                          <a:latin typeface="Times New Roman"/>
                          <a:ea typeface="Times New Roman"/>
                          <a:cs typeface="Times New Roman"/>
                          <a:sym typeface="Times New Roman"/>
                        </a:rPr>
                        <a:t>0.810</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c>
                  <a:txBody>
                    <a:bodyPr/>
                    <a:lstStyle/>
                    <a:p>
                      <a:pPr indent="0" lvl="0" marL="0" rtl="0" algn="l">
                        <a:spcBef>
                          <a:spcPts val="0"/>
                        </a:spcBef>
                        <a:spcAft>
                          <a:spcPts val="0"/>
                        </a:spcAft>
                        <a:buNone/>
                      </a:pPr>
                      <a:r>
                        <a:rPr lang="en-US" sz="900">
                          <a:latin typeface="Times New Roman"/>
                          <a:ea typeface="Times New Roman"/>
                          <a:cs typeface="Times New Roman"/>
                          <a:sym typeface="Times New Roman"/>
                        </a:rPr>
                        <a:t>0.259</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c>
                  <a:txBody>
                    <a:bodyPr/>
                    <a:lstStyle/>
                    <a:p>
                      <a:pPr indent="0" lvl="0" marL="0" rtl="0" algn="l">
                        <a:spcBef>
                          <a:spcPts val="0"/>
                        </a:spcBef>
                        <a:spcAft>
                          <a:spcPts val="0"/>
                        </a:spcAft>
                        <a:buNone/>
                      </a:pPr>
                      <a:r>
                        <a:rPr lang="en-US" sz="900">
                          <a:latin typeface="Times New Roman"/>
                          <a:ea typeface="Times New Roman"/>
                          <a:cs typeface="Times New Roman"/>
                          <a:sym typeface="Times New Roman"/>
                        </a:rPr>
                        <a:t>0.392</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c>
                  <a:txBody>
                    <a:bodyPr/>
                    <a:lstStyle/>
                    <a:p>
                      <a:pPr indent="0" lvl="0" marL="0" rtl="0" algn="l">
                        <a:spcBef>
                          <a:spcPts val="0"/>
                        </a:spcBef>
                        <a:spcAft>
                          <a:spcPts val="0"/>
                        </a:spcAft>
                        <a:buNone/>
                      </a:pPr>
                      <a:r>
                        <a:rPr lang="en-US" sz="900">
                          <a:latin typeface="Times New Roman"/>
                          <a:ea typeface="Times New Roman"/>
                          <a:cs typeface="Times New Roman"/>
                          <a:sym typeface="Times New Roman"/>
                        </a:rPr>
                        <a:t>86%</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r>
              <a:tr h="360000">
                <a:tc>
                  <a:txBody>
                    <a:bodyPr/>
                    <a:lstStyle/>
                    <a:p>
                      <a:pPr indent="0" lvl="0" marL="0" rtl="0" algn="l">
                        <a:spcBef>
                          <a:spcPts val="0"/>
                        </a:spcBef>
                        <a:spcAft>
                          <a:spcPts val="0"/>
                        </a:spcAft>
                        <a:buNone/>
                      </a:pPr>
                      <a:r>
                        <a:rPr lang="en-US" sz="900">
                          <a:latin typeface="Times New Roman"/>
                          <a:ea typeface="Times New Roman"/>
                          <a:cs typeface="Times New Roman"/>
                          <a:sym typeface="Times New Roman"/>
                        </a:rPr>
                        <a:t>t_low ≈ 0.30</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c>
                  <a:txBody>
                    <a:bodyPr/>
                    <a:lstStyle/>
                    <a:p>
                      <a:pPr indent="0" lvl="0" marL="0" rtl="0" algn="l">
                        <a:spcBef>
                          <a:spcPts val="0"/>
                        </a:spcBef>
                        <a:spcAft>
                          <a:spcPts val="0"/>
                        </a:spcAft>
                        <a:buNone/>
                      </a:pPr>
                      <a:r>
                        <a:rPr lang="en-US" sz="900">
                          <a:latin typeface="Times New Roman"/>
                          <a:ea typeface="Times New Roman"/>
                          <a:cs typeface="Times New Roman"/>
                          <a:sym typeface="Times New Roman"/>
                        </a:rPr>
                        <a:t>0.26 + 0.04</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c>
                  <a:txBody>
                    <a:bodyPr/>
                    <a:lstStyle/>
                    <a:p>
                      <a:pPr indent="0" lvl="0" marL="0" rtl="0" algn="l">
                        <a:spcBef>
                          <a:spcPts val="0"/>
                        </a:spcBef>
                        <a:spcAft>
                          <a:spcPts val="0"/>
                        </a:spcAft>
                        <a:buNone/>
                      </a:pPr>
                      <a:r>
                        <a:rPr lang="en-US" sz="900">
                          <a:latin typeface="Times New Roman"/>
                          <a:ea typeface="Times New Roman"/>
                          <a:cs typeface="Times New Roman"/>
                          <a:sym typeface="Times New Roman"/>
                        </a:rPr>
                        <a:t>0.8306</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c>
                  <a:txBody>
                    <a:bodyPr/>
                    <a:lstStyle/>
                    <a:p>
                      <a:pPr indent="0" lvl="0" marL="0" rtl="0" algn="l">
                        <a:spcBef>
                          <a:spcPts val="0"/>
                        </a:spcBef>
                        <a:spcAft>
                          <a:spcPts val="0"/>
                        </a:spcAft>
                        <a:buNone/>
                      </a:pPr>
                      <a:r>
                        <a:rPr lang="en-US" sz="900">
                          <a:latin typeface="Times New Roman"/>
                          <a:ea typeface="Times New Roman"/>
                          <a:cs typeface="Times New Roman"/>
                          <a:sym typeface="Times New Roman"/>
                        </a:rPr>
                        <a:t>0.803</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c>
                  <a:txBody>
                    <a:bodyPr/>
                    <a:lstStyle/>
                    <a:p>
                      <a:pPr indent="0" lvl="0" marL="0" rtl="0" algn="l">
                        <a:spcBef>
                          <a:spcPts val="0"/>
                        </a:spcBef>
                        <a:spcAft>
                          <a:spcPts val="0"/>
                        </a:spcAft>
                        <a:buNone/>
                      </a:pPr>
                      <a:r>
                        <a:rPr lang="en-US" sz="900">
                          <a:latin typeface="Times New Roman"/>
                          <a:ea typeface="Times New Roman"/>
                          <a:cs typeface="Times New Roman"/>
                          <a:sym typeface="Times New Roman"/>
                        </a:rPr>
                        <a:t>0.256</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c>
                  <a:txBody>
                    <a:bodyPr/>
                    <a:lstStyle/>
                    <a:p>
                      <a:pPr indent="0" lvl="0" marL="0" rtl="0" algn="l">
                        <a:spcBef>
                          <a:spcPts val="0"/>
                        </a:spcBef>
                        <a:spcAft>
                          <a:spcPts val="0"/>
                        </a:spcAft>
                        <a:buNone/>
                      </a:pPr>
                      <a:r>
                        <a:rPr lang="en-US" sz="900">
                          <a:latin typeface="Times New Roman"/>
                          <a:ea typeface="Times New Roman"/>
                          <a:cs typeface="Times New Roman"/>
                          <a:sym typeface="Times New Roman"/>
                        </a:rPr>
                        <a:t>0.388</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c>
                  <a:txBody>
                    <a:bodyPr/>
                    <a:lstStyle/>
                    <a:p>
                      <a:pPr indent="0" lvl="0" marL="0" rtl="0" algn="l">
                        <a:spcBef>
                          <a:spcPts val="0"/>
                        </a:spcBef>
                        <a:spcAft>
                          <a:spcPts val="0"/>
                        </a:spcAft>
                        <a:buNone/>
                      </a:pPr>
                      <a:r>
                        <a:rPr lang="en-US" sz="900">
                          <a:latin typeface="Times New Roman"/>
                          <a:ea typeface="Times New Roman"/>
                          <a:cs typeface="Times New Roman"/>
                          <a:sym typeface="Times New Roman"/>
                        </a:rPr>
                        <a:t>81%</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r>
              <a:tr h="360000">
                <a:tc>
                  <a:txBody>
                    <a:bodyPr/>
                    <a:lstStyle/>
                    <a:p>
                      <a:pPr indent="0" lvl="0" marL="0" rtl="0" algn="l">
                        <a:spcBef>
                          <a:spcPts val="0"/>
                        </a:spcBef>
                        <a:spcAft>
                          <a:spcPts val="0"/>
                        </a:spcAft>
                        <a:buNone/>
                      </a:pPr>
                      <a:r>
                        <a:rPr lang="en-US" sz="900">
                          <a:latin typeface="Times New Roman"/>
                          <a:ea typeface="Times New Roman"/>
                          <a:cs typeface="Times New Roman"/>
                          <a:sym typeface="Times New Roman"/>
                        </a:rPr>
                        <a:t>t_low ≈ 0.35</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c>
                  <a:txBody>
                    <a:bodyPr/>
                    <a:lstStyle/>
                    <a:p>
                      <a:pPr indent="0" lvl="0" marL="0" rtl="0" algn="l">
                        <a:spcBef>
                          <a:spcPts val="0"/>
                        </a:spcBef>
                        <a:spcAft>
                          <a:spcPts val="0"/>
                        </a:spcAft>
                        <a:buNone/>
                      </a:pPr>
                      <a:r>
                        <a:rPr lang="en-US" sz="900">
                          <a:latin typeface="Times New Roman"/>
                          <a:ea typeface="Times New Roman"/>
                          <a:cs typeface="Times New Roman"/>
                          <a:sym typeface="Times New Roman"/>
                        </a:rPr>
                        <a:t>0.26 + 0.09</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c>
                  <a:txBody>
                    <a:bodyPr/>
                    <a:lstStyle/>
                    <a:p>
                      <a:pPr indent="0" lvl="0" marL="0" rtl="0" algn="l">
                        <a:spcBef>
                          <a:spcPts val="0"/>
                        </a:spcBef>
                        <a:spcAft>
                          <a:spcPts val="0"/>
                        </a:spcAft>
                        <a:buNone/>
                      </a:pPr>
                      <a:r>
                        <a:rPr lang="en-US" sz="900">
                          <a:latin typeface="Times New Roman"/>
                          <a:ea typeface="Times New Roman"/>
                          <a:cs typeface="Times New Roman"/>
                          <a:sym typeface="Times New Roman"/>
                        </a:rPr>
                        <a:t>0.8306</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c>
                  <a:txBody>
                    <a:bodyPr/>
                    <a:lstStyle/>
                    <a:p>
                      <a:pPr indent="0" lvl="0" marL="0" rtl="0" algn="l">
                        <a:spcBef>
                          <a:spcPts val="0"/>
                        </a:spcBef>
                        <a:spcAft>
                          <a:spcPts val="0"/>
                        </a:spcAft>
                        <a:buNone/>
                      </a:pPr>
                      <a:r>
                        <a:rPr lang="en-US" sz="900">
                          <a:latin typeface="Times New Roman"/>
                          <a:ea typeface="Times New Roman"/>
                          <a:cs typeface="Times New Roman"/>
                          <a:sym typeface="Times New Roman"/>
                        </a:rPr>
                        <a:t>0.867</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c>
                  <a:txBody>
                    <a:bodyPr/>
                    <a:lstStyle/>
                    <a:p>
                      <a:pPr indent="0" lvl="0" marL="0" rtl="0" algn="l">
                        <a:spcBef>
                          <a:spcPts val="0"/>
                        </a:spcBef>
                        <a:spcAft>
                          <a:spcPts val="0"/>
                        </a:spcAft>
                        <a:buNone/>
                      </a:pPr>
                      <a:r>
                        <a:rPr lang="en-US" sz="900">
                          <a:latin typeface="Times New Roman"/>
                          <a:ea typeface="Times New Roman"/>
                          <a:cs typeface="Times New Roman"/>
                          <a:sym typeface="Times New Roman"/>
                        </a:rPr>
                        <a:t>0.264</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c>
                  <a:txBody>
                    <a:bodyPr/>
                    <a:lstStyle/>
                    <a:p>
                      <a:pPr indent="0" lvl="0" marL="0" rtl="0" algn="l">
                        <a:spcBef>
                          <a:spcPts val="0"/>
                        </a:spcBef>
                        <a:spcAft>
                          <a:spcPts val="0"/>
                        </a:spcAft>
                        <a:buNone/>
                      </a:pPr>
                      <a:r>
                        <a:rPr lang="en-US" sz="900">
                          <a:latin typeface="Times New Roman"/>
                          <a:ea typeface="Times New Roman"/>
                          <a:cs typeface="Times New Roman"/>
                          <a:sym typeface="Times New Roman"/>
                        </a:rPr>
                        <a:t>0.404</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c>
                  <a:txBody>
                    <a:bodyPr/>
                    <a:lstStyle/>
                    <a:p>
                      <a:pPr indent="0" lvl="0" marL="0" rtl="0" algn="l">
                        <a:spcBef>
                          <a:spcPts val="0"/>
                        </a:spcBef>
                        <a:spcAft>
                          <a:spcPts val="0"/>
                        </a:spcAft>
                        <a:buNone/>
                      </a:pPr>
                      <a:r>
                        <a:rPr lang="en-US" sz="900">
                          <a:latin typeface="Times New Roman"/>
                          <a:ea typeface="Times New Roman"/>
                          <a:cs typeface="Times New Roman"/>
                          <a:sym typeface="Times New Roman"/>
                        </a:rPr>
                        <a:t>71%</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r>
              <a:tr h="360000">
                <a:tc>
                  <a:txBody>
                    <a:bodyPr/>
                    <a:lstStyle/>
                    <a:p>
                      <a:pPr indent="0" lvl="0" marL="0" rtl="0" algn="l">
                        <a:spcBef>
                          <a:spcPts val="0"/>
                        </a:spcBef>
                        <a:spcAft>
                          <a:spcPts val="0"/>
                        </a:spcAft>
                        <a:buNone/>
                      </a:pPr>
                      <a:r>
                        <a:rPr lang="en-US" sz="900">
                          <a:latin typeface="Times New Roman"/>
                          <a:ea typeface="Times New Roman"/>
                          <a:cs typeface="Times New Roman"/>
                          <a:sym typeface="Times New Roman"/>
                        </a:rPr>
                        <a:t>t_high lowered by 0.08</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c>
                  <a:txBody>
                    <a:bodyPr/>
                    <a:lstStyle/>
                    <a:p>
                      <a:pPr indent="0" lvl="0" marL="0" rtl="0" algn="l">
                        <a:spcBef>
                          <a:spcPts val="0"/>
                        </a:spcBef>
                        <a:spcAft>
                          <a:spcPts val="0"/>
                        </a:spcAft>
                        <a:buNone/>
                      </a:pPr>
                      <a:r>
                        <a:rPr lang="en-US" sz="900">
                          <a:latin typeface="Times New Roman"/>
                          <a:ea typeface="Times New Roman"/>
                          <a:cs typeface="Times New Roman"/>
                          <a:sym typeface="Times New Roman"/>
                        </a:rPr>
                        <a:t>0.26</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c>
                  <a:txBody>
                    <a:bodyPr/>
                    <a:lstStyle/>
                    <a:p>
                      <a:pPr indent="0" lvl="0" marL="0" rtl="0" algn="l">
                        <a:spcBef>
                          <a:spcPts val="0"/>
                        </a:spcBef>
                        <a:spcAft>
                          <a:spcPts val="0"/>
                        </a:spcAft>
                        <a:buNone/>
                      </a:pPr>
                      <a:r>
                        <a:rPr lang="en-US" sz="900">
                          <a:latin typeface="Times New Roman"/>
                          <a:ea typeface="Times New Roman"/>
                          <a:cs typeface="Times New Roman"/>
                          <a:sym typeface="Times New Roman"/>
                        </a:rPr>
                        <a:t>≈ 0.75</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c>
                  <a:txBody>
                    <a:bodyPr/>
                    <a:lstStyle/>
                    <a:p>
                      <a:pPr indent="0" lvl="0" marL="0" rtl="0" algn="l">
                        <a:spcBef>
                          <a:spcPts val="0"/>
                        </a:spcBef>
                        <a:spcAft>
                          <a:spcPts val="0"/>
                        </a:spcAft>
                        <a:buNone/>
                      </a:pPr>
                      <a:r>
                        <a:rPr lang="en-US" sz="900">
                          <a:latin typeface="Times New Roman"/>
                          <a:ea typeface="Times New Roman"/>
                          <a:cs typeface="Times New Roman"/>
                          <a:sym typeface="Times New Roman"/>
                        </a:rPr>
                        <a:t>0.808</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c>
                  <a:txBody>
                    <a:bodyPr/>
                    <a:lstStyle/>
                    <a:p>
                      <a:pPr indent="0" lvl="0" marL="0" rtl="0" algn="l">
                        <a:spcBef>
                          <a:spcPts val="0"/>
                        </a:spcBef>
                        <a:spcAft>
                          <a:spcPts val="0"/>
                        </a:spcAft>
                        <a:buNone/>
                      </a:pPr>
                      <a:r>
                        <a:rPr lang="en-US" sz="900">
                          <a:latin typeface="Times New Roman"/>
                          <a:ea typeface="Times New Roman"/>
                          <a:cs typeface="Times New Roman"/>
                          <a:sym typeface="Times New Roman"/>
                        </a:rPr>
                        <a:t>0.277</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c>
                  <a:txBody>
                    <a:bodyPr/>
                    <a:lstStyle/>
                    <a:p>
                      <a:pPr indent="0" lvl="0" marL="0" rtl="0" algn="l">
                        <a:spcBef>
                          <a:spcPts val="0"/>
                        </a:spcBef>
                        <a:spcAft>
                          <a:spcPts val="0"/>
                        </a:spcAft>
                        <a:buNone/>
                      </a:pPr>
                      <a:r>
                        <a:rPr lang="en-US" sz="900">
                          <a:latin typeface="Times New Roman"/>
                          <a:ea typeface="Times New Roman"/>
                          <a:cs typeface="Times New Roman"/>
                          <a:sym typeface="Times New Roman"/>
                        </a:rPr>
                        <a:t>0.413</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c>
                  <a:txBody>
                    <a:bodyPr/>
                    <a:lstStyle/>
                    <a:p>
                      <a:pPr indent="0" lvl="0" marL="0" rtl="0" algn="l">
                        <a:spcBef>
                          <a:spcPts val="0"/>
                        </a:spcBef>
                        <a:spcAft>
                          <a:spcPts val="0"/>
                        </a:spcAft>
                        <a:buNone/>
                      </a:pPr>
                      <a:r>
                        <a:rPr lang="en-US" sz="900">
                          <a:latin typeface="Times New Roman"/>
                          <a:ea typeface="Times New Roman"/>
                          <a:cs typeface="Times New Roman"/>
                          <a:sym typeface="Times New Roman"/>
                        </a:rPr>
                        <a:t>78%</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r>
              <a:tr h="360000">
                <a:tc>
                  <a:txBody>
                    <a:bodyPr/>
                    <a:lstStyle/>
                    <a:p>
                      <a:pPr indent="0" lvl="0" marL="0" rtl="0" algn="l">
                        <a:spcBef>
                          <a:spcPts val="0"/>
                        </a:spcBef>
                        <a:spcAft>
                          <a:spcPts val="0"/>
                        </a:spcAft>
                        <a:buNone/>
                      </a:pPr>
                      <a:r>
                        <a:rPr lang="en-US" sz="900">
                          <a:latin typeface="Times New Roman"/>
                          <a:ea typeface="Times New Roman"/>
                          <a:cs typeface="Times New Roman"/>
                          <a:sym typeface="Times New Roman"/>
                        </a:rPr>
                        <a:t>Unseen apps: 0.26 → 0.40</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c>
                  <a:txBody>
                    <a:bodyPr/>
                    <a:lstStyle/>
                    <a:p>
                      <a:pPr indent="0" lvl="0" marL="0" rtl="0" algn="l">
                        <a:spcBef>
                          <a:spcPts val="0"/>
                        </a:spcBef>
                        <a:spcAft>
                          <a:spcPts val="0"/>
                        </a:spcAft>
                        <a:buNone/>
                      </a:pPr>
                      <a:r>
                        <a:rPr lang="en-US" sz="900">
                          <a:latin typeface="Times New Roman"/>
                          <a:ea typeface="Times New Roman"/>
                          <a:cs typeface="Times New Roman"/>
                          <a:sym typeface="Times New Roman"/>
                        </a:rPr>
                        <a:t>0.26 → 0.40</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c>
                  <a:txBody>
                    <a:bodyPr/>
                    <a:lstStyle/>
                    <a:p>
                      <a:pPr indent="0" lvl="0" marL="0" rtl="0" algn="l">
                        <a:spcBef>
                          <a:spcPts val="0"/>
                        </a:spcBef>
                        <a:spcAft>
                          <a:spcPts val="0"/>
                        </a:spcAft>
                        <a:buNone/>
                      </a:pPr>
                      <a:r>
                        <a:rPr lang="en-US" sz="900">
                          <a:latin typeface="Times New Roman"/>
                          <a:ea typeface="Times New Roman"/>
                          <a:cs typeface="Times New Roman"/>
                          <a:sym typeface="Times New Roman"/>
                        </a:rPr>
                        <a:t>0.8306</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c>
                  <a:txBody>
                    <a:bodyPr/>
                    <a:lstStyle/>
                    <a:p>
                      <a:pPr indent="0" lvl="0" marL="0" rtl="0" algn="l">
                        <a:spcBef>
                          <a:spcPts val="0"/>
                        </a:spcBef>
                        <a:spcAft>
                          <a:spcPts val="0"/>
                        </a:spcAft>
                        <a:buNone/>
                      </a:pPr>
                      <a:r>
                        <a:rPr lang="en-US" sz="900">
                          <a:latin typeface="Times New Roman"/>
                          <a:ea typeface="Times New Roman"/>
                          <a:cs typeface="Times New Roman"/>
                          <a:sym typeface="Times New Roman"/>
                        </a:rPr>
                        <a:t>0.608 → 0.635</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c>
                  <a:txBody>
                    <a:bodyPr/>
                    <a:lstStyle/>
                    <a:p>
                      <a:pPr indent="0" lvl="0" marL="0" rtl="0" algn="l">
                        <a:spcBef>
                          <a:spcPts val="0"/>
                        </a:spcBef>
                        <a:spcAft>
                          <a:spcPts val="0"/>
                        </a:spcAft>
                        <a:buNone/>
                      </a:pPr>
                      <a:r>
                        <a:rPr lang="en-US" sz="900">
                          <a:latin typeface="Times New Roman"/>
                          <a:ea typeface="Times New Roman"/>
                          <a:cs typeface="Times New Roman"/>
                          <a:sym typeface="Times New Roman"/>
                        </a:rPr>
                        <a:t>0.284 → 0.255</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c>
                  <a:txBody>
                    <a:bodyPr/>
                    <a:lstStyle/>
                    <a:p>
                      <a:pPr indent="0" lvl="0" marL="0" rtl="0" algn="l">
                        <a:spcBef>
                          <a:spcPts val="0"/>
                        </a:spcBef>
                        <a:spcAft>
                          <a:spcPts val="0"/>
                        </a:spcAft>
                        <a:buNone/>
                      </a:pPr>
                      <a:r>
                        <a:rPr lang="en-US" sz="900">
                          <a:latin typeface="Times New Roman"/>
                          <a:ea typeface="Times New Roman"/>
                          <a:cs typeface="Times New Roman"/>
                          <a:sym typeface="Times New Roman"/>
                        </a:rPr>
                        <a:t>–</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c>
                  <a:txBody>
                    <a:bodyPr/>
                    <a:lstStyle/>
                    <a:p>
                      <a:pPr indent="0" lvl="0" marL="0" rtl="0" algn="l">
                        <a:spcBef>
                          <a:spcPts val="0"/>
                        </a:spcBef>
                        <a:spcAft>
                          <a:spcPts val="0"/>
                        </a:spcAft>
                        <a:buNone/>
                      </a:pPr>
                      <a:r>
                        <a:rPr lang="en-US" sz="900">
                          <a:latin typeface="Times New Roman"/>
                          <a:ea typeface="Times New Roman"/>
                          <a:cs typeface="Times New Roman"/>
                          <a:sym typeface="Times New Roman"/>
                        </a:rPr>
                        <a:t>94% → 77%</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r>
              <a:tr h="360000">
                <a:tc>
                  <a:txBody>
                    <a:bodyPr/>
                    <a:lstStyle/>
                    <a:p>
                      <a:pPr indent="0" lvl="0" marL="0" rtl="0" algn="l">
                        <a:spcBef>
                          <a:spcPts val="0"/>
                        </a:spcBef>
                        <a:spcAft>
                          <a:spcPts val="0"/>
                        </a:spcAft>
                        <a:buNone/>
                      </a:pPr>
                      <a:r>
                        <a:rPr lang="en-US" sz="900">
                          <a:latin typeface="Times New Roman"/>
                          <a:ea typeface="Times New Roman"/>
                          <a:cs typeface="Times New Roman"/>
                          <a:sym typeface="Times New Roman"/>
                        </a:rPr>
                        <a:t>Bug reports: 0.26 → 0.40</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c>
                  <a:txBody>
                    <a:bodyPr/>
                    <a:lstStyle/>
                    <a:p>
                      <a:pPr indent="0" lvl="0" marL="0" rtl="0" algn="l">
                        <a:spcBef>
                          <a:spcPts val="0"/>
                        </a:spcBef>
                        <a:spcAft>
                          <a:spcPts val="0"/>
                        </a:spcAft>
                        <a:buNone/>
                      </a:pPr>
                      <a:r>
                        <a:rPr lang="en-US" sz="900">
                          <a:latin typeface="Times New Roman"/>
                          <a:ea typeface="Times New Roman"/>
                          <a:cs typeface="Times New Roman"/>
                          <a:sym typeface="Times New Roman"/>
                        </a:rPr>
                        <a:t>0.26 → 0.40</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c>
                  <a:txBody>
                    <a:bodyPr/>
                    <a:lstStyle/>
                    <a:p>
                      <a:pPr indent="0" lvl="0" marL="0" rtl="0" algn="l">
                        <a:spcBef>
                          <a:spcPts val="0"/>
                        </a:spcBef>
                        <a:spcAft>
                          <a:spcPts val="0"/>
                        </a:spcAft>
                        <a:buNone/>
                      </a:pPr>
                      <a:r>
                        <a:rPr lang="en-US" sz="900">
                          <a:latin typeface="Times New Roman"/>
                          <a:ea typeface="Times New Roman"/>
                          <a:cs typeface="Times New Roman"/>
                          <a:sym typeface="Times New Roman"/>
                        </a:rPr>
                        <a:t>0.8306</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c>
                  <a:txBody>
                    <a:bodyPr/>
                    <a:lstStyle/>
                    <a:p>
                      <a:pPr indent="0" lvl="0" marL="0" rtl="0" algn="l">
                        <a:spcBef>
                          <a:spcPts val="0"/>
                        </a:spcBef>
                        <a:spcAft>
                          <a:spcPts val="0"/>
                        </a:spcAft>
                        <a:buNone/>
                      </a:pPr>
                      <a:r>
                        <a:rPr lang="en-US" sz="900">
                          <a:latin typeface="Times New Roman"/>
                          <a:ea typeface="Times New Roman"/>
                          <a:cs typeface="Times New Roman"/>
                          <a:sym typeface="Times New Roman"/>
                        </a:rPr>
                        <a:t>0.908 → 0.912</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c>
                  <a:txBody>
                    <a:bodyPr/>
                    <a:lstStyle/>
                    <a:p>
                      <a:pPr indent="0" lvl="0" marL="0" rtl="0" algn="l">
                        <a:spcBef>
                          <a:spcPts val="0"/>
                        </a:spcBef>
                        <a:spcAft>
                          <a:spcPts val="0"/>
                        </a:spcAft>
                        <a:buNone/>
                      </a:pPr>
                      <a:r>
                        <a:rPr lang="en-US" sz="900">
                          <a:latin typeface="Times New Roman"/>
                          <a:ea typeface="Times New Roman"/>
                          <a:cs typeface="Times New Roman"/>
                          <a:sym typeface="Times New Roman"/>
                        </a:rPr>
                        <a:t>0.578 → 0.571</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c>
                  <a:txBody>
                    <a:bodyPr/>
                    <a:lstStyle/>
                    <a:p>
                      <a:pPr indent="0" lvl="0" marL="0" rtl="0" algn="l">
                        <a:spcBef>
                          <a:spcPts val="0"/>
                        </a:spcBef>
                        <a:spcAft>
                          <a:spcPts val="0"/>
                        </a:spcAft>
                        <a:buNone/>
                      </a:pPr>
                      <a:r>
                        <a:rPr lang="en-US" sz="900">
                          <a:latin typeface="Times New Roman"/>
                          <a:ea typeface="Times New Roman"/>
                          <a:cs typeface="Times New Roman"/>
                          <a:sym typeface="Times New Roman"/>
                        </a:rPr>
                        <a:t>–</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c>
                  <a:txBody>
                    <a:bodyPr/>
                    <a:lstStyle/>
                    <a:p>
                      <a:pPr indent="0" lvl="0" marL="0" rtl="0" algn="l">
                        <a:spcBef>
                          <a:spcPts val="0"/>
                        </a:spcBef>
                        <a:spcAft>
                          <a:spcPts val="0"/>
                        </a:spcAft>
                        <a:buNone/>
                      </a:pPr>
                      <a:r>
                        <a:rPr lang="en-US" sz="900">
                          <a:latin typeface="Times New Roman"/>
                          <a:ea typeface="Times New Roman"/>
                          <a:cs typeface="Times New Roman"/>
                          <a:sym typeface="Times New Roman"/>
                        </a:rPr>
                        <a:t>96% → 90%</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r>
            </a:tbl>
          </a:graphicData>
        </a:graphic>
      </p:graphicFrame>
      <p:sp>
        <p:nvSpPr>
          <p:cNvPr id="960" name="Results text 960"/>
          <p:cNvSpPr txBox="1"/>
          <p:nvPr/>
        </p:nvSpPr>
        <p:spPr>
          <a:xfrm>
            <a:off x="497000" y="4440000"/>
            <a:ext cx="8100000" cy="420000"/>
          </a:xfrm>
          <a:prstGeom prst="rect">
            <a:avLst/>
          </a:prstGeom>
          <a:noFill/>
          <a:ln>
            <a:noFill/>
          </a:ln>
        </p:spPr>
        <p:txBody>
          <a:bodyPr anchorCtr="0" anchor="t" bIns="45720" lIns="45720" spcFirstLastPara="1" rIns="45720" wrap="square" tIns="45720">
            <a:noAutofit/>
          </a:bodyPr>
          <a:lstStyle/>
          <a:p>
            <a:pPr indent="0" lvl="0" marL="0" rtl="0" algn="l">
              <a:spcBef>
                <a:spcPts val="0"/>
              </a:spcBef>
              <a:spcAft>
                <a:spcPts val="0"/>
              </a:spcAft>
              <a:buNone/>
            </a:pPr>
            <a:r>
              <a:rPr lang="en-US" sz="1000">
                <a:solidFill>
                  <a:schemeClr val="dk1"/>
                </a:solidFill>
                <a:latin typeface="Times New Roman"/>
                <a:ea typeface="Times New Roman"/>
                <a:cs typeface="Times New Roman"/>
                <a:sym typeface="Times New Roman"/>
              </a:rPr>
              <a:t xml:space="preserve">Play Store held-out halves pooled, live judge calls. t_high = 0.8306 (lowest similarity at which tuning pairs are ≥ 97% true duplicates) is used for every channel; t_low is 0.40 for app reviews and chat and 0.26 for tickets and bug reports, where raising it changed little. Before re-joining (see results).</a:t>
            </a:r>
          </a:p>
        </p:txBody>
      </p:sp>
    </p:spTree>
  </p:cSld>
  <p:clrMapOvr>
    <a:masterClrMapping/>
  </p:clrMapOvr>
</p:sld>
</file>

<file path=ppt/slides/slide2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6" name="Shape 66"/>
        <p:cNvGrpSpPr/>
        <p:nvPr/>
      </p:nvGrpSpPr>
      <p:grpSpPr>
        <a:xfrm>
          <a:off x="0" y="0"/>
          <a:ext cx="0" cy="0"/>
          <a:chOff x="0" y="0"/>
          <a:chExt cx="0" cy="0"/>
        </a:xfrm>
      </p:grpSpPr>
      <p:sp>
        <p:nvSpPr>
          <p:cNvPr id="67" name="Google Shape;67;p11"/>
          <p:cNvSpPr txBox="1"/>
          <p:nvPr/>
        </p:nvSpPr>
        <p:spPr>
          <a:xfrm>
            <a:off x="257175" y="4836100"/>
            <a:ext cx="1343100" cy="2769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1200"/>
              <a:buFont typeface="Arial"/>
              <a:buNone/>
            </a:pPr>
            <a:r>
              <a:rPr b="0" i="0" lang="en-US" sz="1200" u="none" cap="none" strike="noStrike">
                <a:solidFill>
                  <a:schemeClr val="lt1"/>
                </a:solidFill>
                <a:latin typeface="Times New Roman"/>
                <a:ea typeface="Times New Roman"/>
                <a:cs typeface="Times New Roman"/>
                <a:sym typeface="Times New Roman"/>
              </a:rPr>
              <a:t>26/6/2023</a:t>
            </a:r>
            <a:endParaRPr b="0" i="0" sz="1200" u="none" cap="none" strike="noStrike">
              <a:solidFill>
                <a:schemeClr val="lt1"/>
              </a:solidFill>
              <a:latin typeface="Times New Roman"/>
              <a:ea typeface="Times New Roman"/>
              <a:cs typeface="Times New Roman"/>
              <a:sym typeface="Times New Roman"/>
            </a:endParaRPr>
          </a:p>
        </p:txBody>
      </p:sp>
      <p:sp>
        <p:nvSpPr>
          <p:cNvPr id="68" name="Google Shape;68;p11"/>
          <p:cNvSpPr/>
          <p:nvPr/>
        </p:nvSpPr>
        <p:spPr>
          <a:xfrm>
            <a:off x="8910006" y="1217600"/>
            <a:ext cx="230400" cy="3941400"/>
          </a:xfrm>
          <a:prstGeom prst="rect">
            <a:avLst/>
          </a:prstGeom>
          <a:solidFill>
            <a:srgbClr val="C00000"/>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2493"/>
              <a:buFont typeface="Arial"/>
              <a:buNone/>
            </a:pPr>
            <a:r>
              <a:t/>
            </a:r>
            <a:endParaRPr b="0" i="0" sz="2495" u="none" cap="none" strike="noStrike">
              <a:solidFill>
                <a:schemeClr val="lt1"/>
              </a:solidFill>
              <a:latin typeface="Arial"/>
              <a:ea typeface="Arial"/>
              <a:cs typeface="Arial"/>
              <a:sym typeface="Arial"/>
            </a:endParaRPr>
          </a:p>
        </p:txBody>
      </p:sp>
      <p:sp>
        <p:nvSpPr>
          <p:cNvPr id="69" name="Google Shape;69;p11"/>
          <p:cNvSpPr/>
          <p:nvPr/>
        </p:nvSpPr>
        <p:spPr>
          <a:xfrm>
            <a:off x="2105025" y="4836100"/>
            <a:ext cx="6807300" cy="322800"/>
          </a:xfrm>
          <a:prstGeom prst="rect">
            <a:avLst/>
          </a:prstGeom>
          <a:solidFill>
            <a:srgbClr val="C00000"/>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2493"/>
              <a:buFont typeface="Arial"/>
              <a:buNone/>
            </a:pPr>
            <a:r>
              <a:t/>
            </a:r>
            <a:endParaRPr b="0" i="0" sz="2495" u="none" cap="none" strike="noStrike">
              <a:solidFill>
                <a:schemeClr val="lt1"/>
              </a:solidFill>
              <a:latin typeface="Arial"/>
              <a:ea typeface="Arial"/>
              <a:cs typeface="Arial"/>
              <a:sym typeface="Arial"/>
            </a:endParaRPr>
          </a:p>
        </p:txBody>
      </p:sp>
      <p:pic>
        <p:nvPicPr>
          <p:cNvPr id="70" name="Google Shape;70;p11"/>
          <p:cNvPicPr preferRelativeResize="0"/>
          <p:nvPr/>
        </p:nvPicPr>
        <p:blipFill rotWithShape="1">
          <a:blip r:embed="rId3">
            <a:alphaModFix/>
          </a:blip>
          <a:srcRect b="0" l="0" r="0" t="0"/>
          <a:stretch/>
        </p:blipFill>
        <p:spPr>
          <a:xfrm>
            <a:off x="0" y="0"/>
            <a:ext cx="9143999" cy="1332186"/>
          </a:xfrm>
          <a:prstGeom prst="rect">
            <a:avLst/>
          </a:prstGeom>
          <a:noFill/>
          <a:ln>
            <a:noFill/>
          </a:ln>
        </p:spPr>
      </p:pic>
      <p:sp>
        <p:nvSpPr>
          <p:cNvPr id="71" name="Google Shape;71;p11"/>
          <p:cNvSpPr txBox="1"/>
          <p:nvPr/>
        </p:nvSpPr>
        <p:spPr>
          <a:xfrm>
            <a:off x="678139" y="1217597"/>
            <a:ext cx="7968000" cy="3504300"/>
          </a:xfrm>
          <a:prstGeom prst="rect">
            <a:avLst/>
          </a:prstGeom>
          <a:noFill/>
          <a:ln>
            <a:noFill/>
          </a:ln>
        </p:spPr>
        <p:txBody>
          <a:bodyPr anchorCtr="0" anchor="t" bIns="91425" lIns="91425" spcFirstLastPara="1" rIns="107625" wrap="square" tIns="91425">
            <a:normAutofit/>
          </a:bodyPr>
          <a:lstStyle/>
          <a:p>
            <a:pPr indent="0" lvl="0" marL="0" marR="0" rtl="0" algn="ctr">
              <a:lnSpc>
                <a:spcPct val="100000"/>
              </a:lnSpc>
              <a:spcBef>
                <a:spcPts val="0"/>
              </a:spcBef>
              <a:spcAft>
                <a:spcPts val="0"/>
              </a:spcAft>
              <a:buClr>
                <a:srgbClr val="000000"/>
              </a:buClr>
              <a:buSzPts val="1800"/>
              <a:buFont typeface="Arial"/>
              <a:buNone/>
            </a:pPr>
            <a:r>
              <a:rPr b="1" lang="en-US">
                <a:latin typeface="Times New Roman"/>
                <a:ea typeface="Times New Roman"/>
                <a:cs typeface="Times New Roman"/>
                <a:sym typeface="Times New Roman"/>
              </a:rPr>
              <a:t>SPIKE DETECTOR CALIBRATION</a:t>
            </a:r>
            <a:endParaRPr b="1">
              <a:latin typeface="Times New Roman"/>
              <a:ea typeface="Times New Roman"/>
              <a:cs typeface="Times New Roman"/>
              <a:sym typeface="Times New Roman"/>
            </a:endParaRPr>
          </a:p>
          <a:p>
            <a:pPr indent="0" lvl="0" marL="0" marR="0" rtl="0" algn="ctr">
              <a:lnSpc>
                <a:spcPct val="100000"/>
              </a:lnSpc>
              <a:spcBef>
                <a:spcPts val="0"/>
              </a:spcBef>
              <a:spcAft>
                <a:spcPts val="0"/>
              </a:spcAft>
              <a:buClr>
                <a:srgbClr val="000000"/>
              </a:buClr>
              <a:buSzPts val="1800"/>
              <a:buFont typeface="Arial"/>
              <a:buNone/>
            </a:pPr>
            <a:r>
              <a:t/>
            </a:r>
            <a:endParaRPr b="1" i="0" sz="1800" u="none" cap="none" strike="noStrike">
              <a:solidFill>
                <a:schemeClr val="dk1"/>
              </a:solidFill>
              <a:latin typeface="Times New Roman"/>
              <a:ea typeface="Times New Roman"/>
              <a:cs typeface="Times New Roman"/>
              <a:sym typeface="Times New Roman"/>
            </a:endParaRPr>
          </a:p>
          <a:p>
            <a:pPr indent="0" lvl="0" marL="0" rtl="0" algn="just">
              <a:spcBef>
                <a:spcPts val="0"/>
              </a:spcBef>
              <a:spcAft>
                <a:spcPts val="0"/>
              </a:spcAft>
              <a:buClr>
                <a:schemeClr val="dk1"/>
              </a:buClr>
              <a:buSzPts val="1100"/>
              <a:buFont typeface="Arial"/>
              <a:buNone/>
            </a:pPr>
            <a:r>
              <a:t/>
            </a:r>
            <a:endParaRPr sz="1600">
              <a:solidFill>
                <a:schemeClr val="dk1"/>
              </a:solidFill>
              <a:latin typeface="Times New Roman"/>
              <a:ea typeface="Times New Roman"/>
              <a:cs typeface="Times New Roman"/>
              <a:sym typeface="Times New Roman"/>
            </a:endParaRPr>
          </a:p>
        </p:txBody>
      </p:sp>
      <p:graphicFrame>
        <p:nvGraphicFramePr>
          <p:cNvPr id="72" name="Google Shape;72;p11"/>
          <p:cNvGraphicFramePr/>
          <p:nvPr/>
        </p:nvGraphicFramePr>
        <p:xfrm>
          <a:off x="497000" y="1580000"/>
          <a:ext cx="8150000" cy="2920000"/>
        </p:xfrm>
        <a:graphic>
          <a:graphicData uri="http://schemas.openxmlformats.org/drawingml/2006/table">
            <a:tbl>
              <a:tblPr>
                <a:noFill/>
                <a:tableStyleId>{ADC876BD-21E3-499D-94FC-3D607E5DCE7B}</a:tableStyleId>
              </a:tblPr>
              <a:tblGrid>
                <a:gridCol w="2000000"/>
                <a:gridCol w="1450000"/>
                <a:gridCol w="1150000"/>
                <a:gridCol w="1150000"/>
                <a:gridCol w="1200000"/>
                <a:gridCol w="1200000"/>
              </a:tblGrid>
              <a:tr h="280000">
                <a:tc>
                  <a:txBody>
                    <a:bodyPr/>
                    <a:lstStyle/>
                    <a:p>
                      <a:pPr indent="0" lvl="0" marL="0" rtl="0" algn="l">
                        <a:spcBef>
                          <a:spcPts val="0"/>
                        </a:spcBef>
                        <a:spcAft>
                          <a:spcPts val="0"/>
                        </a:spcAft>
                        <a:buNone/>
                      </a:pPr>
                      <a:r>
                        <a:rPr b="1" lang="en-US" sz="1000">
                          <a:latin typeface="Times New Roman"/>
                          <a:ea typeface="Times New Roman"/>
                          <a:cs typeface="Times New Roman"/>
                          <a:sym typeface="Times New Roman"/>
                        </a:rPr>
                        <a:t>Detector</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c>
                  <a:txBody>
                    <a:bodyPr/>
                    <a:lstStyle/>
                    <a:p>
                      <a:pPr indent="0" lvl="0" marL="0" rtl="0" algn="l">
                        <a:spcBef>
                          <a:spcPts val="0"/>
                        </a:spcBef>
                        <a:spcAft>
                          <a:spcPts val="0"/>
                        </a:spcAft>
                        <a:buNone/>
                      </a:pPr>
                      <a:r>
                        <a:rPr b="1" lang="en-US" sz="1000">
                          <a:latin typeface="Times New Roman"/>
                          <a:ea typeface="Times New Roman"/>
                          <a:cs typeface="Times New Roman"/>
                          <a:sym typeface="Times New Roman"/>
                        </a:rPr>
                        <a:t>Setting</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c>
                  <a:txBody>
                    <a:bodyPr/>
                    <a:lstStyle/>
                    <a:p>
                      <a:pPr indent="0" lvl="0" marL="0" rtl="0" algn="l">
                        <a:spcBef>
                          <a:spcPts val="0"/>
                        </a:spcBef>
                        <a:spcAft>
                          <a:spcPts val="0"/>
                        </a:spcAft>
                        <a:buNone/>
                      </a:pPr>
                      <a:r>
                        <a:rPr b="1" lang="en-US" sz="1000">
                          <a:latin typeface="Times New Roman"/>
                          <a:ea typeface="Times New Roman"/>
                          <a:cs typeface="Times New Roman"/>
                          <a:sym typeface="Times New Roman"/>
                        </a:rPr>
                        <a:t>Play Store detected</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c>
                  <a:txBody>
                    <a:bodyPr/>
                    <a:lstStyle/>
                    <a:p>
                      <a:pPr indent="0" lvl="0" marL="0" rtl="0" algn="l">
                        <a:spcBef>
                          <a:spcPts val="0"/>
                        </a:spcBef>
                        <a:spcAft>
                          <a:spcPts val="0"/>
                        </a:spcAft>
                        <a:buNone/>
                      </a:pPr>
                      <a:r>
                        <a:rPr b="1" lang="en-US" sz="1000">
                          <a:latin typeface="Times New Roman"/>
                          <a:ea typeface="Times New Roman"/>
                          <a:cs typeface="Times New Roman"/>
                          <a:sym typeface="Times New Roman"/>
                        </a:rPr>
                        <a:t>Play Store false / 100 windows</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c>
                  <a:txBody>
                    <a:bodyPr/>
                    <a:lstStyle/>
                    <a:p>
                      <a:pPr indent="0" lvl="0" marL="0" rtl="0" algn="l">
                        <a:spcBef>
                          <a:spcPts val="0"/>
                        </a:spcBef>
                        <a:spcAft>
                          <a:spcPts val="0"/>
                        </a:spcAft>
                        <a:buNone/>
                      </a:pPr>
                      <a:r>
                        <a:rPr b="1" lang="en-US" sz="1000">
                          <a:latin typeface="Times New Roman"/>
                          <a:ea typeface="Times New Roman"/>
                          <a:cs typeface="Times New Roman"/>
                          <a:sym typeface="Times New Roman"/>
                        </a:rPr>
                        <a:t>Bug reports detected</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c>
                  <a:txBody>
                    <a:bodyPr/>
                    <a:lstStyle/>
                    <a:p>
                      <a:pPr indent="0" lvl="0" marL="0" rtl="0" algn="l">
                        <a:spcBef>
                          <a:spcPts val="0"/>
                        </a:spcBef>
                        <a:spcAft>
                          <a:spcPts val="0"/>
                        </a:spcAft>
                        <a:buNone/>
                      </a:pPr>
                      <a:r>
                        <a:rPr b="1" lang="en-US" sz="1000">
                          <a:latin typeface="Times New Roman"/>
                          <a:ea typeface="Times New Roman"/>
                          <a:cs typeface="Times New Roman"/>
                          <a:sym typeface="Times New Roman"/>
                        </a:rPr>
                        <a:t>Bug reports false / 100 windows</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r>
              <a:tr h="295000">
                <a:tc>
                  <a:txBody>
                    <a:bodyPr/>
                    <a:lstStyle/>
                    <a:p>
                      <a:pPr indent="0" lvl="0" marL="0" rtl="0" algn="l">
                        <a:spcBef>
                          <a:spcPts val="0"/>
                        </a:spcBef>
                        <a:spcAft>
                          <a:spcPts val="0"/>
                        </a:spcAft>
                        <a:buNone/>
                      </a:pPr>
                      <a:r>
                        <a:rPr b="1" lang="en-US" sz="900">
                          <a:latin typeface="Times New Roman"/>
                          <a:ea typeface="Times New Roman"/>
                          <a:cs typeface="Times New Roman"/>
                          <a:sym typeface="Times New Roman"/>
                        </a:rPr>
                        <a:t>Poisson CUSUM (deployed)</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c>
                  <a:txBody>
                    <a:bodyPr/>
                    <a:lstStyle/>
                    <a:p>
                      <a:pPr indent="0" lvl="0" marL="0" rtl="0" algn="l">
                        <a:spcBef>
                          <a:spcPts val="0"/>
                        </a:spcBef>
                        <a:spcAft>
                          <a:spcPts val="0"/>
                        </a:spcAft>
                        <a:buNone/>
                      </a:pPr>
                      <a:r>
                        <a:rPr b="1" lang="en-US" sz="900">
                          <a:latin typeface="Times New Roman"/>
                          <a:ea typeface="Times New Roman"/>
                          <a:cs typeface="Times New Roman"/>
                          <a:sym typeface="Times New Roman"/>
                        </a:rPr>
                        <a:t>δ = 1, h = 2</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c>
                  <a:txBody>
                    <a:bodyPr/>
                    <a:lstStyle/>
                    <a:p>
                      <a:pPr indent="0" lvl="0" marL="0" rtl="0" algn="l">
                        <a:spcBef>
                          <a:spcPts val="0"/>
                        </a:spcBef>
                        <a:spcAft>
                          <a:spcPts val="0"/>
                        </a:spcAft>
                        <a:buNone/>
                      </a:pPr>
                      <a:r>
                        <a:rPr b="1" lang="en-US" sz="900">
                          <a:latin typeface="Times New Roman"/>
                          <a:ea typeface="Times New Roman"/>
                          <a:cs typeface="Times New Roman"/>
                          <a:sym typeface="Times New Roman"/>
                        </a:rPr>
                        <a:t>42%</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c>
                  <a:txBody>
                    <a:bodyPr/>
                    <a:lstStyle/>
                    <a:p>
                      <a:pPr indent="0" lvl="0" marL="0" rtl="0" algn="l">
                        <a:spcBef>
                          <a:spcPts val="0"/>
                        </a:spcBef>
                        <a:spcAft>
                          <a:spcPts val="0"/>
                        </a:spcAft>
                        <a:buNone/>
                      </a:pPr>
                      <a:r>
                        <a:rPr b="1" lang="en-US" sz="900">
                          <a:latin typeface="Times New Roman"/>
                          <a:ea typeface="Times New Roman"/>
                          <a:cs typeface="Times New Roman"/>
                          <a:sym typeface="Times New Roman"/>
                        </a:rPr>
                        <a:t>0.06</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c>
                  <a:txBody>
                    <a:bodyPr/>
                    <a:lstStyle/>
                    <a:p>
                      <a:pPr indent="0" lvl="0" marL="0" rtl="0" algn="l">
                        <a:spcBef>
                          <a:spcPts val="0"/>
                        </a:spcBef>
                        <a:spcAft>
                          <a:spcPts val="0"/>
                        </a:spcAft>
                        <a:buNone/>
                      </a:pPr>
                      <a:r>
                        <a:rPr b="1" lang="en-US" sz="900">
                          <a:latin typeface="Times New Roman"/>
                          <a:ea typeface="Times New Roman"/>
                          <a:cs typeface="Times New Roman"/>
                          <a:sym typeface="Times New Roman"/>
                        </a:rPr>
                        <a:t>76%</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c>
                  <a:txBody>
                    <a:bodyPr/>
                    <a:lstStyle/>
                    <a:p>
                      <a:pPr indent="0" lvl="0" marL="0" rtl="0" algn="l">
                        <a:spcBef>
                          <a:spcPts val="0"/>
                        </a:spcBef>
                        <a:spcAft>
                          <a:spcPts val="0"/>
                        </a:spcAft>
                        <a:buNone/>
                      </a:pPr>
                      <a:r>
                        <a:rPr b="1" lang="en-US" sz="900">
                          <a:latin typeface="Times New Roman"/>
                          <a:ea typeface="Times New Roman"/>
                          <a:cs typeface="Times New Roman"/>
                          <a:sym typeface="Times New Roman"/>
                        </a:rPr>
                        <a:t>0.38</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r>
              <a:tr h="295000">
                <a:tc>
                  <a:txBody>
                    <a:bodyPr/>
                    <a:lstStyle/>
                    <a:p>
                      <a:pPr indent="0" lvl="0" marL="0" rtl="0" algn="l">
                        <a:spcBef>
                          <a:spcPts val="0"/>
                        </a:spcBef>
                        <a:spcAft>
                          <a:spcPts val="0"/>
                        </a:spcAft>
                        <a:buNone/>
                      </a:pPr>
                      <a:r>
                        <a:rPr lang="en-US" sz="900">
                          <a:latin typeface="Times New Roman"/>
                          <a:ea typeface="Times New Roman"/>
                          <a:cs typeface="Times New Roman"/>
                          <a:sym typeface="Times New Roman"/>
                        </a:rPr>
                        <a:t>Poisson CUSUM</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c>
                  <a:txBody>
                    <a:bodyPr/>
                    <a:lstStyle/>
                    <a:p>
                      <a:pPr indent="0" lvl="0" marL="0" rtl="0" algn="l">
                        <a:spcBef>
                          <a:spcPts val="0"/>
                        </a:spcBef>
                        <a:spcAft>
                          <a:spcPts val="0"/>
                        </a:spcAft>
                        <a:buNone/>
                      </a:pPr>
                      <a:r>
                        <a:rPr lang="en-US" sz="900">
                          <a:latin typeface="Times New Roman"/>
                          <a:ea typeface="Times New Roman"/>
                          <a:cs typeface="Times New Roman"/>
                          <a:sym typeface="Times New Roman"/>
                        </a:rPr>
                        <a:t>δ = 1, h = 1.5</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c>
                  <a:txBody>
                    <a:bodyPr/>
                    <a:lstStyle/>
                    <a:p>
                      <a:pPr indent="0" lvl="0" marL="0" rtl="0" algn="l">
                        <a:spcBef>
                          <a:spcPts val="0"/>
                        </a:spcBef>
                        <a:spcAft>
                          <a:spcPts val="0"/>
                        </a:spcAft>
                        <a:buNone/>
                      </a:pPr>
                      <a:r>
                        <a:rPr lang="en-US" sz="900">
                          <a:latin typeface="Times New Roman"/>
                          <a:ea typeface="Times New Roman"/>
                          <a:cs typeface="Times New Roman"/>
                          <a:sym typeface="Times New Roman"/>
                        </a:rPr>
                        <a:t>56%</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c>
                  <a:txBody>
                    <a:bodyPr/>
                    <a:lstStyle/>
                    <a:p>
                      <a:pPr indent="0" lvl="0" marL="0" rtl="0" algn="l">
                        <a:spcBef>
                          <a:spcPts val="0"/>
                        </a:spcBef>
                        <a:spcAft>
                          <a:spcPts val="0"/>
                        </a:spcAft>
                        <a:buNone/>
                      </a:pPr>
                      <a:r>
                        <a:rPr lang="en-US" sz="900">
                          <a:latin typeface="Times New Roman"/>
                          <a:ea typeface="Times New Roman"/>
                          <a:cs typeface="Times New Roman"/>
                          <a:sym typeface="Times New Roman"/>
                        </a:rPr>
                        <a:t>0.78</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c>
                  <a:txBody>
                    <a:bodyPr/>
                    <a:lstStyle/>
                    <a:p>
                      <a:pPr indent="0" lvl="0" marL="0" rtl="0" algn="l">
                        <a:spcBef>
                          <a:spcPts val="0"/>
                        </a:spcBef>
                        <a:spcAft>
                          <a:spcPts val="0"/>
                        </a:spcAft>
                        <a:buNone/>
                      </a:pPr>
                      <a:r>
                        <a:rPr lang="en-US" sz="900">
                          <a:latin typeface="Times New Roman"/>
                          <a:ea typeface="Times New Roman"/>
                          <a:cs typeface="Times New Roman"/>
                          <a:sym typeface="Times New Roman"/>
                        </a:rPr>
                        <a:t>86%</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c>
                  <a:txBody>
                    <a:bodyPr/>
                    <a:lstStyle/>
                    <a:p>
                      <a:pPr indent="0" lvl="0" marL="0" rtl="0" algn="l">
                        <a:spcBef>
                          <a:spcPts val="0"/>
                        </a:spcBef>
                        <a:spcAft>
                          <a:spcPts val="0"/>
                        </a:spcAft>
                        <a:buNone/>
                      </a:pPr>
                      <a:r>
                        <a:rPr lang="en-US" sz="900">
                          <a:latin typeface="Times New Roman"/>
                          <a:ea typeface="Times New Roman"/>
                          <a:cs typeface="Times New Roman"/>
                          <a:sym typeface="Times New Roman"/>
                        </a:rPr>
                        <a:t>3.81</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r>
              <a:tr h="295000">
                <a:tc>
                  <a:txBody>
                    <a:bodyPr/>
                    <a:lstStyle/>
                    <a:p>
                      <a:pPr indent="0" lvl="0" marL="0" rtl="0" algn="l">
                        <a:spcBef>
                          <a:spcPts val="0"/>
                        </a:spcBef>
                        <a:spcAft>
                          <a:spcPts val="0"/>
                        </a:spcAft>
                        <a:buNone/>
                      </a:pPr>
                      <a:r>
                        <a:rPr lang="en-US" sz="900">
                          <a:latin typeface="Times New Roman"/>
                          <a:ea typeface="Times New Roman"/>
                          <a:cs typeface="Times New Roman"/>
                          <a:sym typeface="Times New Roman"/>
                        </a:rPr>
                        <a:t>Poisson CUSUM</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c>
                  <a:txBody>
                    <a:bodyPr/>
                    <a:lstStyle/>
                    <a:p>
                      <a:pPr indent="0" lvl="0" marL="0" rtl="0" algn="l">
                        <a:spcBef>
                          <a:spcPts val="0"/>
                        </a:spcBef>
                        <a:spcAft>
                          <a:spcPts val="0"/>
                        </a:spcAft>
                        <a:buNone/>
                      </a:pPr>
                      <a:r>
                        <a:rPr lang="en-US" sz="900">
                          <a:latin typeface="Times New Roman"/>
                          <a:ea typeface="Times New Roman"/>
                          <a:cs typeface="Times New Roman"/>
                          <a:sym typeface="Times New Roman"/>
                        </a:rPr>
                        <a:t>δ = 1, h = 3</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c>
                  <a:txBody>
                    <a:bodyPr/>
                    <a:lstStyle/>
                    <a:p>
                      <a:pPr indent="0" lvl="0" marL="0" rtl="0" algn="l">
                        <a:spcBef>
                          <a:spcPts val="0"/>
                        </a:spcBef>
                        <a:spcAft>
                          <a:spcPts val="0"/>
                        </a:spcAft>
                        <a:buNone/>
                      </a:pPr>
                      <a:r>
                        <a:rPr lang="en-US" sz="900">
                          <a:latin typeface="Times New Roman"/>
                          <a:ea typeface="Times New Roman"/>
                          <a:cs typeface="Times New Roman"/>
                          <a:sym typeface="Times New Roman"/>
                        </a:rPr>
                        <a:t>25%</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c>
                  <a:txBody>
                    <a:bodyPr/>
                    <a:lstStyle/>
                    <a:p>
                      <a:pPr indent="0" lvl="0" marL="0" rtl="0" algn="l">
                        <a:spcBef>
                          <a:spcPts val="0"/>
                        </a:spcBef>
                        <a:spcAft>
                          <a:spcPts val="0"/>
                        </a:spcAft>
                        <a:buNone/>
                      </a:pPr>
                      <a:r>
                        <a:rPr lang="en-US" sz="900">
                          <a:latin typeface="Times New Roman"/>
                          <a:ea typeface="Times New Roman"/>
                          <a:cs typeface="Times New Roman"/>
                          <a:sym typeface="Times New Roman"/>
                        </a:rPr>
                        <a:t>0.00</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c>
                  <a:txBody>
                    <a:bodyPr/>
                    <a:lstStyle/>
                    <a:p>
                      <a:pPr indent="0" lvl="0" marL="0" rtl="0" algn="l">
                        <a:spcBef>
                          <a:spcPts val="0"/>
                        </a:spcBef>
                        <a:spcAft>
                          <a:spcPts val="0"/>
                        </a:spcAft>
                        <a:buNone/>
                      </a:pPr>
                      <a:r>
                        <a:rPr lang="en-US" sz="900">
                          <a:latin typeface="Times New Roman"/>
                          <a:ea typeface="Times New Roman"/>
                          <a:cs typeface="Times New Roman"/>
                          <a:sym typeface="Times New Roman"/>
                        </a:rPr>
                        <a:t>50%</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c>
                  <a:txBody>
                    <a:bodyPr/>
                    <a:lstStyle/>
                    <a:p>
                      <a:pPr indent="0" lvl="0" marL="0" rtl="0" algn="l">
                        <a:spcBef>
                          <a:spcPts val="0"/>
                        </a:spcBef>
                        <a:spcAft>
                          <a:spcPts val="0"/>
                        </a:spcAft>
                        <a:buNone/>
                      </a:pPr>
                      <a:r>
                        <a:rPr lang="en-US" sz="900">
                          <a:latin typeface="Times New Roman"/>
                          <a:ea typeface="Times New Roman"/>
                          <a:cs typeface="Times New Roman"/>
                          <a:sym typeface="Times New Roman"/>
                        </a:rPr>
                        <a:t>0.01</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r>
              <a:tr h="295000">
                <a:tc>
                  <a:txBody>
                    <a:bodyPr/>
                    <a:lstStyle/>
                    <a:p>
                      <a:pPr indent="0" lvl="0" marL="0" rtl="0" algn="l">
                        <a:spcBef>
                          <a:spcPts val="0"/>
                        </a:spcBef>
                        <a:spcAft>
                          <a:spcPts val="0"/>
                        </a:spcAft>
                        <a:buNone/>
                      </a:pPr>
                      <a:r>
                        <a:rPr lang="en-US" sz="900">
                          <a:latin typeface="Times New Roman"/>
                          <a:ea typeface="Times New Roman"/>
                          <a:cs typeface="Times New Roman"/>
                          <a:sym typeface="Times New Roman"/>
                        </a:rPr>
                        <a:t>Poisson CUSUM</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c>
                  <a:txBody>
                    <a:bodyPr/>
                    <a:lstStyle/>
                    <a:p>
                      <a:pPr indent="0" lvl="0" marL="0" rtl="0" algn="l">
                        <a:spcBef>
                          <a:spcPts val="0"/>
                        </a:spcBef>
                        <a:spcAft>
                          <a:spcPts val="0"/>
                        </a:spcAft>
                        <a:buNone/>
                      </a:pPr>
                      <a:r>
                        <a:rPr lang="en-US" sz="900">
                          <a:latin typeface="Times New Roman"/>
                          <a:ea typeface="Times New Roman"/>
                          <a:cs typeface="Times New Roman"/>
                          <a:sym typeface="Times New Roman"/>
                        </a:rPr>
                        <a:t>δ = 0.5, h = 2</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c>
                  <a:txBody>
                    <a:bodyPr/>
                    <a:lstStyle/>
                    <a:p>
                      <a:pPr indent="0" lvl="0" marL="0" rtl="0" algn="l">
                        <a:spcBef>
                          <a:spcPts val="0"/>
                        </a:spcBef>
                        <a:spcAft>
                          <a:spcPts val="0"/>
                        </a:spcAft>
                        <a:buNone/>
                      </a:pPr>
                      <a:r>
                        <a:rPr lang="en-US" sz="900">
                          <a:latin typeface="Times New Roman"/>
                          <a:ea typeface="Times New Roman"/>
                          <a:cs typeface="Times New Roman"/>
                          <a:sym typeface="Times New Roman"/>
                        </a:rPr>
                        <a:t>45%</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c>
                  <a:txBody>
                    <a:bodyPr/>
                    <a:lstStyle/>
                    <a:p>
                      <a:pPr indent="0" lvl="0" marL="0" rtl="0" algn="l">
                        <a:spcBef>
                          <a:spcPts val="0"/>
                        </a:spcBef>
                        <a:spcAft>
                          <a:spcPts val="0"/>
                        </a:spcAft>
                        <a:buNone/>
                      </a:pPr>
                      <a:r>
                        <a:rPr lang="en-US" sz="900">
                          <a:latin typeface="Times New Roman"/>
                          <a:ea typeface="Times New Roman"/>
                          <a:cs typeface="Times New Roman"/>
                          <a:sym typeface="Times New Roman"/>
                        </a:rPr>
                        <a:t>0.22</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c>
                  <a:txBody>
                    <a:bodyPr/>
                    <a:lstStyle/>
                    <a:p>
                      <a:pPr indent="0" lvl="0" marL="0" rtl="0" algn="l">
                        <a:spcBef>
                          <a:spcPts val="0"/>
                        </a:spcBef>
                        <a:spcAft>
                          <a:spcPts val="0"/>
                        </a:spcAft>
                        <a:buNone/>
                      </a:pPr>
                      <a:r>
                        <a:rPr lang="en-US" sz="900">
                          <a:latin typeface="Times New Roman"/>
                          <a:ea typeface="Times New Roman"/>
                          <a:cs typeface="Times New Roman"/>
                          <a:sym typeface="Times New Roman"/>
                        </a:rPr>
                        <a:t>78%</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c>
                  <a:txBody>
                    <a:bodyPr/>
                    <a:lstStyle/>
                    <a:p>
                      <a:pPr indent="0" lvl="0" marL="0" rtl="0" algn="l">
                        <a:spcBef>
                          <a:spcPts val="0"/>
                        </a:spcBef>
                        <a:spcAft>
                          <a:spcPts val="0"/>
                        </a:spcAft>
                        <a:buNone/>
                      </a:pPr>
                      <a:r>
                        <a:rPr lang="en-US" sz="900">
                          <a:latin typeface="Times New Roman"/>
                          <a:ea typeface="Times New Roman"/>
                          <a:cs typeface="Times New Roman"/>
                          <a:sym typeface="Times New Roman"/>
                        </a:rPr>
                        <a:t>1.04</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r>
              <a:tr h="295000">
                <a:tc>
                  <a:txBody>
                    <a:bodyPr/>
                    <a:lstStyle/>
                    <a:p>
                      <a:pPr indent="0" lvl="0" marL="0" rtl="0" algn="l">
                        <a:spcBef>
                          <a:spcPts val="0"/>
                        </a:spcBef>
                        <a:spcAft>
                          <a:spcPts val="0"/>
                        </a:spcAft>
                        <a:buNone/>
                      </a:pPr>
                      <a:r>
                        <a:rPr lang="en-US" sz="900">
                          <a:latin typeface="Times New Roman"/>
                          <a:ea typeface="Times New Roman"/>
                          <a:cs typeface="Times New Roman"/>
                          <a:sym typeface="Times New Roman"/>
                        </a:rPr>
                        <a:t>Poisson CUSUM</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c>
                  <a:txBody>
                    <a:bodyPr/>
                    <a:lstStyle/>
                    <a:p>
                      <a:pPr indent="0" lvl="0" marL="0" rtl="0" algn="l">
                        <a:spcBef>
                          <a:spcPts val="0"/>
                        </a:spcBef>
                        <a:spcAft>
                          <a:spcPts val="0"/>
                        </a:spcAft>
                        <a:buNone/>
                      </a:pPr>
                      <a:r>
                        <a:rPr lang="en-US" sz="900">
                          <a:latin typeface="Times New Roman"/>
                          <a:ea typeface="Times New Roman"/>
                          <a:cs typeface="Times New Roman"/>
                          <a:sym typeface="Times New Roman"/>
                        </a:rPr>
                        <a:t>δ = 2, h = 2</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c>
                  <a:txBody>
                    <a:bodyPr/>
                    <a:lstStyle/>
                    <a:p>
                      <a:pPr indent="0" lvl="0" marL="0" rtl="0" algn="l">
                        <a:spcBef>
                          <a:spcPts val="0"/>
                        </a:spcBef>
                        <a:spcAft>
                          <a:spcPts val="0"/>
                        </a:spcAft>
                        <a:buNone/>
                      </a:pPr>
                      <a:r>
                        <a:rPr lang="en-US" sz="900">
                          <a:latin typeface="Times New Roman"/>
                          <a:ea typeface="Times New Roman"/>
                          <a:cs typeface="Times New Roman"/>
                          <a:sym typeface="Times New Roman"/>
                        </a:rPr>
                        <a:t>33%</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c>
                  <a:txBody>
                    <a:bodyPr/>
                    <a:lstStyle/>
                    <a:p>
                      <a:pPr indent="0" lvl="0" marL="0" rtl="0" algn="l">
                        <a:spcBef>
                          <a:spcPts val="0"/>
                        </a:spcBef>
                        <a:spcAft>
                          <a:spcPts val="0"/>
                        </a:spcAft>
                        <a:buNone/>
                      </a:pPr>
                      <a:r>
                        <a:rPr lang="en-US" sz="900">
                          <a:latin typeface="Times New Roman"/>
                          <a:ea typeface="Times New Roman"/>
                          <a:cs typeface="Times New Roman"/>
                          <a:sym typeface="Times New Roman"/>
                        </a:rPr>
                        <a:t>0.02</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c>
                  <a:txBody>
                    <a:bodyPr/>
                    <a:lstStyle/>
                    <a:p>
                      <a:pPr indent="0" lvl="0" marL="0" rtl="0" algn="l">
                        <a:spcBef>
                          <a:spcPts val="0"/>
                        </a:spcBef>
                        <a:spcAft>
                          <a:spcPts val="0"/>
                        </a:spcAft>
                        <a:buNone/>
                      </a:pPr>
                      <a:r>
                        <a:rPr lang="en-US" sz="900">
                          <a:latin typeface="Times New Roman"/>
                          <a:ea typeface="Times New Roman"/>
                          <a:cs typeface="Times New Roman"/>
                          <a:sym typeface="Times New Roman"/>
                        </a:rPr>
                        <a:t>67%</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c>
                  <a:txBody>
                    <a:bodyPr/>
                    <a:lstStyle/>
                    <a:p>
                      <a:pPr indent="0" lvl="0" marL="0" rtl="0" algn="l">
                        <a:spcBef>
                          <a:spcPts val="0"/>
                        </a:spcBef>
                        <a:spcAft>
                          <a:spcPts val="0"/>
                        </a:spcAft>
                        <a:buNone/>
                      </a:pPr>
                      <a:r>
                        <a:rPr lang="en-US" sz="900">
                          <a:latin typeface="Times New Roman"/>
                          <a:ea typeface="Times New Roman"/>
                          <a:cs typeface="Times New Roman"/>
                          <a:sym typeface="Times New Roman"/>
                        </a:rPr>
                        <a:t>0.10</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r>
              <a:tr h="295000">
                <a:tc>
                  <a:txBody>
                    <a:bodyPr/>
                    <a:lstStyle/>
                    <a:p>
                      <a:pPr indent="0" lvl="0" marL="0" rtl="0" algn="l">
                        <a:spcBef>
                          <a:spcPts val="0"/>
                        </a:spcBef>
                        <a:spcAft>
                          <a:spcPts val="0"/>
                        </a:spcAft>
                        <a:buNone/>
                      </a:pPr>
                      <a:r>
                        <a:rPr lang="en-US" sz="900">
                          <a:latin typeface="Times New Roman"/>
                          <a:ea typeface="Times New Roman"/>
                          <a:cs typeface="Times New Roman"/>
                          <a:sym typeface="Times New Roman"/>
                        </a:rPr>
                        <a:t>EWMA</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c>
                  <a:txBody>
                    <a:bodyPr/>
                    <a:lstStyle/>
                    <a:p>
                      <a:pPr indent="0" lvl="0" marL="0" rtl="0" algn="l">
                        <a:spcBef>
                          <a:spcPts val="0"/>
                        </a:spcBef>
                        <a:spcAft>
                          <a:spcPts val="0"/>
                        </a:spcAft>
                        <a:buNone/>
                      </a:pPr>
                      <a:r>
                        <a:rPr lang="en-US" sz="900">
                          <a:latin typeface="Times New Roman"/>
                          <a:ea typeface="Times New Roman"/>
                          <a:cs typeface="Times New Roman"/>
                          <a:sym typeface="Times New Roman"/>
                        </a:rPr>
                        <a:t>α = 0.2, L = 3</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c>
                  <a:txBody>
                    <a:bodyPr/>
                    <a:lstStyle/>
                    <a:p>
                      <a:pPr indent="0" lvl="0" marL="0" rtl="0" algn="l">
                        <a:spcBef>
                          <a:spcPts val="0"/>
                        </a:spcBef>
                        <a:spcAft>
                          <a:spcPts val="0"/>
                        </a:spcAft>
                        <a:buNone/>
                      </a:pPr>
                      <a:r>
                        <a:rPr lang="en-US" sz="900">
                          <a:latin typeface="Times New Roman"/>
                          <a:ea typeface="Times New Roman"/>
                          <a:cs typeface="Times New Roman"/>
                          <a:sym typeface="Times New Roman"/>
                        </a:rPr>
                        <a:t>55%</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c>
                  <a:txBody>
                    <a:bodyPr/>
                    <a:lstStyle/>
                    <a:p>
                      <a:pPr indent="0" lvl="0" marL="0" rtl="0" algn="l">
                        <a:spcBef>
                          <a:spcPts val="0"/>
                        </a:spcBef>
                        <a:spcAft>
                          <a:spcPts val="0"/>
                        </a:spcAft>
                        <a:buNone/>
                      </a:pPr>
                      <a:r>
                        <a:rPr lang="en-US" sz="900">
                          <a:latin typeface="Times New Roman"/>
                          <a:ea typeface="Times New Roman"/>
                          <a:cs typeface="Times New Roman"/>
                          <a:sym typeface="Times New Roman"/>
                        </a:rPr>
                        <a:t>0.67</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c>
                  <a:txBody>
                    <a:bodyPr/>
                    <a:lstStyle/>
                    <a:p>
                      <a:pPr indent="0" lvl="0" marL="0" rtl="0" algn="l">
                        <a:spcBef>
                          <a:spcPts val="0"/>
                        </a:spcBef>
                        <a:spcAft>
                          <a:spcPts val="0"/>
                        </a:spcAft>
                        <a:buNone/>
                      </a:pPr>
                      <a:r>
                        <a:rPr lang="en-US" sz="900">
                          <a:latin typeface="Times New Roman"/>
                          <a:ea typeface="Times New Roman"/>
                          <a:cs typeface="Times New Roman"/>
                          <a:sym typeface="Times New Roman"/>
                        </a:rPr>
                        <a:t>86%</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c>
                  <a:txBody>
                    <a:bodyPr/>
                    <a:lstStyle/>
                    <a:p>
                      <a:pPr indent="0" lvl="0" marL="0" rtl="0" algn="l">
                        <a:spcBef>
                          <a:spcPts val="0"/>
                        </a:spcBef>
                        <a:spcAft>
                          <a:spcPts val="0"/>
                        </a:spcAft>
                        <a:buNone/>
                      </a:pPr>
                      <a:r>
                        <a:rPr lang="en-US" sz="900">
                          <a:latin typeface="Times New Roman"/>
                          <a:ea typeface="Times New Roman"/>
                          <a:cs typeface="Times New Roman"/>
                          <a:sym typeface="Times New Roman"/>
                        </a:rPr>
                        <a:t>3.19</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r>
              <a:tr h="295000">
                <a:tc>
                  <a:txBody>
                    <a:bodyPr/>
                    <a:lstStyle/>
                    <a:p>
                      <a:pPr indent="0" lvl="0" marL="0" rtl="0" algn="l">
                        <a:spcBef>
                          <a:spcPts val="0"/>
                        </a:spcBef>
                        <a:spcAft>
                          <a:spcPts val="0"/>
                        </a:spcAft>
                        <a:buNone/>
                      </a:pPr>
                      <a:r>
                        <a:rPr lang="en-US" sz="900">
                          <a:latin typeface="Times New Roman"/>
                          <a:ea typeface="Times New Roman"/>
                          <a:cs typeface="Times New Roman"/>
                          <a:sym typeface="Times New Roman"/>
                        </a:rPr>
                        <a:t>Poisson tail test</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c>
                  <a:txBody>
                    <a:bodyPr/>
                    <a:lstStyle/>
                    <a:p>
                      <a:pPr indent="0" lvl="0" marL="0" rtl="0" algn="l">
                        <a:spcBef>
                          <a:spcPts val="0"/>
                        </a:spcBef>
                        <a:spcAft>
                          <a:spcPts val="0"/>
                        </a:spcAft>
                        <a:buNone/>
                      </a:pPr>
                      <a:r>
                        <a:rPr lang="en-US" sz="900">
                          <a:latin typeface="Times New Roman"/>
                          <a:ea typeface="Times New Roman"/>
                          <a:cs typeface="Times New Roman"/>
                          <a:sym typeface="Times New Roman"/>
                        </a:rPr>
                        <a:t>c ≥ 2, p &lt; 0.001</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c>
                  <a:txBody>
                    <a:bodyPr/>
                    <a:lstStyle/>
                    <a:p>
                      <a:pPr indent="0" lvl="0" marL="0" rtl="0" algn="l">
                        <a:spcBef>
                          <a:spcPts val="0"/>
                        </a:spcBef>
                        <a:spcAft>
                          <a:spcPts val="0"/>
                        </a:spcAft>
                        <a:buNone/>
                      </a:pPr>
                      <a:r>
                        <a:rPr lang="en-US" sz="900">
                          <a:latin typeface="Times New Roman"/>
                          <a:ea typeface="Times New Roman"/>
                          <a:cs typeface="Times New Roman"/>
                          <a:sym typeface="Times New Roman"/>
                        </a:rPr>
                        <a:t>43%</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c>
                  <a:txBody>
                    <a:bodyPr/>
                    <a:lstStyle/>
                    <a:p>
                      <a:pPr indent="0" lvl="0" marL="0" rtl="0" algn="l">
                        <a:spcBef>
                          <a:spcPts val="0"/>
                        </a:spcBef>
                        <a:spcAft>
                          <a:spcPts val="0"/>
                        </a:spcAft>
                        <a:buNone/>
                      </a:pPr>
                      <a:r>
                        <a:rPr lang="en-US" sz="900">
                          <a:latin typeface="Times New Roman"/>
                          <a:ea typeface="Times New Roman"/>
                          <a:cs typeface="Times New Roman"/>
                          <a:sym typeface="Times New Roman"/>
                        </a:rPr>
                        <a:t>0.27</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c>
                  <a:txBody>
                    <a:bodyPr/>
                    <a:lstStyle/>
                    <a:p>
                      <a:pPr indent="0" lvl="0" marL="0" rtl="0" algn="l">
                        <a:spcBef>
                          <a:spcPts val="0"/>
                        </a:spcBef>
                        <a:spcAft>
                          <a:spcPts val="0"/>
                        </a:spcAft>
                        <a:buNone/>
                      </a:pPr>
                      <a:r>
                        <a:rPr lang="en-US" sz="900">
                          <a:latin typeface="Times New Roman"/>
                          <a:ea typeface="Times New Roman"/>
                          <a:cs typeface="Times New Roman"/>
                          <a:sym typeface="Times New Roman"/>
                        </a:rPr>
                        <a:t>71%</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c>
                  <a:txBody>
                    <a:bodyPr/>
                    <a:lstStyle/>
                    <a:p>
                      <a:pPr indent="0" lvl="0" marL="0" rtl="0" algn="l">
                        <a:spcBef>
                          <a:spcPts val="0"/>
                        </a:spcBef>
                        <a:spcAft>
                          <a:spcPts val="0"/>
                        </a:spcAft>
                        <a:buNone/>
                      </a:pPr>
                      <a:r>
                        <a:rPr lang="en-US" sz="900">
                          <a:latin typeface="Times New Roman"/>
                          <a:ea typeface="Times New Roman"/>
                          <a:cs typeface="Times New Roman"/>
                          <a:sym typeface="Times New Roman"/>
                        </a:rPr>
                        <a:t>1.20</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r>
              <a:tr h="295000">
                <a:tc>
                  <a:txBody>
                    <a:bodyPr/>
                    <a:lstStyle/>
                    <a:p>
                      <a:pPr indent="0" lvl="0" marL="0" rtl="0" algn="l">
                        <a:spcBef>
                          <a:spcPts val="0"/>
                        </a:spcBef>
                        <a:spcAft>
                          <a:spcPts val="0"/>
                        </a:spcAft>
                        <a:buNone/>
                      </a:pPr>
                      <a:r>
                        <a:rPr lang="en-US" sz="900">
                          <a:latin typeface="Times New Roman"/>
                          <a:ea typeface="Times New Roman"/>
                          <a:cs typeface="Times New Roman"/>
                          <a:sym typeface="Times New Roman"/>
                        </a:rPr>
                        <a:t>z-score (feedback tools)</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c>
                  <a:txBody>
                    <a:bodyPr/>
                    <a:lstStyle/>
                    <a:p>
                      <a:pPr indent="0" lvl="0" marL="0" rtl="0" algn="l">
                        <a:spcBef>
                          <a:spcPts val="0"/>
                        </a:spcBef>
                        <a:spcAft>
                          <a:spcPts val="0"/>
                        </a:spcAft>
                        <a:buNone/>
                      </a:pPr>
                      <a:r>
                        <a:rPr lang="en-US" sz="900">
                          <a:latin typeface="Times New Roman"/>
                          <a:ea typeface="Times New Roman"/>
                          <a:cs typeface="Times New Roman"/>
                          <a:sym typeface="Times New Roman"/>
                        </a:rPr>
                        <a:t>z &gt; 2</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c>
                  <a:txBody>
                    <a:bodyPr/>
                    <a:lstStyle/>
                    <a:p>
                      <a:pPr indent="0" lvl="0" marL="0" rtl="0" algn="l">
                        <a:spcBef>
                          <a:spcPts val="0"/>
                        </a:spcBef>
                        <a:spcAft>
                          <a:spcPts val="0"/>
                        </a:spcAft>
                        <a:buNone/>
                      </a:pPr>
                      <a:r>
                        <a:rPr lang="en-US" sz="900">
                          <a:latin typeface="Times New Roman"/>
                          <a:ea typeface="Times New Roman"/>
                          <a:cs typeface="Times New Roman"/>
                          <a:sym typeface="Times New Roman"/>
                        </a:rPr>
                        <a:t>0%</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c>
                  <a:txBody>
                    <a:bodyPr/>
                    <a:lstStyle/>
                    <a:p>
                      <a:pPr indent="0" lvl="0" marL="0" rtl="0" algn="l">
                        <a:spcBef>
                          <a:spcPts val="0"/>
                        </a:spcBef>
                        <a:spcAft>
                          <a:spcPts val="0"/>
                        </a:spcAft>
                        <a:buNone/>
                      </a:pPr>
                      <a:r>
                        <a:rPr lang="en-US" sz="900">
                          <a:latin typeface="Times New Roman"/>
                          <a:ea typeface="Times New Roman"/>
                          <a:cs typeface="Times New Roman"/>
                          <a:sym typeface="Times New Roman"/>
                        </a:rPr>
                        <a:t>–</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c>
                  <a:txBody>
                    <a:bodyPr/>
                    <a:lstStyle/>
                    <a:p>
                      <a:pPr indent="0" lvl="0" marL="0" rtl="0" algn="l">
                        <a:spcBef>
                          <a:spcPts val="0"/>
                        </a:spcBef>
                        <a:spcAft>
                          <a:spcPts val="0"/>
                        </a:spcAft>
                        <a:buNone/>
                      </a:pPr>
                      <a:r>
                        <a:rPr lang="en-US" sz="900">
                          <a:latin typeface="Times New Roman"/>
                          <a:ea typeface="Times New Roman"/>
                          <a:cs typeface="Times New Roman"/>
                          <a:sym typeface="Times New Roman"/>
                        </a:rPr>
                        <a:t>0%</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c>
                  <a:txBody>
                    <a:bodyPr/>
                    <a:lstStyle/>
                    <a:p>
                      <a:pPr indent="0" lvl="0" marL="0" rtl="0" algn="l">
                        <a:spcBef>
                          <a:spcPts val="0"/>
                        </a:spcBef>
                        <a:spcAft>
                          <a:spcPts val="0"/>
                        </a:spcAft>
                        <a:buNone/>
                      </a:pPr>
                      <a:r>
                        <a:rPr lang="en-US" sz="900">
                          <a:latin typeface="Times New Roman"/>
                          <a:ea typeface="Times New Roman"/>
                          <a:cs typeface="Times New Roman"/>
                          <a:sym typeface="Times New Roman"/>
                        </a:rPr>
                        <a:t>–</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r>
            </a:tbl>
          </a:graphicData>
        </a:graphic>
      </p:graphicFrame>
      <p:sp>
        <p:nvSpPr>
          <p:cNvPr id="960" name="Results text 960"/>
          <p:cNvSpPr txBox="1"/>
          <p:nvPr/>
        </p:nvSpPr>
        <p:spPr>
          <a:xfrm>
            <a:off x="497000" y="4280000"/>
            <a:ext cx="8150000" cy="300000"/>
          </a:xfrm>
          <a:prstGeom prst="rect">
            <a:avLst/>
          </a:prstGeom>
          <a:noFill/>
          <a:ln>
            <a:noFill/>
          </a:ln>
        </p:spPr>
        <p:txBody>
          <a:bodyPr anchorCtr="0" anchor="t" bIns="45720" lIns="45720" spcFirstLastPara="1" rIns="45720" wrap="square" tIns="45720">
            <a:noAutofit/>
          </a:bodyPr>
          <a:lstStyle/>
          <a:p>
            <a:pPr indent="0" lvl="0" marL="0" rtl="0" algn="l">
              <a:spcBef>
                <a:spcPts val="0"/>
              </a:spcBef>
              <a:spcAft>
                <a:spcPts val="0"/>
              </a:spcAft>
              <a:buNone/>
            </a:pPr>
            <a:r>
              <a:rPr lang="en-US" sz="1000">
                <a:solidFill>
                  <a:schemeClr val="dk1"/>
                </a:solidFill>
                <a:latin typeface="Times New Roman"/>
                <a:ea typeface="Times New Roman"/>
                <a:cs typeface="Times New Roman"/>
                <a:sym typeface="Times New Roman"/>
              </a:rPr>
              <a:t xml:space="preserve">300 simulated outbreaks per dataset, case level. h = 2 is the knee: lower h buys little detection for many more false alarms. EWMA reaches CUSUM's detection only at about 9× its false alarms on bug reports.</a:t>
            </a:r>
          </a:p>
        </p:txBody>
      </p:sp>
    </p:spTree>
  </p:cSld>
  <p:clrMapOvr>
    <a:masterClrMapping/>
  </p:clrMapOvr>
</p:sld>
</file>

<file path=ppt/slides/slide2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66" name="Shape 66"/>
        <p:cNvGrpSpPr/>
        <p:nvPr/>
      </p:nvGrpSpPr>
      <p:grpSpPr>
        <a:xfrm>
          <a:off x="0" y="0"/>
          <a:ext cx="0" cy="0"/>
          <a:chOff x="0" y="0"/>
          <a:chExt cx="0" cy="0"/>
        </a:xfrm>
      </p:grpSpPr>
      <p:sp>
        <p:nvSpPr>
          <p:cNvPr id="67" name="Google Shape;67;p11"/>
          <p:cNvSpPr txBox="1"/>
          <p:nvPr/>
        </p:nvSpPr>
        <p:spPr>
          <a:xfrm>
            <a:off x="257175" y="4836100"/>
            <a:ext cx="1343100" cy="2769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1200"/>
              <a:buFont typeface="Arial"/>
              <a:buNone/>
            </a:pPr>
            <a:r>
              <a:rPr b="0" i="0" lang="en-US" sz="1200" u="none" cap="none" strike="noStrike">
                <a:solidFill>
                  <a:schemeClr val="lt1"/>
                </a:solidFill>
                <a:latin typeface="Times New Roman"/>
                <a:ea typeface="Times New Roman"/>
                <a:cs typeface="Times New Roman"/>
                <a:sym typeface="Times New Roman"/>
              </a:rPr>
              <a:t>26/6/2023</a:t>
            </a:r>
            <a:endParaRPr b="0" i="0" sz="1200" u="none" cap="none" strike="noStrike">
              <a:solidFill>
                <a:schemeClr val="lt1"/>
              </a:solidFill>
              <a:latin typeface="Times New Roman"/>
              <a:ea typeface="Times New Roman"/>
              <a:cs typeface="Times New Roman"/>
              <a:sym typeface="Times New Roman"/>
            </a:endParaRPr>
          </a:p>
        </p:txBody>
      </p:sp>
      <p:sp>
        <p:nvSpPr>
          <p:cNvPr id="68" name="Google Shape;68;p11"/>
          <p:cNvSpPr/>
          <p:nvPr/>
        </p:nvSpPr>
        <p:spPr>
          <a:xfrm>
            <a:off x="8910006" y="1217600"/>
            <a:ext cx="230400" cy="3941400"/>
          </a:xfrm>
          <a:prstGeom prst="rect">
            <a:avLst/>
          </a:prstGeom>
          <a:solidFill>
            <a:srgbClr val="C00000"/>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2493"/>
              <a:buFont typeface="Arial"/>
              <a:buNone/>
            </a:pPr>
            <a:r>
              <a:t/>
            </a:r>
            <a:endParaRPr b="0" i="0" sz="2495" u="none" cap="none" strike="noStrike">
              <a:solidFill>
                <a:schemeClr val="lt1"/>
              </a:solidFill>
              <a:latin typeface="Arial"/>
              <a:ea typeface="Arial"/>
              <a:cs typeface="Arial"/>
              <a:sym typeface="Arial"/>
            </a:endParaRPr>
          </a:p>
        </p:txBody>
      </p:sp>
      <p:sp>
        <p:nvSpPr>
          <p:cNvPr id="69" name="Google Shape;69;p11"/>
          <p:cNvSpPr/>
          <p:nvPr/>
        </p:nvSpPr>
        <p:spPr>
          <a:xfrm>
            <a:off x="2105025" y="4836100"/>
            <a:ext cx="6807300" cy="322800"/>
          </a:xfrm>
          <a:prstGeom prst="rect">
            <a:avLst/>
          </a:prstGeom>
          <a:solidFill>
            <a:srgbClr val="C00000"/>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2493"/>
              <a:buFont typeface="Arial"/>
              <a:buNone/>
            </a:pPr>
            <a:r>
              <a:t/>
            </a:r>
            <a:endParaRPr b="0" i="0" sz="2495" u="none" cap="none" strike="noStrike">
              <a:solidFill>
                <a:schemeClr val="lt1"/>
              </a:solidFill>
              <a:latin typeface="Arial"/>
              <a:ea typeface="Arial"/>
              <a:cs typeface="Arial"/>
              <a:sym typeface="Arial"/>
            </a:endParaRPr>
          </a:p>
        </p:txBody>
      </p:sp>
      <p:pic>
        <p:nvPicPr>
          <p:cNvPr id="70" name="Google Shape;70;p11"/>
          <p:cNvPicPr preferRelativeResize="0"/>
          <p:nvPr/>
        </p:nvPicPr>
        <p:blipFill rotWithShape="1">
          <a:blip r:embed="rId3">
            <a:alphaModFix/>
          </a:blip>
          <a:srcRect b="0" l="0" r="0" t="0"/>
          <a:stretch/>
        </p:blipFill>
        <p:spPr>
          <a:xfrm>
            <a:off x="0" y="0"/>
            <a:ext cx="9143999" cy="1332186"/>
          </a:xfrm>
          <a:prstGeom prst="rect">
            <a:avLst/>
          </a:prstGeom>
          <a:noFill/>
          <a:ln>
            <a:noFill/>
          </a:ln>
        </p:spPr>
      </p:pic>
      <p:sp>
        <p:nvSpPr>
          <p:cNvPr id="71" name="Google Shape;71;p11"/>
          <p:cNvSpPr txBox="1"/>
          <p:nvPr/>
        </p:nvSpPr>
        <p:spPr>
          <a:xfrm>
            <a:off x="678139" y="1217597"/>
            <a:ext cx="7968000" cy="3504300"/>
          </a:xfrm>
          <a:prstGeom prst="rect">
            <a:avLst/>
          </a:prstGeom>
          <a:noFill/>
          <a:ln>
            <a:noFill/>
          </a:ln>
        </p:spPr>
        <p:txBody>
          <a:bodyPr anchorCtr="0" anchor="t" bIns="91425" lIns="91425" spcFirstLastPara="1" rIns="107625" wrap="square" tIns="91425">
            <a:normAutofit/>
          </a:bodyPr>
          <a:lstStyle/>
          <a:p>
            <a:pPr indent="0" lvl="0" marL="0" marR="0" rtl="0" algn="ctr">
              <a:lnSpc>
                <a:spcPct val="100000"/>
              </a:lnSpc>
              <a:spcBef>
                <a:spcPts val="0"/>
              </a:spcBef>
              <a:spcAft>
                <a:spcPts val="0"/>
              </a:spcAft>
              <a:buClr>
                <a:srgbClr val="000000"/>
              </a:buClr>
              <a:buSzPts val="1800"/>
              <a:buFont typeface="Arial"/>
              <a:buNone/>
            </a:pPr>
            <a:r>
              <a:rPr b="1" lang="en-US">
                <a:latin typeface="Times New Roman"/>
                <a:ea typeface="Times New Roman"/>
                <a:cs typeface="Times New Roman"/>
                <a:sym typeface="Times New Roman"/>
              </a:rPr>
              <a:t>TEST DATASETS &amp; LABEL CREDIBILITY</a:t>
            </a:r>
            <a:endParaRPr b="1">
              <a:latin typeface="Times New Roman"/>
              <a:ea typeface="Times New Roman"/>
              <a:cs typeface="Times New Roman"/>
              <a:sym typeface="Times New Roman"/>
            </a:endParaRPr>
          </a:p>
          <a:p>
            <a:pPr indent="0" lvl="0" marL="0" marR="0" rtl="0" algn="ctr">
              <a:lnSpc>
                <a:spcPct val="100000"/>
              </a:lnSpc>
              <a:spcBef>
                <a:spcPts val="0"/>
              </a:spcBef>
              <a:spcAft>
                <a:spcPts val="0"/>
              </a:spcAft>
              <a:buClr>
                <a:srgbClr val="000000"/>
              </a:buClr>
              <a:buSzPts val="1800"/>
              <a:buFont typeface="Arial"/>
              <a:buNone/>
            </a:pPr>
            <a:r>
              <a:t/>
            </a:r>
            <a:endParaRPr b="1" i="0" sz="1800" u="none" cap="none" strike="noStrike">
              <a:solidFill>
                <a:schemeClr val="dk1"/>
              </a:solidFill>
              <a:latin typeface="Times New Roman"/>
              <a:ea typeface="Times New Roman"/>
              <a:cs typeface="Times New Roman"/>
              <a:sym typeface="Times New Roman"/>
            </a:endParaRPr>
          </a:p>
          <a:p>
            <a:pPr indent="0" lvl="0" marL="0" rtl="0" algn="just">
              <a:spcBef>
                <a:spcPts val="0"/>
              </a:spcBef>
              <a:spcAft>
                <a:spcPts val="0"/>
              </a:spcAft>
              <a:buClr>
                <a:schemeClr val="dk1"/>
              </a:buClr>
              <a:buSzPts val="1100"/>
              <a:buFont typeface="Arial"/>
              <a:buNone/>
            </a:pPr>
            <a:r>
              <a:t/>
            </a:r>
            <a:endParaRPr sz="1600">
              <a:solidFill>
                <a:schemeClr val="dk1"/>
              </a:solidFill>
              <a:latin typeface="Times New Roman"/>
              <a:ea typeface="Times New Roman"/>
              <a:cs typeface="Times New Roman"/>
              <a:sym typeface="Times New Roman"/>
            </a:endParaRPr>
          </a:p>
        </p:txBody>
      </p:sp>
      <p:graphicFrame>
        <p:nvGraphicFramePr>
          <p:cNvPr id="72" name="Google Shape;72;p11"/>
          <p:cNvGraphicFramePr/>
          <p:nvPr/>
        </p:nvGraphicFramePr>
        <p:xfrm>
          <a:off x="497000" y="1580000"/>
          <a:ext cx="8150000" cy="2980000"/>
        </p:xfrm>
        <a:graphic>
          <a:graphicData uri="http://schemas.openxmlformats.org/drawingml/2006/table">
            <a:tbl>
              <a:tblPr>
                <a:noFill/>
                <a:tableStyleId>{ADC876BD-21E3-499D-94FC-3D607E5DCE7B}</a:tableStyleId>
              </a:tblPr>
              <a:tblGrid>
                <a:gridCol w="1800000"/>
                <a:gridCol w="1100000"/>
                <a:gridCol w="1600000"/>
                <a:gridCol w="2150000"/>
                <a:gridCol w="1500000"/>
              </a:tblGrid>
              <a:tr h="280000">
                <a:tc>
                  <a:txBody>
                    <a:bodyPr/>
                    <a:lstStyle/>
                    <a:p>
                      <a:pPr indent="0" lvl="0" marL="0" rtl="0" algn="l">
                        <a:spcBef>
                          <a:spcPts val="0"/>
                        </a:spcBef>
                        <a:spcAft>
                          <a:spcPts val="0"/>
                        </a:spcAft>
                        <a:buNone/>
                      </a:pPr>
                      <a:r>
                        <a:rPr b="1" lang="en-US" sz="980">
                          <a:latin typeface="Times New Roman"/>
                          <a:ea typeface="Times New Roman"/>
                          <a:cs typeface="Times New Roman"/>
                          <a:sym typeface="Times New Roman"/>
                        </a:rPr>
                        <a:t>Dataset</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c>
                  <a:txBody>
                    <a:bodyPr/>
                    <a:lstStyle/>
                    <a:p>
                      <a:pPr indent="0" lvl="0" marL="0" rtl="0" algn="l">
                        <a:spcBef>
                          <a:spcPts val="0"/>
                        </a:spcBef>
                        <a:spcAft>
                          <a:spcPts val="0"/>
                        </a:spcAft>
                        <a:buNone/>
                      </a:pPr>
                      <a:r>
                        <a:rPr b="1" lang="en-US" sz="980">
                          <a:latin typeface="Times New Roman"/>
                          <a:ea typeface="Times New Roman"/>
                          <a:cs typeface="Times New Roman"/>
                          <a:sym typeface="Times New Roman"/>
                        </a:rPr>
                        <a:t>Size</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c>
                  <a:txBody>
                    <a:bodyPr/>
                    <a:lstStyle/>
                    <a:p>
                      <a:pPr indent="0" lvl="0" marL="0" rtl="0" algn="l">
                        <a:spcBef>
                          <a:spcPts val="0"/>
                        </a:spcBef>
                        <a:spcAft>
                          <a:spcPts val="0"/>
                        </a:spcAft>
                        <a:buNone/>
                      </a:pPr>
                      <a:r>
                        <a:rPr b="1" lang="en-US" sz="980">
                          <a:latin typeface="Times New Roman"/>
                          <a:ea typeface="Times New Roman"/>
                          <a:cs typeface="Times New Roman"/>
                          <a:sym typeface="Times New Roman"/>
                        </a:rPr>
                        <a:t>Ground truth</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c>
                  <a:txBody>
                    <a:bodyPr/>
                    <a:lstStyle/>
                    <a:p>
                      <a:pPr indent="0" lvl="0" marL="0" rtl="0" algn="l">
                        <a:spcBef>
                          <a:spcPts val="0"/>
                        </a:spcBef>
                        <a:spcAft>
                          <a:spcPts val="0"/>
                        </a:spcAft>
                        <a:buNone/>
                      </a:pPr>
                      <a:r>
                        <a:rPr b="1" lang="en-US" sz="980">
                          <a:latin typeface="Times New Roman"/>
                          <a:ea typeface="Times New Roman"/>
                          <a:cs typeface="Times New Roman"/>
                          <a:sym typeface="Times New Roman"/>
                        </a:rPr>
                        <a:t>Credibility</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c>
                  <a:txBody>
                    <a:bodyPr/>
                    <a:lstStyle/>
                    <a:p>
                      <a:pPr indent="0" lvl="0" marL="0" rtl="0" algn="l">
                        <a:spcBef>
                          <a:spcPts val="0"/>
                        </a:spcBef>
                        <a:spcAft>
                          <a:spcPts val="0"/>
                        </a:spcAft>
                        <a:buNone/>
                      </a:pPr>
                      <a:r>
                        <a:rPr b="1" lang="en-US" sz="980">
                          <a:latin typeface="Times New Roman"/>
                          <a:ea typeface="Times New Roman"/>
                          <a:cs typeface="Times New Roman"/>
                          <a:sym typeface="Times New Roman"/>
                        </a:rPr>
                        <a:t>Used for</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r>
              <a:tr h="450000">
                <a:tc>
                  <a:txBody>
                    <a:bodyPr/>
                    <a:lstStyle/>
                    <a:p>
                      <a:pPr indent="0" lvl="0" marL="0" rtl="0" algn="l">
                        <a:spcBef>
                          <a:spcPts val="0"/>
                        </a:spcBef>
                        <a:spcAft>
                          <a:spcPts val="0"/>
                        </a:spcAft>
                        <a:buNone/>
                      </a:pPr>
                      <a:r>
                        <a:rPr lang="en-US" sz="880">
                          <a:latin typeface="Times New Roman"/>
                          <a:ea typeface="Times New Roman"/>
                          <a:cs typeface="Times New Roman"/>
                          <a:sym typeface="Times New Roman"/>
                        </a:rPr>
                        <a:t>Play Store reviews (6 help-desk apps)</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c>
                  <a:txBody>
                    <a:bodyPr/>
                    <a:lstStyle/>
                    <a:p>
                      <a:pPr indent="0" lvl="0" marL="0" rtl="0" algn="l">
                        <a:spcBef>
                          <a:spcPts val="0"/>
                        </a:spcBef>
                        <a:spcAft>
                          <a:spcPts val="0"/>
                        </a:spcAft>
                        <a:buNone/>
                      </a:pPr>
                      <a:r>
                        <a:rPr lang="en-US" sz="880">
                          <a:latin typeface="Times New Roman"/>
                          <a:ea typeface="Times New Roman"/>
                          <a:cs typeface="Times New Roman"/>
                          <a:sym typeface="Times New Roman"/>
                        </a:rPr>
                        <a:t>338 labelled of 450</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c>
                  <a:txBody>
                    <a:bodyPr/>
                    <a:lstStyle/>
                    <a:p>
                      <a:pPr indent="0" lvl="0" marL="0" rtl="0" algn="l">
                        <a:spcBef>
                          <a:spcPts val="0"/>
                        </a:spcBef>
                        <a:spcAft>
                          <a:spcPts val="0"/>
                        </a:spcAft>
                        <a:buNone/>
                      </a:pPr>
                      <a:r>
                        <a:rPr lang="en-US" sz="880">
                          <a:latin typeface="Times New Roman"/>
                          <a:ea typeface="Times New Roman"/>
                          <a:cs typeface="Times New Roman"/>
                          <a:sym typeface="Times New Roman"/>
                        </a:rPr>
                        <a:t>3 team annotators, written codebook</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c>
                  <a:txBody>
                    <a:bodyPr/>
                    <a:lstStyle/>
                    <a:p>
                      <a:pPr indent="0" lvl="0" marL="0" rtl="0" algn="l">
                        <a:spcBef>
                          <a:spcPts val="0"/>
                        </a:spcBef>
                        <a:spcAft>
                          <a:spcPts val="0"/>
                        </a:spcAft>
                        <a:buNone/>
                      </a:pPr>
                      <a:r>
                        <a:rPr lang="en-US" sz="880">
                          <a:latin typeface="Times New Roman"/>
                          <a:ea typeface="Times New Roman"/>
                          <a:cs typeface="Times New Roman"/>
                          <a:sym typeface="Times New Roman"/>
                        </a:rPr>
                        <a:t>Fleiss κ = 0.74 across all 3; LLM labellers agree with humans at κ 0.68–0.70</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c>
                  <a:txBody>
                    <a:bodyPr/>
                    <a:lstStyle/>
                    <a:p>
                      <a:pPr indent="0" lvl="0" marL="0" rtl="0" algn="l">
                        <a:spcBef>
                          <a:spcPts val="0"/>
                        </a:spcBef>
                        <a:spcAft>
                          <a:spcPts val="0"/>
                        </a:spcAft>
                        <a:buNone/>
                      </a:pPr>
                      <a:r>
                        <a:rPr lang="en-US" sz="880">
                          <a:latin typeface="Times New Roman"/>
                          <a:ea typeface="Times New Roman"/>
                          <a:cs typeface="Times New Roman"/>
                          <a:sym typeface="Times New Roman"/>
                        </a:rPr>
                        <a:t>Tuning and held-out evaluation</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r>
              <a:tr h="450000">
                <a:tc>
                  <a:txBody>
                    <a:bodyPr/>
                    <a:lstStyle/>
                    <a:p>
                      <a:pPr indent="0" lvl="0" marL="0" rtl="0" algn="l">
                        <a:spcBef>
                          <a:spcPts val="0"/>
                        </a:spcBef>
                        <a:spcAft>
                          <a:spcPts val="0"/>
                        </a:spcAft>
                        <a:buNone/>
                      </a:pPr>
                      <a:r>
                        <a:rPr lang="en-US" sz="880">
                          <a:latin typeface="Times New Roman"/>
                          <a:ea typeface="Times New Roman"/>
                          <a:cs typeface="Times New Roman"/>
                          <a:sym typeface="Times New Roman"/>
                        </a:rPr>
                        <a:t>Firefox and Thunderbird (Bugzilla)</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c>
                  <a:txBody>
                    <a:bodyPr/>
                    <a:lstStyle/>
                    <a:p>
                      <a:pPr indent="0" lvl="0" marL="0" rtl="0" algn="l">
                        <a:spcBef>
                          <a:spcPts val="0"/>
                        </a:spcBef>
                        <a:spcAft>
                          <a:spcPts val="0"/>
                        </a:spcAft>
                        <a:buNone/>
                      </a:pPr>
                      <a:r>
                        <a:rPr lang="en-US" sz="880">
                          <a:latin typeface="Times New Roman"/>
                          <a:ea typeface="Times New Roman"/>
                          <a:cs typeface="Times New Roman"/>
                          <a:sym typeface="Times New Roman"/>
                        </a:rPr>
                        <a:t>437 + 452 reports</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c>
                  <a:txBody>
                    <a:bodyPr/>
                    <a:lstStyle/>
                    <a:p>
                      <a:pPr indent="0" lvl="0" marL="0" rtl="0" algn="l">
                        <a:spcBef>
                          <a:spcPts val="0"/>
                        </a:spcBef>
                        <a:spcAft>
                          <a:spcPts val="0"/>
                        </a:spcAft>
                        <a:buNone/>
                      </a:pPr>
                      <a:r>
                        <a:rPr lang="en-US" sz="880">
                          <a:latin typeface="Times New Roman"/>
                          <a:ea typeface="Times New Roman"/>
                          <a:cs typeface="Times New Roman"/>
                          <a:sym typeface="Times New Roman"/>
                        </a:rPr>
                        <a:t>Mozilla triagers' duplicate links</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c>
                  <a:txBody>
                    <a:bodyPr/>
                    <a:lstStyle/>
                    <a:p>
                      <a:pPr indent="0" lvl="0" marL="0" rtl="0" algn="l">
                        <a:spcBef>
                          <a:spcPts val="0"/>
                        </a:spcBef>
                        <a:spcAft>
                          <a:spcPts val="0"/>
                        </a:spcAft>
                        <a:buNone/>
                      </a:pPr>
                      <a:r>
                        <a:rPr lang="en-US" sz="880">
                          <a:latin typeface="Times New Roman"/>
                          <a:ea typeface="Times New Roman"/>
                          <a:cs typeface="Times New Roman"/>
                          <a:sym typeface="Times New Roman"/>
                        </a:rPr>
                        <a:t>Independent of us; some duplicates unlinked, so precision is conservative</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c>
                  <a:txBody>
                    <a:bodyPr/>
                    <a:lstStyle/>
                    <a:p>
                      <a:pPr indent="0" lvl="0" marL="0" rtl="0" algn="l">
                        <a:spcBef>
                          <a:spcPts val="0"/>
                        </a:spcBef>
                        <a:spcAft>
                          <a:spcPts val="0"/>
                        </a:spcAft>
                        <a:buNone/>
                      </a:pPr>
                      <a:r>
                        <a:rPr lang="en-US" sz="880">
                          <a:latin typeface="Times New Roman"/>
                          <a:ea typeface="Times New Roman"/>
                          <a:cs typeface="Times New Roman"/>
                          <a:sym typeface="Times New Roman"/>
                        </a:rPr>
                        <a:t>Transfer test</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r>
              <a:tr h="450000">
                <a:tc>
                  <a:txBody>
                    <a:bodyPr/>
                    <a:lstStyle/>
                    <a:p>
                      <a:pPr indent="0" lvl="0" marL="0" rtl="0" algn="l">
                        <a:spcBef>
                          <a:spcPts val="0"/>
                        </a:spcBef>
                        <a:spcAft>
                          <a:spcPts val="0"/>
                        </a:spcAft>
                        <a:buNone/>
                      </a:pPr>
                      <a:r>
                        <a:rPr lang="en-US" sz="880">
                          <a:latin typeface="Times New Roman"/>
                          <a:ea typeface="Times New Roman"/>
                          <a:cs typeface="Times New Roman"/>
                          <a:sym typeface="Times New Roman"/>
                        </a:rPr>
                        <a:t>BugHub split: Firefox, Thunderbird, Eclipse</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c>
                  <a:txBody>
                    <a:bodyPr/>
                    <a:lstStyle/>
                    <a:p>
                      <a:pPr indent="0" lvl="0" marL="0" rtl="0" algn="l">
                        <a:spcBef>
                          <a:spcPts val="0"/>
                        </a:spcBef>
                        <a:spcAft>
                          <a:spcPts val="0"/>
                        </a:spcAft>
                        <a:buNone/>
                      </a:pPr>
                      <a:r>
                        <a:rPr lang="en-US" sz="880">
                          <a:latin typeface="Times New Roman"/>
                          <a:ea typeface="Times New Roman"/>
                          <a:cs typeface="Times New Roman"/>
                          <a:sym typeface="Times New Roman"/>
                        </a:rPr>
                        <a:t>233,521 reports</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c>
                  <a:txBody>
                    <a:bodyPr/>
                    <a:lstStyle/>
                    <a:p>
                      <a:pPr indent="0" lvl="0" marL="0" rtl="0" algn="l">
                        <a:spcBef>
                          <a:spcPts val="0"/>
                        </a:spcBef>
                        <a:spcAft>
                          <a:spcPts val="0"/>
                        </a:spcAft>
                        <a:buNone/>
                      </a:pPr>
                      <a:r>
                        <a:rPr lang="en-US" sz="880">
                          <a:latin typeface="Times New Roman"/>
                          <a:ea typeface="Times New Roman"/>
                          <a:cs typeface="Times New Roman"/>
                          <a:sym typeface="Times New Roman"/>
                        </a:rPr>
                        <a:t>Public duplicate links</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c>
                  <a:txBody>
                    <a:bodyPr/>
                    <a:lstStyle/>
                    <a:p>
                      <a:pPr indent="0" lvl="0" marL="0" rtl="0" algn="l">
                        <a:spcBef>
                          <a:spcPts val="0"/>
                        </a:spcBef>
                        <a:spcAft>
                          <a:spcPts val="0"/>
                        </a:spcAft>
                        <a:buNone/>
                      </a:pPr>
                      <a:r>
                        <a:rPr lang="en-US" sz="880">
                          <a:latin typeface="Times New Roman"/>
                          <a:ea typeface="Times New Roman"/>
                          <a:cs typeface="Times New Roman"/>
                          <a:sym typeface="Times New Roman"/>
                        </a:rPr>
                        <a:t>Standard public benchmark</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c>
                  <a:txBody>
                    <a:bodyPr/>
                    <a:lstStyle/>
                    <a:p>
                      <a:pPr indent="0" lvl="0" marL="0" rtl="0" algn="l">
                        <a:spcBef>
                          <a:spcPts val="0"/>
                        </a:spcBef>
                        <a:spcAft>
                          <a:spcPts val="0"/>
                        </a:spcAft>
                        <a:buNone/>
                      </a:pPr>
                      <a:r>
                        <a:rPr lang="en-US" sz="880">
                          <a:latin typeface="Times New Roman"/>
                          <a:ea typeface="Times New Roman"/>
                          <a:cs typeface="Times New Roman"/>
                          <a:sym typeface="Times New Roman"/>
                        </a:rPr>
                        <a:t>Duplicate retrieval (top-5)</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r>
              <a:tr h="450000">
                <a:tc>
                  <a:txBody>
                    <a:bodyPr/>
                    <a:lstStyle/>
                    <a:p>
                      <a:pPr indent="0" lvl="0" marL="0" rtl="0" algn="l">
                        <a:spcBef>
                          <a:spcPts val="0"/>
                        </a:spcBef>
                        <a:spcAft>
                          <a:spcPts val="0"/>
                        </a:spcAft>
                        <a:buNone/>
                      </a:pPr>
                      <a:r>
                        <a:rPr lang="en-US" sz="880">
                          <a:latin typeface="Times New Roman"/>
                          <a:ea typeface="Times New Roman"/>
                          <a:cs typeface="Times New Roman"/>
                          <a:sym typeface="Times New Roman"/>
                        </a:rPr>
                        <a:t>Unseen apps: Intercom, Jira SM, ServiceNow</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c>
                  <a:txBody>
                    <a:bodyPr/>
                    <a:lstStyle/>
                    <a:p>
                      <a:pPr indent="0" lvl="0" marL="0" rtl="0" algn="l">
                        <a:spcBef>
                          <a:spcPts val="0"/>
                        </a:spcBef>
                        <a:spcAft>
                          <a:spcPts val="0"/>
                        </a:spcAft>
                        <a:buNone/>
                      </a:pPr>
                      <a:r>
                        <a:rPr lang="en-US" sz="880">
                          <a:latin typeface="Times New Roman"/>
                          <a:ea typeface="Times New Roman"/>
                          <a:cs typeface="Times New Roman"/>
                          <a:sym typeface="Times New Roman"/>
                        </a:rPr>
                        <a:t>588 reviews</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c>
                  <a:txBody>
                    <a:bodyPr/>
                    <a:lstStyle/>
                    <a:p>
                      <a:pPr indent="0" lvl="0" marL="0" rtl="0" algn="l">
                        <a:spcBef>
                          <a:spcPts val="0"/>
                        </a:spcBef>
                        <a:spcAft>
                          <a:spcPts val="0"/>
                        </a:spcAft>
                        <a:buNone/>
                      </a:pPr>
                      <a:r>
                        <a:rPr lang="en-US" sz="880">
                          <a:latin typeface="Times New Roman"/>
                          <a:ea typeface="Times New Roman"/>
                          <a:cs typeface="Times New Roman"/>
                          <a:sym typeface="Times New Roman"/>
                        </a:rPr>
                        <a:t>Agreed key of 2 LLM labellers</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c>
                  <a:txBody>
                    <a:bodyPr/>
                    <a:lstStyle/>
                    <a:p>
                      <a:pPr indent="0" lvl="0" marL="0" rtl="0" algn="l">
                        <a:spcBef>
                          <a:spcPts val="0"/>
                        </a:spcBef>
                        <a:spcAft>
                          <a:spcPts val="0"/>
                        </a:spcAft>
                        <a:buNone/>
                      </a:pPr>
                      <a:r>
                        <a:rPr lang="en-US" sz="880">
                          <a:latin typeface="Times New Roman"/>
                          <a:ea typeface="Times New Roman"/>
                          <a:cs typeface="Times New Roman"/>
                          <a:sym typeface="Times New Roman"/>
                        </a:rPr>
                        <a:t>κ 0.38 between LLMs; 50-pair human check pending</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c>
                  <a:txBody>
                    <a:bodyPr/>
                    <a:lstStyle/>
                    <a:p>
                      <a:pPr indent="0" lvl="0" marL="0" rtl="0" algn="l">
                        <a:spcBef>
                          <a:spcPts val="0"/>
                        </a:spcBef>
                        <a:spcAft>
                          <a:spcPts val="0"/>
                        </a:spcAft>
                        <a:buNone/>
                      </a:pPr>
                      <a:r>
                        <a:rPr lang="en-US" sz="880">
                          <a:latin typeface="Times New Roman"/>
                          <a:ea typeface="Times New Roman"/>
                          <a:cs typeface="Times New Roman"/>
                          <a:sym typeface="Times New Roman"/>
                        </a:rPr>
                        <a:t>Secondary transfer test</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r>
              <a:tr h="450000">
                <a:tc>
                  <a:txBody>
                    <a:bodyPr/>
                    <a:lstStyle/>
                    <a:p>
                      <a:pPr indent="0" lvl="0" marL="0" rtl="0" algn="l">
                        <a:spcBef>
                          <a:spcPts val="0"/>
                        </a:spcBef>
                        <a:spcAft>
                          <a:spcPts val="0"/>
                        </a:spcAft>
                        <a:buNone/>
                      </a:pPr>
                      <a:r>
                        <a:rPr lang="en-US" sz="880">
                          <a:latin typeface="Times New Roman"/>
                          <a:ea typeface="Times New Roman"/>
                          <a:cs typeface="Times New Roman"/>
                          <a:sym typeface="Times New Roman"/>
                        </a:rPr>
                        <a:t>Endava IT tickets</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c>
                  <a:txBody>
                    <a:bodyPr/>
                    <a:lstStyle/>
                    <a:p>
                      <a:pPr indent="0" lvl="0" marL="0" rtl="0" algn="l">
                        <a:spcBef>
                          <a:spcPts val="0"/>
                        </a:spcBef>
                        <a:spcAft>
                          <a:spcPts val="0"/>
                        </a:spcAft>
                        <a:buNone/>
                      </a:pPr>
                      <a:r>
                        <a:rPr lang="en-US" sz="880">
                          <a:latin typeface="Times New Roman"/>
                          <a:ea typeface="Times New Roman"/>
                          <a:cs typeface="Times New Roman"/>
                          <a:sym typeface="Times New Roman"/>
                        </a:rPr>
                        <a:t>1,000 tickets</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c>
                  <a:txBody>
                    <a:bodyPr/>
                    <a:lstStyle/>
                    <a:p>
                      <a:pPr indent="0" lvl="0" marL="0" rtl="0" algn="l">
                        <a:spcBef>
                          <a:spcPts val="0"/>
                        </a:spcBef>
                        <a:spcAft>
                          <a:spcPts val="0"/>
                        </a:spcAft>
                        <a:buNone/>
                      </a:pPr>
                      <a:r>
                        <a:rPr lang="en-US" sz="880">
                          <a:latin typeface="Times New Roman"/>
                          <a:ea typeface="Times New Roman"/>
                          <a:cs typeface="Times New Roman"/>
                          <a:sym typeface="Times New Roman"/>
                        </a:rPr>
                        <a:t>Ticket categories</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c>
                  <a:txBody>
                    <a:bodyPr/>
                    <a:lstStyle/>
                    <a:p>
                      <a:pPr indent="0" lvl="0" marL="0" rtl="0" algn="l">
                        <a:spcBef>
                          <a:spcPts val="0"/>
                        </a:spcBef>
                        <a:spcAft>
                          <a:spcPts val="0"/>
                        </a:spcAft>
                        <a:buNone/>
                      </a:pPr>
                      <a:r>
                        <a:rPr lang="en-US" sz="880">
                          <a:latin typeface="Times New Roman"/>
                          <a:ea typeface="Times New Roman"/>
                          <a:cs typeface="Times New Roman"/>
                          <a:sym typeface="Times New Roman"/>
                        </a:rPr>
                        <a:t>Case precision 0.90 vs 0.66 (cross-encoder); F1 tied</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c>
                  <a:txBody>
                    <a:bodyPr/>
                    <a:lstStyle/>
                    <a:p>
                      <a:pPr indent="0" lvl="0" marL="0" rtl="0" algn="l">
                        <a:spcBef>
                          <a:spcPts val="0"/>
                        </a:spcBef>
                        <a:spcAft>
                          <a:spcPts val="0"/>
                        </a:spcAft>
                        <a:buNone/>
                      </a:pPr>
                      <a:r>
                        <a:rPr lang="en-US" sz="880">
                          <a:latin typeface="Times New Roman"/>
                          <a:ea typeface="Times New Roman"/>
                          <a:cs typeface="Times New Roman"/>
                          <a:sym typeface="Times New Roman"/>
                        </a:rPr>
                        <a:t>Third domain</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r>
              <a:tr h="450000">
                <a:tc>
                  <a:txBody>
                    <a:bodyPr/>
                    <a:lstStyle/>
                    <a:p>
                      <a:pPr indent="0" lvl="0" marL="0" rtl="0" algn="l">
                        <a:spcBef>
                          <a:spcPts val="0"/>
                        </a:spcBef>
                        <a:spcAft>
                          <a:spcPts val="0"/>
                        </a:spcAft>
                        <a:buNone/>
                      </a:pPr>
                      <a:r>
                        <a:rPr lang="en-US" sz="880">
                          <a:latin typeface="Times New Roman"/>
                          <a:ea typeface="Times New Roman"/>
                          <a:cs typeface="Times New Roman"/>
                          <a:sym typeface="Times New Roman"/>
                        </a:rPr>
                        <a:t>Synthetic complaints</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c>
                  <a:txBody>
                    <a:bodyPr/>
                    <a:lstStyle/>
                    <a:p>
                      <a:pPr indent="0" lvl="0" marL="0" rtl="0" algn="l">
                        <a:spcBef>
                          <a:spcPts val="0"/>
                        </a:spcBef>
                        <a:spcAft>
                          <a:spcPts val="0"/>
                        </a:spcAft>
                        <a:buNone/>
                      </a:pPr>
                      <a:r>
                        <a:rPr lang="en-US" sz="880">
                          <a:latin typeface="Times New Roman"/>
                          <a:ea typeface="Times New Roman"/>
                          <a:cs typeface="Times New Roman"/>
                          <a:sym typeface="Times New Roman"/>
                        </a:rPr>
                        <a:t>488</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c>
                  <a:txBody>
                    <a:bodyPr/>
                    <a:lstStyle/>
                    <a:p>
                      <a:pPr indent="0" lvl="0" marL="0" rtl="0" algn="l">
                        <a:spcBef>
                          <a:spcPts val="0"/>
                        </a:spcBef>
                        <a:spcAft>
                          <a:spcPts val="0"/>
                        </a:spcAft>
                        <a:buNone/>
                      </a:pPr>
                      <a:r>
                        <a:rPr lang="en-US" sz="880">
                          <a:latin typeface="Times New Roman"/>
                          <a:ea typeface="Times New Roman"/>
                          <a:cs typeface="Times New Roman"/>
                          <a:sym typeface="Times New Roman"/>
                        </a:rPr>
                        <a:t>Generator ground truth</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c>
                  <a:txBody>
                    <a:bodyPr/>
                    <a:lstStyle/>
                    <a:p>
                      <a:pPr indent="0" lvl="0" marL="0" rtl="0" algn="l">
                        <a:spcBef>
                          <a:spcPts val="0"/>
                        </a:spcBef>
                        <a:spcAft>
                          <a:spcPts val="0"/>
                        </a:spcAft>
                        <a:buNone/>
                      </a:pPr>
                      <a:r>
                        <a:rPr lang="en-US" sz="880">
                          <a:latin typeface="Times New Roman"/>
                          <a:ea typeface="Times New Roman"/>
                          <a:cs typeface="Times New Roman"/>
                          <a:sym typeface="Times New Roman"/>
                        </a:rPr>
                        <a:t>Sanity check only</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c>
                  <a:txBody>
                    <a:bodyPr/>
                    <a:lstStyle/>
                    <a:p>
                      <a:pPr indent="0" lvl="0" marL="0" rtl="0" algn="l">
                        <a:spcBef>
                          <a:spcPts val="0"/>
                        </a:spcBef>
                        <a:spcAft>
                          <a:spcPts val="0"/>
                        </a:spcAft>
                        <a:buNone/>
                      </a:pPr>
                      <a:r>
                        <a:rPr lang="en-US" sz="880">
                          <a:latin typeface="Times New Roman"/>
                          <a:ea typeface="Times New Roman"/>
                          <a:cs typeface="Times New Roman"/>
                          <a:sym typeface="Times New Roman"/>
                        </a:rPr>
                        <a:t>Never a headline result</a:t>
                      </a:r>
                    </a:p>
                  </a:txBody>
                  <a:tcPr marT="45720" marB="45720" marR="45720" marL="45720">
                    <a:lnL cap="flat" cmpd="sng" w="19050">
                      <a:solidFill>
                        <a:srgbClr val="262626"/>
                      </a:solidFill>
                      <a:prstDash val="solid"/>
                      <a:round/>
                      <a:headEnd len="sm" w="sm" type="none"/>
                      <a:tailEnd len="sm" w="sm" type="none"/>
                    </a:lnL>
                    <a:lnR cap="flat" cmpd="sng" w="19050">
                      <a:solidFill>
                        <a:srgbClr val="262626"/>
                      </a:solidFill>
                      <a:prstDash val="solid"/>
                      <a:round/>
                      <a:headEnd len="sm" w="sm" type="none"/>
                      <a:tailEnd len="sm" w="sm" type="none"/>
                    </a:lnR>
                    <a:lnT cap="flat" cmpd="sng" w="19050">
                      <a:solidFill>
                        <a:srgbClr val="262626"/>
                      </a:solidFill>
                      <a:prstDash val="solid"/>
                      <a:round/>
                      <a:headEnd len="sm" w="sm" type="none"/>
                      <a:tailEnd len="sm" w="sm" type="none"/>
                    </a:lnT>
                    <a:lnB cap="flat" cmpd="sng" w="19050">
                      <a:solidFill>
                        <a:srgbClr val="262626"/>
                      </a:solidFill>
                      <a:prstDash val="solid"/>
                      <a:round/>
                      <a:headEnd len="sm" w="sm" type="none"/>
                      <a:tailEnd len="sm" w="sm" type="none"/>
                    </a:lnB>
                  </a:tcPr>
                </a:tc>
              </a:tr>
            </a:tbl>
          </a:graphicData>
        </a:graphic>
      </p:graphicFrame>
    </p:spTree>
  </p:cSld>
  <p:clrMapOvr>
    <a:masterClrMapping/>
  </p:clrMapOvr>
</p:sld>
</file>

<file path=ppt/slides/slide2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109" name="Shape 109"/>
        <p:cNvGrpSpPr/>
        <p:nvPr/>
      </p:nvGrpSpPr>
      <p:grpSpPr>
        <a:xfrm>
          <a:off x="0" y="0"/>
          <a:ext cx="0" cy="0"/>
          <a:chOff x="0" y="0"/>
          <a:chExt cx="0" cy="0"/>
        </a:xfrm>
      </p:grpSpPr>
      <p:sp>
        <p:nvSpPr>
          <p:cNvPr id="110" name="Google Shape;110;p15"/>
          <p:cNvSpPr txBox="1"/>
          <p:nvPr/>
        </p:nvSpPr>
        <p:spPr>
          <a:xfrm>
            <a:off x="257175" y="4836100"/>
            <a:ext cx="1343100" cy="2769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1200"/>
              <a:buFont typeface="Arial"/>
              <a:buNone/>
            </a:pPr>
            <a:r>
              <a:rPr b="0" i="0" lang="en-US" sz="1200" u="none" cap="none" strike="noStrike">
                <a:solidFill>
                  <a:schemeClr val="lt1"/>
                </a:solidFill>
                <a:latin typeface="Times New Roman"/>
                <a:ea typeface="Times New Roman"/>
                <a:cs typeface="Times New Roman"/>
                <a:sym typeface="Times New Roman"/>
              </a:rPr>
              <a:t>26/6/2023</a:t>
            </a:r>
            <a:endParaRPr b="0" i="0" sz="1200" u="none" cap="none" strike="noStrike">
              <a:solidFill>
                <a:schemeClr val="lt1"/>
              </a:solidFill>
              <a:latin typeface="Times New Roman"/>
              <a:ea typeface="Times New Roman"/>
              <a:cs typeface="Times New Roman"/>
              <a:sym typeface="Times New Roman"/>
            </a:endParaRPr>
          </a:p>
        </p:txBody>
      </p:sp>
      <p:sp>
        <p:nvSpPr>
          <p:cNvPr id="111" name="Google Shape;111;p15"/>
          <p:cNvSpPr/>
          <p:nvPr/>
        </p:nvSpPr>
        <p:spPr>
          <a:xfrm>
            <a:off x="6309074" y="4882011"/>
            <a:ext cx="2118600" cy="108900"/>
          </a:xfrm>
          <a:prstGeom prst="rect">
            <a:avLst/>
          </a:prstGeom>
          <a:solidFill>
            <a:srgbClr val="C00000"/>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2493"/>
              <a:buFont typeface="Arial"/>
              <a:buNone/>
            </a:pPr>
            <a:r>
              <a:t/>
            </a:r>
            <a:endParaRPr b="0" i="0" sz="2495" u="none" cap="none" strike="noStrike">
              <a:solidFill>
                <a:schemeClr val="lt1"/>
              </a:solidFill>
              <a:latin typeface="Arial"/>
              <a:ea typeface="Arial"/>
              <a:cs typeface="Arial"/>
              <a:sym typeface="Arial"/>
            </a:endParaRPr>
          </a:p>
        </p:txBody>
      </p:sp>
      <p:pic>
        <p:nvPicPr>
          <p:cNvPr id="112" name="Google Shape;112;p15"/>
          <p:cNvPicPr preferRelativeResize="0"/>
          <p:nvPr/>
        </p:nvPicPr>
        <p:blipFill rotWithShape="1">
          <a:blip r:embed="rId3">
            <a:alphaModFix/>
          </a:blip>
          <a:srcRect b="0" l="0" r="0" t="0"/>
          <a:stretch/>
        </p:blipFill>
        <p:spPr>
          <a:xfrm>
            <a:off x="0" y="0"/>
            <a:ext cx="9143999" cy="1332186"/>
          </a:xfrm>
          <a:prstGeom prst="rect">
            <a:avLst/>
          </a:prstGeom>
          <a:noFill/>
          <a:ln>
            <a:noFill/>
          </a:ln>
        </p:spPr>
      </p:pic>
      <p:sp>
        <p:nvSpPr>
          <p:cNvPr id="113" name="Google Shape;113;p15"/>
          <p:cNvSpPr txBox="1"/>
          <p:nvPr/>
        </p:nvSpPr>
        <p:spPr>
          <a:xfrm>
            <a:off x="850500" y="1271075"/>
            <a:ext cx="7443000" cy="461700"/>
          </a:xfrm>
          <a:prstGeom prst="rect">
            <a:avLst/>
          </a:prstGeom>
          <a:noFill/>
          <a:ln>
            <a:noFill/>
          </a:ln>
        </p:spPr>
        <p:txBody>
          <a:bodyPr anchorCtr="0" anchor="t" bIns="91425" lIns="91425" spcFirstLastPara="1" rIns="91425" wrap="square" tIns="91425">
            <a:spAutoFit/>
          </a:bodyPr>
          <a:lstStyle/>
          <a:p>
            <a:pPr indent="0" lvl="0" marL="0" marR="0" rtl="0" algn="ctr">
              <a:lnSpc>
                <a:spcPct val="100000"/>
              </a:lnSpc>
              <a:spcBef>
                <a:spcPts val="0"/>
              </a:spcBef>
              <a:spcAft>
                <a:spcPts val="0"/>
              </a:spcAft>
              <a:buClr>
                <a:srgbClr val="000000"/>
              </a:buClr>
              <a:buSzPts val="1600"/>
              <a:buFont typeface="Arial"/>
              <a:buNone/>
            </a:pPr>
            <a:r>
              <a:rPr b="1" lang="en-US" sz="1800">
                <a:latin typeface="Times New Roman"/>
                <a:ea typeface="Times New Roman"/>
                <a:cs typeface="Times New Roman"/>
                <a:sym typeface="Times New Roman"/>
              </a:rPr>
              <a:t>SENTIMENT &amp; TOPIC CLUSTERING</a:t>
            </a:r>
            <a:endParaRPr b="1" i="0" sz="1800" u="none" cap="none" strike="noStrike">
              <a:solidFill>
                <a:srgbClr val="000000"/>
              </a:solidFill>
              <a:latin typeface="Times New Roman"/>
              <a:ea typeface="Times New Roman"/>
              <a:cs typeface="Times New Roman"/>
              <a:sym typeface="Times New Roman"/>
            </a:endParaRPr>
          </a:p>
        </p:txBody>
      </p:sp>
      <p:sp>
        <p:nvSpPr>
          <p:cNvPr id="114" name="Google Shape;114;p15"/>
          <p:cNvSpPr/>
          <p:nvPr/>
        </p:nvSpPr>
        <p:spPr>
          <a:xfrm>
            <a:off x="2105025" y="4836100"/>
            <a:ext cx="6807300" cy="322800"/>
          </a:xfrm>
          <a:prstGeom prst="rect">
            <a:avLst/>
          </a:prstGeom>
          <a:solidFill>
            <a:srgbClr val="C00000"/>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2493"/>
              <a:buFont typeface="Arial"/>
              <a:buNone/>
            </a:pPr>
            <a:r>
              <a:t/>
            </a:r>
            <a:endParaRPr b="0" i="0" sz="2495" u="none" cap="none" strike="noStrike">
              <a:solidFill>
                <a:schemeClr val="lt1"/>
              </a:solidFill>
              <a:latin typeface="Arial"/>
              <a:ea typeface="Arial"/>
              <a:cs typeface="Arial"/>
              <a:sym typeface="Arial"/>
            </a:endParaRPr>
          </a:p>
        </p:txBody>
      </p:sp>
      <p:sp>
        <p:nvSpPr>
          <p:cNvPr id="115" name="Google Shape;115;p15"/>
          <p:cNvSpPr/>
          <p:nvPr/>
        </p:nvSpPr>
        <p:spPr>
          <a:xfrm>
            <a:off x="8910006" y="1217600"/>
            <a:ext cx="230400" cy="3941400"/>
          </a:xfrm>
          <a:prstGeom prst="rect">
            <a:avLst/>
          </a:prstGeom>
          <a:solidFill>
            <a:srgbClr val="C00000"/>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2493"/>
              <a:buFont typeface="Arial"/>
              <a:buNone/>
            </a:pPr>
            <a:r>
              <a:t/>
            </a:r>
            <a:endParaRPr b="0" i="0" sz="2495" u="none" cap="none" strike="noStrike">
              <a:solidFill>
                <a:schemeClr val="lt1"/>
              </a:solidFill>
              <a:latin typeface="Arial"/>
              <a:ea typeface="Arial"/>
              <a:cs typeface="Arial"/>
              <a:sym typeface="Arial"/>
            </a:endParaRPr>
          </a:p>
        </p:txBody>
      </p:sp>
      <p:sp>
        <p:nvSpPr>
          <p:cNvPr id="116" name="Google Shape;116;p15"/>
          <p:cNvSpPr txBox="1"/>
          <p:nvPr/>
        </p:nvSpPr>
        <p:spPr>
          <a:xfrm>
            <a:off x="713875" y="1579150"/>
            <a:ext cx="7408500" cy="2802300"/>
          </a:xfrm>
          <a:prstGeom prst="rect">
            <a:avLst/>
          </a:prstGeom>
          <a:noFill/>
          <a:ln>
            <a:noFill/>
          </a:ln>
        </p:spPr>
        <p:txBody>
          <a:bodyPr anchorCtr="0" anchor="t" bIns="91425" lIns="91425" spcFirstLastPara="1" rIns="91425" wrap="square" tIns="91425">
            <a:noAutofit/>
          </a:bodyPr>
          <a:lstStyle/>
          <a:p>
            <a:pPr indent="-285750" lvl="0" marL="342900" rtl="0" algn="l">
              <a:spcBef>
                <a:spcPts val="0"/>
              </a:spcBef>
              <a:spcAft>
                <a:spcPts val="350"/>
              </a:spcAft>
              <a:buClr>
                <a:schemeClr val="dk1"/>
              </a:buClr>
              <a:buSzPts val="1200"/>
              <a:buFont typeface="Times New Roman"/>
              <a:buChar char="●"/>
            </a:pPr>
            <a:r>
              <a:rPr b="1" lang="en-US" sz="1200">
                <a:solidFill>
                  <a:schemeClr val="dk1"/>
                </a:solidFill>
                <a:latin typeface="Times New Roman"/>
                <a:ea typeface="Times New Roman"/>
                <a:cs typeface="Times New Roman"/>
                <a:sym typeface="Times New Roman"/>
              </a:rPr>
              <a:t xml:space="preserve">Sentiment model:</a:t>
            </a:r>
            <a:r>
              <a:rPr lang="en-US" sz="1200">
                <a:solidFill>
                  <a:schemeClr val="dk1"/>
                </a:solidFill>
                <a:latin typeface="Times New Roman"/>
                <a:ea typeface="Times New Roman"/>
                <a:cs typeface="Times New Roman"/>
                <a:sym typeface="Times New Roman"/>
              </a:rPr>
              <a:t xml:space="preserve"> RoBERTa (cardiffnlp twitter-roberta-base-sentiment-latest), 3 classes (negative, neutral, positive) with a confidence per case.</a:t>
            </a:r>
          </a:p>
          <a:p>
            <a:pPr indent="-285750" lvl="0" marL="342900" rtl="0" algn="l">
              <a:spcBef>
                <a:spcPts val="0"/>
              </a:spcBef>
              <a:spcAft>
                <a:spcPts val="350"/>
              </a:spcAft>
              <a:buClr>
                <a:schemeClr val="dk1"/>
              </a:buClr>
              <a:buSzPts val="1200"/>
              <a:buFont typeface="Times New Roman"/>
              <a:buChar char="●"/>
            </a:pPr>
            <a:r>
              <a:rPr b="1" lang="en-US" sz="1200">
                <a:solidFill>
                  <a:schemeClr val="dk1"/>
                </a:solidFill>
                <a:latin typeface="Times New Roman"/>
                <a:ea typeface="Times New Roman"/>
                <a:cs typeface="Times New Roman"/>
                <a:sym typeface="Times New Roman"/>
              </a:rPr>
              <a:t xml:space="preserve">How it was evaluated:</a:t>
            </a:r>
            <a:r>
              <a:rPr lang="en-US" sz="1200">
                <a:solidFill>
                  <a:schemeClr val="dk1"/>
                </a:solidFill>
                <a:latin typeface="Times New Roman"/>
                <a:ea typeface="Times New Roman"/>
                <a:cs typeface="Times New Roman"/>
                <a:sym typeface="Times New Roman"/>
              </a:rPr>
              <a:t xml:space="preserve"> on real Play Store reviews against star ratings (1–2 negative, 3 neutral, 4–5 positive): accuracy 0.707; negative complaints precision 0.81, recall 0.85.</a:t>
            </a:r>
          </a:p>
          <a:p>
            <a:pPr indent="-285750" lvl="0" marL="342900" rtl="0" algn="l">
              <a:spcBef>
                <a:spcPts val="0"/>
              </a:spcBef>
              <a:spcAft>
                <a:spcPts val="350"/>
              </a:spcAft>
              <a:buClr>
                <a:schemeClr val="dk1"/>
              </a:buClr>
              <a:buSzPts val="1200"/>
              <a:buFont typeface="Times New Roman"/>
              <a:buChar char="●"/>
            </a:pPr>
            <a:r>
              <a:rPr b="1" lang="en-US" sz="1200">
                <a:solidFill>
                  <a:schemeClr val="dk1"/>
                </a:solidFill>
                <a:latin typeface="Times New Roman"/>
                <a:ea typeface="Times New Roman"/>
                <a:cs typeface="Times New Roman"/>
                <a:sym typeface="Times New Roman"/>
              </a:rPr>
              <a:t xml:space="preserve">Why RoBERTa:</a:t>
            </a:r>
            <a:r>
              <a:rPr lang="en-US" sz="1200">
                <a:solidFill>
                  <a:schemeClr val="dk1"/>
                </a:solidFill>
                <a:latin typeface="Times New Roman"/>
                <a:ea typeface="Times New Roman"/>
                <a:cs typeface="Times New Roman"/>
                <a:sym typeface="Times New Roman"/>
              </a:rPr>
              <a:t xml:space="preserve"> DistilBERT reached accuracy 0.713 but is binary and cannot say neutral; RoBERTa is more precise on negatives (0.81 vs 0.77).</a:t>
            </a:r>
          </a:p>
          <a:p>
            <a:pPr indent="-285750" lvl="0" marL="342900" rtl="0" algn="l">
              <a:spcBef>
                <a:spcPts val="0"/>
              </a:spcBef>
              <a:spcAft>
                <a:spcPts val="350"/>
              </a:spcAft>
              <a:buClr>
                <a:schemeClr val="dk1"/>
              </a:buClr>
              <a:buSzPts val="1200"/>
              <a:buFont typeface="Times New Roman"/>
              <a:buChar char="●"/>
            </a:pPr>
            <a:r>
              <a:rPr b="1" lang="en-US" sz="1200">
                <a:solidFill>
                  <a:schemeClr val="dk1"/>
                </a:solidFill>
                <a:latin typeface="Times New Roman"/>
                <a:ea typeface="Times New Roman"/>
                <a:cs typeface="Times New Roman"/>
                <a:sym typeface="Times New Roman"/>
              </a:rPr>
              <a:t xml:space="preserve">Topic clustering:</a:t>
            </a:r>
            <a:r>
              <a:rPr lang="en-US" sz="1200">
                <a:solidFill>
                  <a:schemeClr val="dk1"/>
                </a:solidFill>
                <a:latin typeface="Times New Roman"/>
                <a:ea typeface="Times New Roman"/>
                <a:cs typeface="Times New Roman"/>
                <a:sym typeface="Times New Roman"/>
              </a:rPr>
              <a:t xml:space="preserve"> BERTopic over case texts: UMAP (12 neighbours, 5 dimensions, cosine), then HDBSCAN (minimum cluster size 3, minimum samples 1), keywords from 1–2-word c-TF-IDF.</a:t>
            </a:r>
          </a:p>
          <a:p>
            <a:pPr indent="-285750" lvl="0" marL="342900" rtl="0" algn="l">
              <a:spcBef>
                <a:spcPts val="0"/>
              </a:spcBef>
              <a:spcAft>
                <a:spcPts val="350"/>
              </a:spcAft>
              <a:buClr>
                <a:schemeClr val="dk1"/>
              </a:buClr>
              <a:buSzPts val="1200"/>
              <a:buFont typeface="Times New Roman"/>
              <a:buChar char="●"/>
            </a:pPr>
            <a:r>
              <a:rPr b="1" lang="en-US" sz="1200">
                <a:solidFill>
                  <a:schemeClr val="dk1"/>
                </a:solidFill>
                <a:latin typeface="Times New Roman"/>
                <a:ea typeface="Times New Roman"/>
                <a:cs typeface="Times New Roman"/>
                <a:sym typeface="Times New Roman"/>
              </a:rPr>
              <a:t xml:space="preserve">Result:</a:t>
            </a:r>
            <a:r>
              <a:rPr lang="en-US" sz="1200">
                <a:solidFill>
                  <a:schemeClr val="dk1"/>
                </a:solidFill>
                <a:latin typeface="Times New Roman"/>
                <a:ea typeface="Times New Roman"/>
                <a:cs typeface="Times New Roman"/>
                <a:sym typeface="Times New Roman"/>
              </a:rPr>
              <a:t xml:space="preserve"> 319 staging cases formed 49 topics with 11.9% outliers; each topic's keywords map to a department (Authentication, Engineering, Customer Success) that receives escalations.</a:t>
            </a:r>
          </a:p>
          <a:p>
            <a:pPr indent="-285750" lvl="0" marL="342900" rtl="0" algn="l">
              <a:spcBef>
                <a:spcPts val="0"/>
              </a:spcBef>
              <a:spcAft>
                <a:spcPts val="350"/>
              </a:spcAft>
              <a:buClr>
                <a:schemeClr val="dk1"/>
              </a:buClr>
              <a:buSzPts val="1200"/>
              <a:buFont typeface="Times New Roman"/>
              <a:buChar char="●"/>
            </a:pPr>
            <a:r>
              <a:rPr b="1" lang="en-US" sz="1200">
                <a:solidFill>
                  <a:schemeClr val="dk1"/>
                </a:solidFill>
                <a:latin typeface="Times New Roman"/>
                <a:ea typeface="Times New Roman"/>
                <a:cs typeface="Times New Roman"/>
                <a:sym typeface="Times New Roman"/>
              </a:rPr>
              <a:t xml:space="preserve">Upkeep:</a:t>
            </a:r>
            <a:r>
              <a:rPr lang="en-US" sz="1200">
                <a:solidFill>
                  <a:schemeClr val="dk1"/>
                </a:solidFill>
                <a:latin typeface="Times New Roman"/>
                <a:ea typeface="Times New Roman"/>
                <a:cs typeface="Times New Roman"/>
                <a:sym typeface="Times New Roman"/>
              </a:rPr>
              <a:t xml:space="preserve"> re-clustered automatically every 6 hours when cases grow by 20% or outliers exceed 15%.</a:t>
            </a:r>
          </a:p>
        </p:txBody>
      </p:sp>
    </p:spTree>
  </p:cSld>
  <p:clrMapOvr>
    <a:masterClrMapping/>
  </p:clrMapOvr>
</p:sld>
</file>

<file path=ppt/slides/slide2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7" name="Shape 87"/>
        <p:cNvGrpSpPr/>
        <p:nvPr/>
      </p:nvGrpSpPr>
      <p:grpSpPr>
        <a:xfrm>
          <a:off x="0" y="0"/>
          <a:ext cx="0" cy="0"/>
          <a:chOff x="0" y="0"/>
          <a:chExt cx="0" cy="0"/>
        </a:xfrm>
      </p:grpSpPr>
      <p:sp>
        <p:nvSpPr>
          <p:cNvPr id="88" name="Google Shape;88;p13"/>
          <p:cNvSpPr txBox="1"/>
          <p:nvPr/>
        </p:nvSpPr>
        <p:spPr>
          <a:xfrm>
            <a:off x="257175" y="4836100"/>
            <a:ext cx="1343100" cy="276900"/>
          </a:xfrm>
          <a:prstGeom prst="rect">
            <a:avLst/>
          </a:prstGeom>
          <a:noFill/>
          <a:ln>
            <a:noFill/>
          </a:ln>
        </p:spPr>
        <p:txBody>
          <a:bodyPr anchorCtr="0" anchor="t" bIns="45700" lIns="91425" spcFirstLastPara="1" rIns="91425" wrap="square" tIns="45700">
            <a:spAutoFit/>
          </a:bodyPr>
          <a:lstStyle/>
          <a:p>
            <a:pPr indent="0" lvl="0" marL="0" marR="0" rtl="0" algn="l">
              <a:lnSpc>
                <a:spcPct val="100000"/>
              </a:lnSpc>
              <a:spcBef>
                <a:spcPts val="0"/>
              </a:spcBef>
              <a:spcAft>
                <a:spcPts val="0"/>
              </a:spcAft>
              <a:buClr>
                <a:srgbClr val="000000"/>
              </a:buClr>
              <a:buSzPts val="1200"/>
              <a:buFont typeface="Arial"/>
              <a:buNone/>
            </a:pPr>
            <a:r>
              <a:rPr b="0" i="0" lang="en-US" sz="1200" u="none" cap="none" strike="noStrike">
                <a:solidFill>
                  <a:schemeClr val="lt1"/>
                </a:solidFill>
                <a:latin typeface="Times New Roman"/>
                <a:ea typeface="Times New Roman"/>
                <a:cs typeface="Times New Roman"/>
                <a:sym typeface="Times New Roman"/>
              </a:rPr>
              <a:t>26/6/2023</a:t>
            </a:r>
            <a:endParaRPr b="0" i="0" sz="1200" u="none" cap="none" strike="noStrike">
              <a:solidFill>
                <a:schemeClr val="lt1"/>
              </a:solidFill>
              <a:latin typeface="Times New Roman"/>
              <a:ea typeface="Times New Roman"/>
              <a:cs typeface="Times New Roman"/>
              <a:sym typeface="Times New Roman"/>
            </a:endParaRPr>
          </a:p>
        </p:txBody>
      </p:sp>
      <p:sp>
        <p:nvSpPr>
          <p:cNvPr id="89" name="Google Shape;89;p13"/>
          <p:cNvSpPr/>
          <p:nvPr/>
        </p:nvSpPr>
        <p:spPr>
          <a:xfrm>
            <a:off x="6309074" y="4882011"/>
            <a:ext cx="2118600" cy="108900"/>
          </a:xfrm>
          <a:prstGeom prst="rect">
            <a:avLst/>
          </a:prstGeom>
          <a:solidFill>
            <a:srgbClr val="C00000"/>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2493"/>
              <a:buFont typeface="Arial"/>
              <a:buNone/>
            </a:pPr>
            <a:r>
              <a:t/>
            </a:r>
            <a:endParaRPr b="0" i="0" sz="2495" u="none" cap="none" strike="noStrike">
              <a:solidFill>
                <a:schemeClr val="lt1"/>
              </a:solidFill>
              <a:latin typeface="Arial"/>
              <a:ea typeface="Arial"/>
              <a:cs typeface="Arial"/>
              <a:sym typeface="Arial"/>
            </a:endParaRPr>
          </a:p>
        </p:txBody>
      </p:sp>
      <p:pic>
        <p:nvPicPr>
          <p:cNvPr id="90" name="Google Shape;90;p13"/>
          <p:cNvPicPr preferRelativeResize="0"/>
          <p:nvPr/>
        </p:nvPicPr>
        <p:blipFill rotWithShape="1">
          <a:blip r:embed="rId3">
            <a:alphaModFix/>
          </a:blip>
          <a:srcRect/>
          <a:stretch/>
        </p:blipFill>
        <p:spPr>
          <a:xfrm>
            <a:off x="0" y="0"/>
            <a:ext cx="9143999" cy="1332186"/>
          </a:xfrm>
          <a:prstGeom prst="rect">
            <a:avLst/>
          </a:prstGeom>
          <a:noFill/>
          <a:ln>
            <a:noFill/>
          </a:ln>
        </p:spPr>
      </p:pic>
      <p:sp>
        <p:nvSpPr>
          <p:cNvPr id="91" name="Google Shape;91;p13"/>
          <p:cNvSpPr/>
          <p:nvPr/>
        </p:nvSpPr>
        <p:spPr>
          <a:xfrm>
            <a:off x="2105025" y="4836100"/>
            <a:ext cx="6807300" cy="322800"/>
          </a:xfrm>
          <a:prstGeom prst="rect">
            <a:avLst/>
          </a:prstGeom>
          <a:solidFill>
            <a:srgbClr val="C00000"/>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2493"/>
              <a:buFont typeface="Arial"/>
              <a:buNone/>
            </a:pPr>
            <a:r>
              <a:t/>
            </a:r>
            <a:endParaRPr b="0" i="0" sz="2495" u="none" cap="none" strike="noStrike">
              <a:solidFill>
                <a:schemeClr val="lt1"/>
              </a:solidFill>
              <a:latin typeface="Arial"/>
              <a:ea typeface="Arial"/>
              <a:cs typeface="Arial"/>
              <a:sym typeface="Arial"/>
            </a:endParaRPr>
          </a:p>
        </p:txBody>
      </p:sp>
      <p:sp>
        <p:nvSpPr>
          <p:cNvPr id="92" name="Google Shape;92;p13"/>
          <p:cNvSpPr/>
          <p:nvPr/>
        </p:nvSpPr>
        <p:spPr>
          <a:xfrm>
            <a:off x="8909371" y="1288085"/>
            <a:ext cx="230400" cy="3941400"/>
          </a:xfrm>
          <a:prstGeom prst="rect">
            <a:avLst/>
          </a:prstGeom>
          <a:solidFill>
            <a:srgbClr val="C00000"/>
          </a:solidFill>
          <a:ln>
            <a:noFill/>
          </a:ln>
        </p:spPr>
        <p:txBody>
          <a:bodyPr anchorCtr="0" anchor="ctr"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2493"/>
              <a:buFont typeface="Arial"/>
              <a:buNone/>
            </a:pPr>
            <a:r>
              <a:t/>
            </a:r>
            <a:endParaRPr b="0" i="0" sz="2495" u="none" cap="none" strike="noStrike">
              <a:solidFill>
                <a:schemeClr val="lt1"/>
              </a:solidFill>
              <a:latin typeface="Arial"/>
              <a:ea typeface="Arial"/>
              <a:cs typeface="Arial"/>
              <a:sym typeface="Arial"/>
            </a:endParaRPr>
          </a:p>
        </p:txBody>
      </p:sp>
      <p:sp>
        <p:nvSpPr>
          <p:cNvPr id="93" name="Google Shape;93;p13"/>
          <p:cNvSpPr/>
          <p:nvPr/>
        </p:nvSpPr>
        <p:spPr>
          <a:xfrm>
            <a:off x="1728300" y="1219200"/>
            <a:ext cx="5687400" cy="322800"/>
          </a:xfrm>
          <a:prstGeom prst="rect">
            <a:avLst/>
          </a:prstGeom>
          <a:noFill/>
          <a:ln>
            <a:noFill/>
          </a:ln>
        </p:spPr>
        <p:txBody>
          <a:bodyPr anchorCtr="0" anchor="t" bIns="45700" lIns="91425" spcFirstLastPara="1" rIns="91425" wrap="square" tIns="45700">
            <a:noAutofit/>
          </a:bodyPr>
          <a:lstStyle/>
          <a:p>
            <a:pPr indent="0" lvl="0" marL="0" marR="0" rtl="0" algn="ctr">
              <a:lnSpc>
                <a:spcPct val="100000"/>
              </a:lnSpc>
              <a:spcBef>
                <a:spcPts val="0"/>
              </a:spcBef>
              <a:spcAft>
                <a:spcPts val="0"/>
              </a:spcAft>
              <a:buClr>
                <a:srgbClr val="000000"/>
              </a:buClr>
              <a:buSzPts val="1600"/>
              <a:buFont typeface="Arial"/>
              <a:buNone/>
            </a:pPr>
            <a:r>
              <a:rPr b="1" i="0" lang="en-US" sz="1600" u="none" cap="none" strike="noStrike">
                <a:solidFill>
                  <a:srgbClr val="000000"/>
                </a:solidFill>
                <a:latin typeface="Times New Roman"/>
                <a:ea typeface="Times New Roman"/>
                <a:cs typeface="Times New Roman"/>
                <a:sym typeface="Times New Roman"/>
              </a:rPr>
              <a:t>SYSTEM ARCHITECTURE &amp; METHODOLOGY</a:t>
            </a:r>
            <a:endParaRPr b="1" i="0" sz="1600" u="none" cap="none" strike="noStrike">
              <a:solidFill>
                <a:srgbClr val="000000"/>
              </a:solidFill>
              <a:latin typeface="Times New Roman"/>
              <a:ea typeface="Times New Roman"/>
              <a:cs typeface="Times New Roman"/>
              <a:sym typeface="Times New Roman"/>
            </a:endParaRPr>
          </a:p>
        </p:txBody>
      </p:sp>
      <p:pic>
        <p:nvPicPr>
          <p:cNvPr id="94" name="Google Shape;94;p13" title="InsightDesk_flowchart.png"/>
          <p:cNvPicPr preferRelativeResize="0"/>
          <p:nvPr/>
        </p:nvPicPr>
        <p:blipFill rotWithShape="1">
          <a:blip r:embed="rId4">
            <a:alphaModFix/>
          </a:blip>
          <a:srcRect/>
          <a:stretch/>
        </p:blipFill>
        <p:spPr>
          <a:xfrm>
            <a:off x="1800000" y="1580000"/>
            <a:ext cx="5550000" cy="3245758"/>
          </a:xfrm>
          <a:prstGeom prst="rect">
            <a:avLst/>
          </a:prstGeom>
          <a:noFill/>
          <a:ln>
            <a:noFill/>
          </a:ln>
        </p:spPr>
      </p:pic>
    </p:spTree>
  </p:cSld>
  <p:clrMapOvr>
    <a:masterClrMapping/>
  </p:clrMapOvr>
</p:sld>
</file>

<file path=ppt/theme/theme1.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Simple Light">
  <a:themeElements>
    <a:clrScheme name="Simple Light">
      <a:dk1>
        <a:srgbClr val="000000"/>
      </a:dk1>
      <a:lt1>
        <a:srgbClr val="FFFFFF"/>
      </a:lt1>
      <a:dk2>
        <a:srgbClr val="595959"/>
      </a:dk2>
      <a:lt2>
        <a:srgbClr val="EEEEEE"/>
      </a:lt2>
      <a:accent1>
        <a:srgbClr val="4285F4"/>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