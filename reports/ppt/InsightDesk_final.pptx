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5"/>
  </p:sldMasterIdLst>
  <p:notesMasterIdLst>
    <p:notesMasterId r:id="rId6"/>
  </p:notesMasterIdLst>
  <p:sldIdLst>
    <p:sldId id="256" r:id="rId7"/>
    <p:sldId id="257" r:id="rId8"/>
    <p:sldId id="258" r:id="rId9"/>
    <p:sldId id="259" r:id="rId10"/>
    <p:sldId id="271" r:id="rId22"/>
    <p:sldId id="272" r:id="rId23"/>
    <p:sldId id="260" r:id="rId11"/>
    <p:sldId id="261" r:id="rId12"/>
    <p:sldId id="262" r:id="rId13"/>
    <p:sldId id="263" r:id="rId14"/>
    <p:sldId id="275" r:id="rId26"/>
    <p:sldId id="279" r:id="rId30"/>
    <p:sldId id="278" r:id="rId29"/>
    <p:sldId id="276" r:id="rId27"/>
    <p:sldId id="277" r:id="rId28"/>
    <p:sldId id="264" r:id="rId15"/>
    <p:sldId id="273" r:id="rId24"/>
    <p:sldId id="274" r:id="rId2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70A505-9C83-4DA2-BAA3-34EB322FA7B9}">
  <a:tblStyle styleId="{A570A505-9C83-4DA2-BAA3-34EB322FA7B9}"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ADC876BD-21E3-499D-94FC-3D607E5DCE7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E357F98-E37F-4722-A336-238EF99134D1}"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 name="Google Shape;3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 name="Google Shape;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d1e4f3ba1c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3d1e4f3ba1c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d1e4f3ba1c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g3d1e4f3ba1c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 name="Google Shape;13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1e4f3ba1c_0_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d1e4f3ba1c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1e4f3ba1c_0_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1" name="Google Shape;171;g3d1e4f3ba1c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 name="Shape 13"/>
        <p:cNvGrpSpPr/>
        <p:nvPr/>
      </p:nvGrpSpPr>
      <p:grpSpPr>
        <a:xfrm>
          <a:off x="0" y="0"/>
          <a:ext cx="0" cy="0"/>
          <a:chOff x="0" y="0"/>
          <a:chExt cx="0" cy="0"/>
        </a:xfrm>
      </p:grpSpPr>
      <p:sp>
        <p:nvSpPr>
          <p:cNvPr id="14" name="Google Shape;14;p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5" name="Google Shape;15;p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0" name="Google Shape;20;p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1" name="Google Shape;21;p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3" name="Shape 23"/>
        <p:cNvGrpSpPr/>
        <p:nvPr/>
      </p:nvGrpSpPr>
      <p:grpSpPr>
        <a:xfrm>
          <a:off x="0" y="0"/>
          <a:ext cx="0" cy="0"/>
          <a:chOff x="0" y="0"/>
          <a:chExt cx="0" cy="0"/>
        </a:xfrm>
      </p:grpSpPr>
      <p:sp>
        <p:nvSpPr>
          <p:cNvPr id="24" name="Google Shape;24;p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25" name="Google Shape;25;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6" name="Shape 26"/>
        <p:cNvGrpSpPr/>
        <p:nvPr/>
      </p:nvGrpSpPr>
      <p:grpSpPr>
        <a:xfrm>
          <a:off x="0" y="0"/>
          <a:ext cx="0" cy="0"/>
          <a:chOff x="0" y="0"/>
          <a:chExt cx="0" cy="0"/>
        </a:xfrm>
      </p:grpSpPr>
      <p:sp>
        <p:nvSpPr>
          <p:cNvPr id="27" name="Google Shape;27;p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28" name="Google Shape;28;p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29" name="Google Shape;29;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 name="Shape 30"/>
        <p:cNvGrpSpPr/>
        <p:nvPr/>
      </p:nvGrpSpPr>
      <p:grpSpPr>
        <a:xfrm>
          <a:off x="0" y="0"/>
          <a:ext cx="0" cy="0"/>
          <a:chOff x="0" y="0"/>
          <a:chExt cx="0" cy="0"/>
        </a:xfrm>
      </p:grpSpPr>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flow_final.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res_f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hyperlink" Target="https://www.diva-portal.org/smash/get/diva2:1875371/FULLTEXT01.pdf" TargetMode="External"/><Relationship Id="rId5" Type="http://schemas.openxmlformats.org/officeDocument/2006/relationships/hyperlink" Target="https://www.rapidops.com/blog/ai-dashboar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s://towardsai.net/p/l/topic-modeling-on-customer-reviews-using-bertopic-and-llama2" TargetMode="External"/><Relationship Id="rId5" Type="http://schemas.openxmlformats.org/officeDocument/2006/relationships/hyperlink" Target="https://dl.acm.org/doi/10.1007/s42979-023-01989-6" TargetMode="External"/><Relationship Id="rId6" Type="http://schemas.openxmlformats.org/officeDocument/2006/relationships/hyperlink" Target="https://www.emergentmind.com/topics/sentiment-analysis-of-help-desk-tickets" TargetMode="External"/><Relationship Id="rId7" Type="http://schemas.openxmlformats.org/officeDocument/2006/relationships/hyperlink" Target="https://towardsai.net/p/l/topic-modeling-on-customer-reviews-using-bertopic-and-llam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pr.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spike.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8"/>
          <p:cNvSpPr txBox="1"/>
          <p:nvPr/>
        </p:nvSpPr>
        <p:spPr>
          <a:xfrm>
            <a:off x="61475" y="4375400"/>
            <a:ext cx="8678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Times New Roman"/>
                <a:ea typeface="Times New Roman"/>
                <a:cs typeface="Times New Roman"/>
                <a:sym typeface="Times New Roman"/>
              </a:rPr>
              <a:t>Department of AI-DS, K.J. Somaiya Institute of Technology, Sion, Mumbai 400022</a:t>
            </a:r>
            <a:endParaRPr b="0" i="0" sz="1400" u="none" cap="none" strike="noStrike">
              <a:solidFill>
                <a:srgbClr val="000000"/>
              </a:solidFill>
              <a:latin typeface="Times New Roman"/>
              <a:ea typeface="Times New Roman"/>
              <a:cs typeface="Times New Roman"/>
              <a:sym typeface="Times New Roman"/>
            </a:endParaRPr>
          </a:p>
        </p:txBody>
      </p:sp>
      <p:sp>
        <p:nvSpPr>
          <p:cNvPr id="37" name="Google Shape;37;p8"/>
          <p:cNvSpPr txBox="1"/>
          <p:nvPr/>
        </p:nvSpPr>
        <p:spPr>
          <a:xfrm>
            <a:off x="1037275" y="1245476"/>
            <a:ext cx="7129800" cy="1326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00"/>
              <a:buFont typeface="Arial"/>
              <a:buNone/>
            </a:pPr>
            <a:r>
              <a:t/>
            </a:r>
            <a:endParaRPr b="1" i="0" sz="600" u="none" cap="none" strike="noStrike">
              <a:solidFill>
                <a:srgbClr val="1F386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675"/>
              <a:buFont typeface="Arial"/>
              <a:buNone/>
            </a:pPr>
            <a:r>
              <a:rPr b="1" lang="en-US" sz="1675">
                <a:solidFill>
                  <a:srgbClr val="1F3864"/>
                </a:solidFill>
                <a:latin typeface="Times New Roman"/>
                <a:ea typeface="Times New Roman"/>
                <a:cs typeface="Times New Roman"/>
                <a:sym typeface="Times New Roman"/>
              </a:rPr>
              <a:t>L</a:t>
            </a:r>
            <a:r>
              <a:rPr b="1" i="0" lang="en-US" sz="1675" u="none" cap="none" strike="noStrike">
                <a:solidFill>
                  <a:srgbClr val="1F3864"/>
                </a:solidFill>
                <a:latin typeface="Times New Roman"/>
                <a:ea typeface="Times New Roman"/>
                <a:cs typeface="Times New Roman"/>
                <a:sym typeface="Times New Roman"/>
              </a:rPr>
              <a:t>.Y B Major Project Presentation</a:t>
            </a:r>
            <a:endParaRPr b="1" i="0" sz="1675" u="none" cap="none" strike="noStrike">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675"/>
              <a:buFont typeface="Arial"/>
              <a:buNone/>
            </a:pPr>
            <a:r>
              <a:t/>
            </a:r>
            <a:endParaRPr b="1" sz="1675">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59"/>
              <a:buFont typeface="Arial"/>
              <a:buNone/>
            </a:pPr>
            <a:r>
              <a:rPr b="1" i="0" lang="en-US" sz="1860" u="none" cap="none" strike="noStrike">
                <a:solidFill>
                  <a:srgbClr val="C00000"/>
                </a:solidFill>
                <a:latin typeface="Times New Roman"/>
                <a:ea typeface="Times New Roman"/>
                <a:cs typeface="Times New Roman"/>
                <a:sym typeface="Times New Roman"/>
              </a:rPr>
              <a:t>“</a:t>
            </a:r>
            <a:r>
              <a:rPr b="1" lang="en-US" sz="1860">
                <a:solidFill>
                  <a:srgbClr val="C00000"/>
                </a:solidFill>
                <a:latin typeface="Times New Roman"/>
                <a:ea typeface="Times New Roman"/>
                <a:cs typeface="Times New Roman"/>
                <a:sym typeface="Times New Roman"/>
              </a:rPr>
              <a:t>InsightDesk - Intelligent complaint triage system</a:t>
            </a:r>
            <a:r>
              <a:rPr b="1" i="0" lang="en-US" sz="1860" u="none" cap="none" strike="noStrike">
                <a:solidFill>
                  <a:srgbClr val="C00000"/>
                </a:solidFill>
                <a:latin typeface="Times New Roman"/>
                <a:ea typeface="Times New Roman"/>
                <a:cs typeface="Times New Roman"/>
                <a:sym typeface="Times New Roman"/>
              </a:rPr>
              <a:t>”</a:t>
            </a:r>
            <a:endParaRPr b="0" i="0" sz="1005" u="none" cap="none" strike="noStrike">
              <a:solidFill>
                <a:srgbClr val="000000"/>
              </a:solidFill>
              <a:latin typeface="Arial"/>
              <a:ea typeface="Arial"/>
              <a:cs typeface="Arial"/>
              <a:sym typeface="Arial"/>
            </a:endParaRPr>
          </a:p>
        </p:txBody>
      </p:sp>
      <p:sp>
        <p:nvSpPr>
          <p:cNvPr id="38" name="Google Shape;38;p8"/>
          <p:cNvSpPr txBox="1"/>
          <p:nvPr/>
        </p:nvSpPr>
        <p:spPr>
          <a:xfrm>
            <a:off x="2452225" y="2571750"/>
            <a:ext cx="3978000" cy="1754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Guide:Prof.</a:t>
            </a:r>
            <a:r>
              <a:rPr b="1" lang="en-US" sz="1800">
                <a:solidFill>
                  <a:srgbClr val="262626"/>
                </a:solidFill>
                <a:latin typeface="Times New Roman"/>
                <a:ea typeface="Times New Roman"/>
                <a:cs typeface="Times New Roman"/>
                <a:sym typeface="Times New Roman"/>
              </a:rPr>
              <a:t>Ganesh Wadmare</a:t>
            </a:r>
            <a:endParaRPr b="1" i="0" sz="1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Group No:</a:t>
            </a:r>
            <a:r>
              <a:rPr b="1" lang="en-US" sz="1800">
                <a:solidFill>
                  <a:srgbClr val="262626"/>
                </a:solidFill>
                <a:latin typeface="Times New Roman"/>
                <a:ea typeface="Times New Roman"/>
                <a:cs typeface="Times New Roman"/>
                <a:sym typeface="Times New Roman"/>
              </a:rPr>
              <a:t>10</a:t>
            </a:r>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Team Members – </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Krisha Sinnarkar(Roll No.</a:t>
            </a:r>
            <a:r>
              <a:rPr lang="en-US" sz="1800">
                <a:solidFill>
                  <a:srgbClr val="262626"/>
                </a:solidFill>
                <a:latin typeface="Times New Roman"/>
                <a:ea typeface="Times New Roman"/>
                <a:cs typeface="Times New Roman"/>
                <a:sym typeface="Times New Roman"/>
              </a:rPr>
              <a:t>-61)</a:t>
            </a:r>
            <a:endParaRPr i="0" sz="1800" u="none" cap="none" strike="noStrike">
              <a:solidFill>
                <a:srgbClr val="262626"/>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Sanyogita Shinde</a:t>
            </a:r>
            <a:r>
              <a:rPr lang="en-US" sz="1800">
                <a:solidFill>
                  <a:srgbClr val="262626"/>
                </a:solidFill>
                <a:latin typeface="Times New Roman"/>
                <a:ea typeface="Times New Roman"/>
                <a:cs typeface="Times New Roman"/>
                <a:sym typeface="Times New Roman"/>
              </a:rPr>
              <a:t>(Roll No.-60)</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Krushnam Sadrani</a:t>
            </a:r>
            <a:r>
              <a:rPr lang="en-US" sz="1800">
                <a:solidFill>
                  <a:srgbClr val="262626"/>
                </a:solidFill>
                <a:latin typeface="Times New Roman"/>
                <a:ea typeface="Times New Roman"/>
                <a:cs typeface="Times New Roman"/>
                <a:sym typeface="Times New Roman"/>
              </a:rPr>
              <a:t>(Roll No.- 40)</a:t>
            </a:r>
            <a:endParaRPr i="0" sz="1800" u="none" cap="none" strike="noStrike">
              <a:solidFill>
                <a:srgbClr val="000000"/>
              </a:solidFill>
              <a:latin typeface="Times New Roman"/>
              <a:ea typeface="Times New Roman"/>
              <a:cs typeface="Times New Roman"/>
              <a:sym typeface="Times New Roman"/>
            </a:endParaRPr>
          </a:p>
        </p:txBody>
      </p:sp>
      <p:sp>
        <p:nvSpPr>
          <p:cNvPr id="39" name="Google Shape;39;p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pic>
        <p:nvPicPr>
          <p:cNvPr id="40" name="Google Shape;40;p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41" name="Google Shape;41;p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2" name="Google Shape;42;p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48" name="Google Shape;48;p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9" name="Google Shape;49;p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50" name="Google Shape;50;p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51" name="Google Shape;51;p9"/>
          <p:cNvSpPr txBox="1"/>
          <p:nvPr/>
        </p:nvSpPr>
        <p:spPr>
          <a:xfrm>
            <a:off x="314200" y="1360125"/>
            <a:ext cx="3252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 </a:t>
            </a:r>
            <a:r>
              <a:rPr b="1" i="0" lang="en-US" sz="1400" u="none" cap="none" strike="noStrike">
                <a:solidFill>
                  <a:srgbClr val="000000"/>
                </a:solidFill>
                <a:latin typeface="Times New Roman"/>
                <a:ea typeface="Times New Roman"/>
                <a:cs typeface="Times New Roman"/>
                <a:sym typeface="Times New Roman"/>
              </a:rPr>
              <a:t>TABLE OF CONTENTS</a:t>
            </a:r>
            <a:endParaRPr b="1" i="0" sz="1400" u="none" cap="none" strike="noStrike">
              <a:solidFill>
                <a:srgbClr val="000000"/>
              </a:solidFill>
              <a:latin typeface="Times New Roman"/>
              <a:ea typeface="Times New Roman"/>
              <a:cs typeface="Times New Roman"/>
              <a:sym typeface="Times New Roman"/>
            </a:endParaRPr>
          </a:p>
        </p:txBody>
      </p:sp>
      <p:graphicFrame>
        <p:nvGraphicFramePr>
          <p:cNvPr id="52" name="Google Shape;52;p9"/>
          <p:cNvGraphicFramePr/>
          <p:nvPr/>
        </p:nvGraphicFramePr>
        <p:xfrm>
          <a:off x="436250" y="1819175"/>
          <a:ext cx="3000000" cy="3000000"/>
        </p:xfrm>
        <a:graphic>
          <a:graphicData uri="http://schemas.openxmlformats.org/drawingml/2006/table">
            <a:tbl>
              <a:tblPr bandRow="1">
                <a:noFill/>
                <a:tableStyleId>{A570A505-9C83-4DA2-BAA3-34EB322FA7B9}</a:tableStyleId>
              </a:tblPr>
              <a:tblGrid>
                <a:gridCol w="867400"/>
                <a:gridCol w="3726075"/>
              </a:tblGrid>
              <a:tr h="3650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Sr.No.</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 Content</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1.</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Problem Statement</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2.</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None/>
                      </a:pPr>
                      <a:r>
                        <a:rPr lang="en-US" sz="1200">
                          <a:latin typeface="Times New Roman"/>
                          <a:ea typeface="Times New Roman"/>
                          <a:cs typeface="Times New Roman"/>
                          <a:sym typeface="Times New Roman"/>
                        </a:rPr>
                        <a:t>Literature Survey</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3.</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Objectives</a:t>
                      </a:r>
                      <a:endParaRPr sz="1200">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4.</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a:latin typeface="Times New Roman"/>
                          <a:ea typeface="Times New Roman"/>
                          <a:cs typeface="Times New Roman"/>
                          <a:sym typeface="Times New Roman"/>
                        </a:rPr>
                        <a:t>Flow Diagram</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5.</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Implementation &amp; Formulation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6.</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Datasets &amp; Calibration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7.</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Results</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None/>
                      </a:pPr>
                      <a:r>
                        <a:rPr lang="en-US" sz="1200">
                          <a:solidFill>
                            <a:schemeClr val="dk1"/>
                          </a:solidFill>
                          <a:latin typeface="Times New Roman"/>
                          <a:ea typeface="Times New Roman"/>
                          <a:cs typeface="Times New Roman"/>
                          <a:sym typeface="Times New Roman"/>
                        </a:rPr>
                        <a:t>Applications &amp; Future Scope</a:t>
                      </a:r>
                      <a:endParaRPr sz="1200" u="none" cap="none" strike="noStrike">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9.</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Conclusion &amp; References</a:t>
                      </a:r>
                      <a:endParaRPr sz="1200" u="none" cap="none" strike="noStrike"/>
                    </a:p>
                  </a:txBody>
                  <a:tcPr marT="0" marB="0" marR="68575" marL="6857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58" name="Google Shape;58;p1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59" name="Google Shape;59;p1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60" name="Google Shape;60;p1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61" name="Google Shape;61;p10"/>
          <p:cNvSpPr txBox="1"/>
          <p:nvPr/>
        </p:nvSpPr>
        <p:spPr>
          <a:xfrm>
            <a:off x="587989" y="1217597"/>
            <a:ext cx="7968000" cy="3504300"/>
          </a:xfrm>
          <a:prstGeom prst="rect">
            <a:avLst/>
          </a:prstGeom>
          <a:noFill/>
          <a:ln>
            <a:noFill/>
          </a:ln>
        </p:spPr>
        <p:txBody>
          <a:bodyPr anchorCtr="0" anchor="t" bIns="91425" lIns="91425" spcFirstLastPara="1" rIns="107625" wrap="square" tIns="91425">
            <a:normAutofit fontScale="77500" lnSpcReduction="20000"/>
          </a:bodyPr>
          <a:lstStyle/>
          <a:p>
            <a:pPr indent="0" lvl="0" marL="0" marR="0" rtl="0" algn="ctr">
              <a:lnSpc>
                <a:spcPct val="100000"/>
              </a:lnSpc>
              <a:spcBef>
                <a:spcPts val="0"/>
              </a:spcBef>
              <a:spcAft>
                <a:spcPts val="0"/>
              </a:spcAft>
              <a:buClr>
                <a:srgbClr val="000000"/>
              </a:buClr>
              <a:buSzPct val="100000"/>
              <a:buFont typeface="Arial"/>
              <a:buNone/>
            </a:pPr>
            <a:r>
              <a:rPr b="1" i="0" lang="en-US" sz="1800" u="none" cap="none" strike="noStrike">
                <a:solidFill>
                  <a:schemeClr val="dk1"/>
                </a:solidFill>
                <a:latin typeface="Times New Roman"/>
                <a:ea typeface="Times New Roman"/>
                <a:cs typeface="Times New Roman"/>
                <a:sym typeface="Times New Roman"/>
              </a:rPr>
              <a:t>P</a:t>
            </a:r>
            <a:r>
              <a:rPr b="1" lang="en-US" sz="1800">
                <a:solidFill>
                  <a:schemeClr val="dk1"/>
                </a:solidFill>
                <a:latin typeface="Times New Roman"/>
                <a:ea typeface="Times New Roman"/>
                <a:cs typeface="Times New Roman"/>
                <a:sym typeface="Times New Roman"/>
              </a:rPr>
              <a:t>ROBLEM STATEMENT</a:t>
            </a:r>
            <a:endParaRPr/>
          </a:p>
          <a:p>
            <a:pPr indent="0" lvl="0" marL="0" marR="0" rtl="0" algn="ctr">
              <a:lnSpc>
                <a:spcPct val="100000"/>
              </a:lnSpc>
              <a:spcBef>
                <a:spcPts val="0"/>
              </a:spcBef>
              <a:spcAft>
                <a:spcPts val="0"/>
              </a:spcAft>
              <a:buClr>
                <a:srgbClr val="000000"/>
              </a:buClr>
              <a:buSzPct val="1000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Help-desk and customer-support platforms such as Vision Helpdesk, Zendesk, Freshdesk, Intercom and ServiceNow, and the companies that use them, receive complaints from app reviews, support tickets, chat and web forms. The same problem is reported many times in different words, so agents triage it again and again, and no one sees how many customers a single problem affects.</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Existing tools group complaints by theme (“login”) rather than by problem (“the OTP never arrives”): keyword rules and topic models mix different problems, and a single similarity threshold either merges unrelated complaints or misses paraphrases. Feedback tools flag spikes with z-scores on whole categories, which miss a new problem growing from a low base.</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There is a need for a system that groups raw complaints into problem-level cases as they arrive with high precision, tracks each case’s volume to raise incidents early, adds sentiment, topic and root cause, and routes each incident to the responsible department after a person approves it.</a:t>
            </a:r>
          </a:p>
          <a:p>
            <a:pPr indent="0" lvl="0" marL="0" rtl="0" algn="just">
              <a:spcBef>
                <a:spcPts val="1200"/>
              </a:spcBef>
              <a:spcAft>
                <a:spcPts val="0"/>
              </a:spcAft>
              <a:buClr>
                <a:schemeClr val="dk1"/>
              </a:buClr>
              <a:buSzPct val="68750"/>
              <a:buFont typeface="Arial"/>
              <a:buNone/>
            </a:pPr>
            <a:r>
              <a:t/>
            </a:r>
            <a:endParaRPr sz="1600">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ct val="100000"/>
              <a:buFont typeface="Arial"/>
              <a:buNone/>
            </a:pPr>
            <a:r>
              <a:t/>
            </a:r>
            <a:endParaRPr sz="1600">
              <a:solidFill>
                <a:schemeClr val="dk1"/>
              </a:solidFill>
              <a:latin typeface="Times New Roman"/>
              <a:ea typeface="Times New Roman"/>
              <a:cs typeface="Times New Roman"/>
              <a:sym typeface="Times New Roman"/>
            </a:endParaRPr>
          </a:p>
        </p:txBody>
      </p:sp>
      <p:sp>
        <p:nvSpPr>
          <p:cNvPr id="62" name="Google Shape;62;p10"/>
          <p:cNvSpPr txBox="1"/>
          <p:nvPr/>
        </p:nvSpPr>
        <p:spPr>
          <a:xfrm flipH="1" rot="10800000">
            <a:off x="-4575" y="1332317"/>
            <a:ext cx="2331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(1/3)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“Release Planning of Mobile Apps Based on User Reviews” (CLAP) [1], ICSE 2016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Review features + 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eps 0.6 published; 0.75 tuned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only; groups by shared words (F1 0.24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LLM judge separates look-alike problems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“Towards More Accurate Retrieval of Duplicate Bug Reports” (REP) [2], ASE 2011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BM25F keyword retrieval + metadata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k1 = 1.2, b = 0.75; top-k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Misses paraphrases; top-5 hit 0.43–0.44 vs our 0.46–0.56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Semantic retrieval + LLM verification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“Sentence-BERT: Sentence Embeddings using Siamese BERT-Networks” [3], EMNLP 2019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Bi-encoder cosine similarity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cosine threshold per task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cut cannot be safe and inclusive (F1 ≈ 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Two calibrated cuts: t_low 0.26 / 0.40 and t_high 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“BERTopic: Neural Topic Modeling with a Class-Based TF-IDF Procedure” [4], 2022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Embeddings + UMAP + HDBSCAN topics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Library defaults (minimum topic 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Topics are themes, not problems (precision 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Problem-level cases; topics only for routing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81" name="Google Shape;81;p1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82" name="Google Shape;82;p1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83" name="Google Shape;83;p12"/>
          <p:cNvSpPr txBox="1"/>
          <p:nvPr/>
        </p:nvSpPr>
        <p:spPr>
          <a:xfrm>
            <a:off x="570230" y="1216657"/>
            <a:ext cx="8339400" cy="3476100"/>
          </a:xfrm>
          <a:prstGeom prst="rect">
            <a:avLst/>
          </a:prstGeom>
          <a:solidFill>
            <a:srgbClr val="000000">
              <a:alpha val="0"/>
            </a:srgbClr>
          </a:solidFill>
          <a:ln>
            <a:noFill/>
          </a:ln>
        </p:spPr>
        <p:txBody>
          <a:bodyPr anchorCtr="0" anchor="t" bIns="91400" lIns="91400" spcFirstLastPara="1" rIns="91400" wrap="square" tIns="91400">
            <a:normAutofit/>
          </a:bodyPr>
          <a:lstStyle/>
          <a:p>
            <a:pPr indent="0" lvl="0" marL="0" rtl="0" algn="ctr">
              <a:spcBef>
                <a:spcPts val="0"/>
              </a:spcBef>
              <a:spcAft>
                <a:spcPts val="0"/>
              </a:spcAft>
              <a:buNone/>
            </a:pPr>
            <a:r>
              <a:rPr b="1" i="0" lang="en-US" sz="1800">
                <a:solidFill>
                  <a:srgbClr val="000000"/>
                </a:solidFill>
                <a:latin typeface="Times New Roman"/>
                <a:ea typeface="Times New Roman"/>
                <a:cs typeface="Times New Roman"/>
                <a:sym typeface="Times New Roman"/>
              </a:rPr>
              <a:t>OBJECTIVE</a:t>
            </a:r>
            <a:endParaRPr b="1" i="0" sz="1800">
              <a:solidFill>
                <a:srgbClr val="000000"/>
              </a:solidFill>
              <a:latin typeface="Times New Roman"/>
              <a:ea typeface="Times New Roman"/>
              <a:cs typeface="Times New Roman"/>
              <a:sym typeface="Times New Roman"/>
            </a:endParaRPr>
          </a:p>
          <a:p>
            <a:pPr indent="0" lvl="0" marL="0" rtl="0" algn="ctr">
              <a:spcBef>
                <a:spcPts val="0"/>
              </a:spcBef>
              <a:spcAft>
                <a:spcPts val="0"/>
              </a:spcAft>
              <a:buNone/>
            </a:pPr>
            <a:r>
              <a:rPr b="1" i="0" lang="en-US">
                <a:solidFill>
                  <a:srgbClr val="000000"/>
                </a:solidFill>
                <a:latin typeface="Times New Roman"/>
                <a:ea typeface="Times New Roman"/>
                <a:cs typeface="Times New Roman"/>
                <a:sym typeface="Times New Roman"/>
              </a:rPr>
              <a:t> </a:t>
            </a:r>
            <a:endParaRPr b="1" i="0">
              <a:solidFill>
                <a:srgbClr val="000000"/>
              </a:solidFill>
              <a:latin typeface="Times New Roman"/>
              <a:ea typeface="Times New Roman"/>
              <a:cs typeface="Times New Roman"/>
              <a:sym typeface="Times New Roman"/>
            </a:endParaRPr>
          </a:p>
          <a:p>
            <a:pPr indent="-317500" lvl="0" marL="457200" rtl="0" algn="l">
              <a:spcBef>
                <a:spcPts val="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Group duplicate complaints into problem-level cases as they arrive, using similarity retrieval and an LLM judge for uncertain matches.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Measure customer sentiment using the RoBERTa model.</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Find complaint topics automatically with BERTopic and route each to the responsible department.</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Detect sudden spikes with a Poisson CUSUM and raise an alarm on surges of vague complaints.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Explain the root cause with an LLM, with a human approving every escalation.</a:t>
            </a:r>
            <a:endParaRPr>
              <a:solidFill>
                <a:schemeClr val="dk1"/>
              </a:solidFill>
              <a:latin typeface="Times New Roman"/>
              <a:ea typeface="Times New Roman"/>
              <a:cs typeface="Times New Roman"/>
              <a:sym typeface="Times New Roman"/>
            </a:endParaRPr>
          </a:p>
          <a:p>
            <a:pPr indent="0" lvl="0" marL="457200" rtl="0" algn="l">
              <a:spcBef>
                <a:spcPts val="1600"/>
              </a:spcBef>
              <a:spcAft>
                <a:spcPts val="1600"/>
              </a:spcAft>
              <a:buNone/>
            </a:pPr>
            <a:r>
              <a:t/>
            </a:r>
            <a:endParaRPr sz="16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FLOW CHART </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560000" y="1560000"/>
            <a:ext cx="8020000" cy="356842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00" name="Google Shape;100;p14"/>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01" name="Google Shape;101;p14"/>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02" name="Google Shape;102;p14"/>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(1/2)</a:t>
            </a:r>
            <a:endParaRPr b="1" i="0" sz="1800" u="none" cap="none" strike="noStrike">
              <a:solidFill>
                <a:srgbClr val="000000"/>
              </a:solidFill>
              <a:latin typeface="Times New Roman"/>
              <a:ea typeface="Times New Roman"/>
              <a:cs typeface="Times New Roman"/>
              <a:sym typeface="Times New Roman"/>
            </a:endParaRPr>
          </a:p>
        </p:txBody>
      </p:sp>
      <p:sp>
        <p:nvSpPr>
          <p:cNvPr id="103" name="Google Shape;103;p14"/>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4" name="Google Shape;104;p14"/>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5" name="Google Shape;105;p14"/>
          <p:cNvSpPr txBox="1"/>
          <p:nvPr/>
        </p:nvSpPr>
        <p:spPr>
          <a:xfrm>
            <a:off x="660400" y="1568450"/>
            <a:ext cx="7408545" cy="2802255"/>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600"/>
              </a:spcAft>
              <a:buNone/>
            </a:pPr>
            <a:r>
              <a:rPr b="1" lang="en-US" sz="1250">
                <a:solidFill>
                  <a:schemeClr val="dk1"/>
                </a:solidFill>
                <a:latin typeface="Times New Roman"/>
                <a:ea typeface="Times New Roman"/>
                <a:cs typeface="Times New Roman"/>
                <a:sym typeface="Times New Roman"/>
              </a:rPr>
              <a:t xml:space="preserve">Running example: a customer writes “Can't log in since the update, the OTP never arrives”.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Intake &amp; Cleaning:</a:t>
            </a:r>
            <a:r>
              <a:rPr lang="en-US" sz="1300">
                <a:solidFill>
                  <a:schemeClr val="dk1"/>
                </a:solidFill>
                <a:latin typeface="Times New Roman"/>
                <a:ea typeface="Times New Roman"/>
                <a:cs typeface="Times New Roman"/>
                <a:sym typeface="Times New Roman"/>
              </a:rPr>
              <a:t xml:space="preserve"> the signed-in customer submits through the React app; filler such as “Hi team, please help” is removed, while negations like “can't” are kept.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Embedding &amp; Retrieval:</a:t>
            </a:r>
            <a:r>
              <a:rPr lang="en-US" sz="1300">
                <a:solidFill>
                  <a:schemeClr val="dk1"/>
                </a:solidFill>
                <a:latin typeface="Times New Roman"/>
                <a:ea typeface="Times New Roman"/>
                <a:cs typeface="Times New Roman"/>
                <a:sym typeface="Times New Roman"/>
              </a:rPr>
              <a:t xml:space="preserve"> MiniLM turns the text into a vector; Pinecone returns the 5 most similar cases of the same product, e.g. “OTP not received on login” (similarity 0.71).</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Decision Band:</a:t>
            </a:r>
            <a:r>
              <a:rPr lang="en-US" sz="1300">
                <a:solidFill>
                  <a:schemeClr val="dk1"/>
                </a:solidFill>
                <a:latin typeface="Times New Roman"/>
                <a:ea typeface="Times New Roman"/>
                <a:cs typeface="Times New Roman"/>
                <a:sym typeface="Times New Roman"/>
              </a:rPr>
              <a:t xml:space="preserve"> similarity ≥ 0.8306 joins automatically; below t_low (0.40 for app reviews and chat, 0.26 for tickets) opens a new case; our 0.71 falls in between, so the LLM judge decides.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LLM Judge:</a:t>
            </a:r>
            <a:r>
              <a:rPr lang="en-US" sz="1300">
                <a:solidFill>
                  <a:schemeClr val="dk1"/>
                </a:solidFill>
                <a:latin typeface="Times New Roman"/>
                <a:ea typeface="Times New Roman"/>
                <a:cs typeface="Times New Roman"/>
                <a:sym typeface="Times New Roman"/>
              </a:rPr>
              <a:t xml:space="preserve"> gpt-oss-120b compares the symptom: “OTP never arrives” = same problem, so the complaint joins that case (count +1); “login is slow” would open a new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Same-User Rule:</a:t>
            </a:r>
            <a:r>
              <a:rPr lang="en-US" sz="1300">
                <a:solidFill>
                  <a:schemeClr val="dk1"/>
                </a:solidFill>
                <a:latin typeface="Times New Roman"/>
                <a:ea typeface="Times New Roman"/>
                <a:cs typeface="Times New Roman"/>
                <a:sym typeface="Times New Roman"/>
              </a:rPr>
              <a:t xml:space="preserve"> if the same customer repeats this complaint within 24 hours, it is attached to the case but not counted again.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(2/2)</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Case Re-joining (every 6 h):</a:t>
            </a:r>
            <a:r>
              <a:rPr lang="en-US" sz="1300">
                <a:solidFill>
                  <a:schemeClr val="dk1"/>
                </a:solidFill>
                <a:latin typeface="Times New Roman"/>
                <a:ea typeface="Times New Roman"/>
                <a:cs typeface="Times New Roman"/>
                <a:sym typeface="Times New Roman"/>
              </a:rPr>
              <a:t xml:space="preserve"> the LLM merges cases that report one problem, e.g. “no dark mode” and “needs dark mode” become one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Sentiment &amp; Topics:</a:t>
            </a:r>
            <a:r>
              <a:rPr lang="en-US" sz="1300">
                <a:solidFill>
                  <a:schemeClr val="dk1"/>
                </a:solidFill>
                <a:latin typeface="Times New Roman"/>
                <a:ea typeface="Times New Roman"/>
                <a:cs typeface="Times New Roman"/>
                <a:sym typeface="Times New Roman"/>
              </a:rPr>
              <a:t xml:space="preserve"> RoBERTa labels the case negative; BERTopic places it under an Authentication topic, which carries the responsible department.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Spike Detection:</a:t>
            </a:r>
            <a:r>
              <a:rPr lang="en-US" sz="1300">
                <a:solidFill>
                  <a:schemeClr val="dk1"/>
                </a:solidFill>
                <a:latin typeface="Times New Roman"/>
                <a:ea typeface="Times New Roman"/>
                <a:cs typeface="Times New Roman"/>
                <a:sym typeface="Times New Roman"/>
              </a:rPr>
              <a:t xml:space="preserve"> a Poisson CUSUM watches each case and group of similar cases; 5 OTP complaints in 6 hours against a usual 0.1 raises a spike.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Vague-Complaint Alarm:</a:t>
            </a:r>
            <a:r>
              <a:rPr lang="en-US" sz="1300">
                <a:solidFill>
                  <a:schemeClr val="dk1"/>
                </a:solidFill>
                <a:latin typeface="Times New Roman"/>
                <a:ea typeface="Times New Roman"/>
                <a:cs typeface="Times New Roman"/>
                <a:sym typeface="Times New Roman"/>
              </a:rPr>
              <a:t xml:space="preserve"> a surge of “app not working” complaints that fit no case still raises a product-level alarm.</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Root Cause &amp; Escalation:</a:t>
            </a:r>
            <a:r>
              <a:rPr lang="en-US" sz="1300">
                <a:solidFill>
                  <a:schemeClr val="dk1"/>
                </a:solidFill>
                <a:latin typeface="Times New Roman"/>
                <a:ea typeface="Times New Roman"/>
                <a:cs typeface="Times New Roman"/>
                <a:sym typeface="Times New Roman"/>
              </a:rPr>
              <a:t xml:space="preserve"> with 3+ reports or a spike the case is eligible; the LLM writes a grounded root cause (cause, severity, action, evidence) and an operator approves the email to the department.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GROUPING QUALITY</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216369"/>
          </a:xfrm>
          <a:prstGeom prst="rect">
            <a:avLst/>
          </a:prstGeom>
          <a:noFill/>
          <a:ln>
            <a:noFill/>
          </a:ln>
        </p:spPr>
      </p:pic>
      <p:sp>
        <p:nvSpPr>
          <p:cNvPr id="909" name="Results text 90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Precision 0.83</a:t>
            </a:r>
            <a:r>
              <a:rPr lang="en-US" sz="1200">
                <a:solidFill>
                  <a:schemeClr val="dk1"/>
                </a:solidFill>
                <a:latin typeface="Times New Roman"/>
                <a:ea typeface="Times New Roman"/>
                <a:cs typeface="Times New Roman"/>
                <a:sym typeface="Times New Roman"/>
              </a:rPr>
              <a:t xml:space="preserve"> on human-labelled Play Store reviews (0.80 before the short-text setting).</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F1 0.49</a:t>
            </a:r>
            <a:r>
              <a:rPr lang="en-US" sz="1200">
                <a:solidFill>
                  <a:schemeClr val="dk1"/>
                </a:solidFill>
                <a:latin typeface="Times New Roman"/>
                <a:ea typeface="Times New Roman"/>
                <a:cs typeface="Times New Roman"/>
                <a:sym typeface="Times New Roman"/>
              </a:rPr>
              <a:t xml:space="preserve"> vs at most 0.25 for every competitor on the same data.</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Firefox bug reports:</a:t>
            </a:r>
            <a:r>
              <a:rPr lang="en-US" sz="1200">
                <a:solidFill>
                  <a:schemeClr val="dk1"/>
                </a:solidFill>
                <a:latin typeface="Times New Roman"/>
                <a:ea typeface="Times New Roman"/>
                <a:cs typeface="Times New Roman"/>
                <a:sym typeface="Times New Roman"/>
              </a:rPr>
              <a:t xml:space="preserve"> F1 0.78 with thresholds unchanged.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At precision 0.80 or more:</a:t>
            </a:r>
            <a:r>
              <a:rPr lang="en-US" sz="1200">
                <a:solidFill>
                  <a:schemeClr val="dk1"/>
                </a:solidFill>
                <a:latin typeface="Times New Roman"/>
                <a:ea typeface="Times New Roman"/>
                <a:cs typeface="Times New Roman"/>
                <a:sym typeface="Times New Roman"/>
              </a:rPr>
              <a:t xml:space="preserve"> 35% of duplicates found vs about 1% for BM25, MinHash and SimHash.</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33" name="Google Shape;133;p17"/>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34" name="Google Shape;134;p17"/>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35" name="Google Shape;135;p17"/>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36" name="Google Shape;136;p17"/>
          <p:cNvSpPr txBox="1"/>
          <p:nvPr/>
        </p:nvSpPr>
        <p:spPr>
          <a:xfrm>
            <a:off x="2995049" y="1217600"/>
            <a:ext cx="3024900" cy="45847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APPLICATIONS</a:t>
            </a:r>
            <a:endParaRPr b="1" i="0" sz="1800" u="none" cap="none" strike="noStrike">
              <a:solidFill>
                <a:srgbClr val="000000"/>
              </a:solidFill>
              <a:latin typeface="Times New Roman"/>
              <a:ea typeface="Times New Roman"/>
              <a:cs typeface="Times New Roman"/>
              <a:sym typeface="Times New Roman"/>
            </a:endParaRPr>
          </a:p>
        </p:txBody>
      </p:sp>
      <p:sp>
        <p:nvSpPr>
          <p:cNvPr id="137" name="Google Shape;137;p17"/>
          <p:cNvSpPr txBox="1"/>
          <p:nvPr/>
        </p:nvSpPr>
        <p:spPr>
          <a:xfrm>
            <a:off x="697200" y="1610300"/>
            <a:ext cx="7620600" cy="3156000"/>
          </a:xfrm>
          <a:prstGeom prst="rect">
            <a:avLst/>
          </a:prstGeom>
          <a:noFill/>
          <a:ln>
            <a:noFill/>
          </a:ln>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Customer Support Analytics: </a:t>
            </a:r>
            <a:r>
              <a:rPr lang="en-US" sz="1600">
                <a:solidFill>
                  <a:schemeClr val="dk1"/>
                </a:solidFill>
                <a:latin typeface="Times New Roman"/>
                <a:ea typeface="Times New Roman"/>
                <a:cs typeface="Times New Roman"/>
                <a:sym typeface="Times New Roman"/>
              </a:rPr>
              <a:t>Detect recurring issues automatically</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Mobile App Monitoring:</a:t>
            </a:r>
            <a:r>
              <a:rPr lang="en-US" sz="1600">
                <a:solidFill>
                  <a:schemeClr val="dk1"/>
                </a:solidFill>
                <a:latin typeface="Times New Roman"/>
                <a:ea typeface="Times New Roman"/>
                <a:cs typeface="Times New Roman"/>
                <a:sym typeface="Times New Roman"/>
              </a:rPr>
              <a:t> Find crashes and bugs from reviews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Banking / Finance:</a:t>
            </a:r>
            <a:r>
              <a:rPr lang="en-US" sz="1600">
                <a:solidFill>
                  <a:schemeClr val="dk1"/>
                </a:solidFill>
                <a:latin typeface="Times New Roman"/>
                <a:ea typeface="Times New Roman"/>
                <a:cs typeface="Times New Roman"/>
                <a:sym typeface="Times New Roman"/>
              </a:rPr>
              <a:t> Detect transaction complaints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E-commerce:</a:t>
            </a:r>
            <a:r>
              <a:rPr lang="en-US" sz="1600">
                <a:solidFill>
                  <a:schemeClr val="dk1"/>
                </a:solidFill>
                <a:latin typeface="Times New Roman"/>
                <a:ea typeface="Times New Roman"/>
                <a:cs typeface="Times New Roman"/>
                <a:sym typeface="Times New Roman"/>
              </a:rPr>
              <a:t> Analyze delivery and payment issues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Helpdesk Automation:</a:t>
            </a:r>
            <a:r>
              <a:rPr lang="en-US" sz="1600">
                <a:solidFill>
                  <a:schemeClr val="dk1"/>
                </a:solidFill>
                <a:latin typeface="Times New Roman"/>
                <a:ea typeface="Times New Roman"/>
                <a:cs typeface="Times New Roman"/>
                <a:sym typeface="Times New Roman"/>
              </a:rPr>
              <a:t> Generate diagnostics automatically</a:t>
            </a:r>
            <a:endParaRPr sz="1600">
              <a:solidFill>
                <a:schemeClr val="dk1"/>
              </a:solidFill>
              <a:latin typeface="Times New Roman"/>
              <a:ea typeface="Times New Roman"/>
              <a:cs typeface="Times New Roman"/>
              <a:sym typeface="Times New Roman"/>
            </a:endParaRPr>
          </a:p>
          <a:p>
            <a:pPr indent="0" lvl="0" marL="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AI-Powered Monitoring Systems:</a:t>
            </a:r>
            <a:r>
              <a:rPr lang="en-US" sz="1600">
                <a:solidFill>
                  <a:schemeClr val="dk1"/>
                </a:solidFill>
                <a:latin typeface="Times New Roman"/>
                <a:ea typeface="Times New Roman"/>
                <a:cs typeface="Times New Roman"/>
                <a:sym typeface="Times New Roman"/>
              </a:rPr>
              <a:t> Real-time complaint analysis</a:t>
            </a:r>
            <a:endParaRPr sz="1600">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43" name="Google Shape;143;p1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44" name="Google Shape;144;p1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45" name="Google Shape;145;p1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46" name="Google Shape;146;p18"/>
          <p:cNvSpPr txBox="1"/>
          <p:nvPr/>
        </p:nvSpPr>
        <p:spPr>
          <a:xfrm>
            <a:off x="3059544" y="1217611"/>
            <a:ext cx="30249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FUTURE SCOPE</a:t>
            </a:r>
            <a:endParaRPr/>
          </a:p>
        </p:txBody>
      </p:sp>
      <p:sp>
        <p:nvSpPr>
          <p:cNvPr id="147" name="Google Shape;147;p18"/>
          <p:cNvSpPr txBox="1"/>
          <p:nvPr/>
        </p:nvSpPr>
        <p:spPr>
          <a:xfrm>
            <a:off x="480695" y="1675765"/>
            <a:ext cx="8663305" cy="3482975"/>
          </a:xfrm>
          <a:prstGeom prst="rect">
            <a:avLst/>
          </a:prstGeom>
          <a:noFill/>
          <a:ln>
            <a:noFill/>
          </a:ln>
        </p:spPr>
        <p:txBody>
          <a:bodyPr anchorCtr="0" anchor="t" bIns="91425" lIns="91425" spcFirstLastPara="1" rIns="91425" wrap="square" tIns="91425">
            <a:normAutofit/>
          </a:bodyPr>
          <a:lstStyle/>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Package the app with Docker and deploy it on GCP or Azure (free tier).</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Host the open-weight LLM locally for full data privacy.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Remove personal details from complaints before any LLM call.</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Learn from operator corrections to calibrate each company automatically.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Per-user submission limits, multilingual complaints and automatic Jira tickets.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53" name="Google Shape;153;p1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54" name="Google Shape;154;p1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55" name="Google Shape;155;p1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56" name="Google Shape;156;p19"/>
          <p:cNvSpPr txBox="1"/>
          <p:nvPr/>
        </p:nvSpPr>
        <p:spPr>
          <a:xfrm>
            <a:off x="3056230" y="1497420"/>
            <a:ext cx="3025200" cy="43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CONCLUSION</a:t>
            </a:r>
            <a:endParaRPr b="1" i="0" sz="1800" u="none" cap="none" strike="noStrike">
              <a:solidFill>
                <a:srgbClr val="000000"/>
              </a:solidFill>
              <a:latin typeface="Times New Roman"/>
              <a:ea typeface="Times New Roman"/>
              <a:cs typeface="Times New Roman"/>
              <a:sym typeface="Times New Roman"/>
            </a:endParaRPr>
          </a:p>
        </p:txBody>
      </p:sp>
      <p:sp>
        <p:nvSpPr>
          <p:cNvPr id="157" name="Google Shape;157;p19"/>
          <p:cNvSpPr txBox="1"/>
          <p:nvPr/>
        </p:nvSpPr>
        <p:spPr>
          <a:xfrm>
            <a:off x="686435" y="1960000"/>
            <a:ext cx="7764780" cy="27000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500">
                <a:solidFill>
                  <a:schemeClr val="dk1"/>
                </a:solidFill>
                <a:latin typeface="Times New Roman"/>
                <a:ea typeface="Times New Roman"/>
                <a:cs typeface="Times New Roman"/>
                <a:sym typeface="Times New Roman"/>
              </a:rPr>
              <a:t xml:space="preserve">InsightDesk turns raw customer complaints into problem cases as they arrive. Similarity retrieval narrows each complaint to a few candidate cases, calibrated thresholds settle the clear ones, and an LLM judge decides the rest; a re-joining pass merges split cases. On real reviews it reaches precision 0.83 and recall 0.35, an F1 of 0.49 that is the highest of every method tested; a higher lower threshold for short-text channels improved precision and recall together while cutting LLM calls by about a quarter, and the same upper threshold transfers unchanged to bug reports (F1 0.78). A Poisson CUSUM and a vague-complaint alarm detect incidents that the usual z-score misses, and every escalation is approved by a person before an email reaches the department.</a:t>
            </a:r>
          </a:p>
        </p:txBody>
      </p:sp>
      <p:sp>
        <p:nvSpPr>
          <p:cNvPr id="158" name="Google Shape;158;p19"/>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64" name="Google Shape;164;p2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65" name="Google Shape;165;p2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66" name="Google Shape;166;p2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67" name="Google Shape;167;p20"/>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68" name="Google Shape;168;p20"/>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 L. Villarroel, G. Bavota, B. Russo, R. Oliveto, M. Di Penta, “Release planning of mobile apps based on user reviews,” ICSE, 2016.</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[2] C. Sun, D. Lo, S.-C. Khoo, J. Jiang, “Towards more accurate retrieval of duplicate bug reports,” ASE, 2011.</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[3] N. Reimers, I. Gurevych, “Sentence-BERT: Sentence embeddings using Siamese BERT-networks,” EMNLP, 2019.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[4] M. Grootendorst, “BERTopic: Neural topic modeling with a class-based TF-IDF procedure,” arXiv:2203.05794, 2022.</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[5] T. Zhang, I. C. Irsan, F. Thung, D. Lo, “Cupid: Leveraging ChatGPT for more accurate duplicate bug report detection,” arXiv:2308.10022, 2023.</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[6] R. Peeters, A. Steiner, C. Bizer, “Entity matching using large language models,” EDBT,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[7] “GPTrace: Effective crash deduplication using LLM embeddings,” ICSE, 2026 (arXiv:2512.01609).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[8] M. Hong et al., “Dial-In LLM: Human-aligned LLM-in-the-loop intent clustering for customer service dialogues,” EMNLP, 2025.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74" name="Google Shape;174;p2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75" name="Google Shape;175;p2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76" name="Google Shape;176;p2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77" name="Google Shape;177;p21"/>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78" name="Google Shape;178;p21"/>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[9] P. Pattnayak et al., “LLM-guided lifecycle-aware clustering of multi-turn customer support conversations,” AACL,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[10] F. Liu et al., “TickIt: Leveraging large language models for automated ticket escalation,” FSE,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[11] “Incident-aware duplicate ticket aggregation for cloud systems (iPACK),” ICSE, 2023 (arXiv:2302.09520).</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[12] SentiSum, “What is anomaly detection?,” product documentation, help.sentisum.com,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[13] G. S. Manku, A. Jain, A. Das Sarma, “Detecting near-duplicates for web crawling,” WWW, 2007.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[14] A. Z. Broder, “On the resemblance and containment of documents,” Compression and Complexity of Sequences, 1997.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[15] E. S. Page, “Continuous inspection schemes,” Biometrika, vol. 41, 1954 (CUSUM).</a:t>
            </a:r>
          </a:p>
        </p:txBody>
      </p:sp>
      <p:sp>
        <p:nvSpPr>
          <p:cNvPr id="179" name="Google Shape;179;p21"/>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rPr lang="en-US" sz="1200">
                <a:solidFill>
                  <a:schemeClr val="dk1"/>
                </a:solidFill>
                <a:latin typeface="Times New Roman"/>
                <a:ea typeface="Times New Roman"/>
                <a:cs typeface="Times New Roman"/>
                <a:sym typeface="Times New Roman"/>
              </a:rP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2"/>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85" name="Google Shape;185;p2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86" name="Google Shape;186;p2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87" name="Google Shape;187;p2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88" name="Google Shape;188;p22"/>
          <p:cNvSpPr txBox="1"/>
          <p:nvPr/>
        </p:nvSpPr>
        <p:spPr>
          <a:xfrm>
            <a:off x="2353425" y="2070900"/>
            <a:ext cx="4480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4800"/>
              <a:buFont typeface="Arial"/>
              <a:buNone/>
            </a:pPr>
            <a:r>
              <a:rPr b="0" i="0" lang="en-US" sz="4800" u="none" cap="none" strike="noStrike">
                <a:solidFill>
                  <a:srgbClr val="FF0000"/>
                </a:solidFill>
                <a:latin typeface="Arial"/>
                <a:ea typeface="Arial"/>
                <a:cs typeface="Arial"/>
                <a:sym typeface="Arial"/>
              </a:rPr>
              <a:t>THANK YOU !</a:t>
            </a:r>
            <a:endParaRPr b="0" i="0" sz="4800" u="none" cap="none" strike="noStrike">
              <a:solidFill>
                <a:srgbClr val="FF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(2/3)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“Cupid: Leveraging ChatGPT for More Accurate Duplicate Bug Report Detection” [5], 2023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ChatGPT extracts essentials, then REP retrieval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on 40–60% of reports; Recall-Rate@10 0.60–0.65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Ranking only; no cases, spikes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with spike alerts and RCA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“Entity Matching using Large Language Models” [6], EDBT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Zero-shot GPT-4 pair judge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Prompt only; F1 89.6–98.4 on record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Judges every pair: cost grows with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 only in the calibrated band, at most 5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“GPTrace: Effective Crash Deduplication Using LLM Embeddings” [7], ICSE 2026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embeddings + HDBSCAN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Density clustering over 300K crash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stack traces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grouping of free-text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“Dial-In LLM: Human-Aligned LLM-in-the-loop Intent Clustering for Customer Service Dialogues” [8], EMNLP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LLM-in-the-loop intent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100k calls, 1,507 clusters; &gt;95% agreement with humans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Intents, not problems; batch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 cases decided as complaints arrive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(3/3)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60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“LLM-Guided Lifecycle-Aware Clustering of Multi-Turn Customer Support Conversations” [9], AACL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Incremental clustering; LLM splits degraded clusters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Silhouette / Davies-Bouldin quality triggers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No spike detection, RCA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Full pipeline: spikes, RCA, approval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“TickIt: Leveraging Large Language Models for Automated Ticket Escalation” [10], FSE 2025 (ByteDance)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escalation with category fine-tuning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Predefined 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Fixed category set; no spike detection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Open-ended cases + CUSUM + vague alarm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“Incident-aware Duplicate Ticket Aggregation for Cloud Systems” (iPACK) [11], ICSE 2023 (Microsoft)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Links tickets to cloud incident alerts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Requires monitoring alerts; F1 0.87–0.94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Depends on telemetry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Works from complaint text alone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SentiSum anomaly detection [12], commercial,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Anomaly detection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&gt; 2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Fails at 0–2 complaints per window (0%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 h = 2 (76–91%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50" name="Results text 950"/>
          <p:cNvSpPr txBox="1"/>
          <p:nvPr/>
        </p:nvSpPr>
        <p:spPr>
          <a:xfrm>
            <a:off x="497000" y="4170000"/>
            <a:ext cx="8150000" cy="6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b="1" lang="en-US" sz="1000">
                <a:solidFill>
                  <a:schemeClr val="dk1"/>
                </a:solidFill>
                <a:latin typeface="Times New Roman"/>
                <a:ea typeface="Times New Roman"/>
                <a:cs typeface="Times New Roman"/>
                <a:sym typeface="Times New Roman"/>
              </a:rPr>
              <a:t xml:space="preserve">Research finding: several systems group duplicate reports (CLAP, TickIt, iPACK, Dial-In LLM), but none we found in academic papers, industry blogs, products or patents combines online problem-level case merging of raw complaint text with per-case spike detection, root-cause explanation and human-approved escalation.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PRECISION VS RECALL</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152678"/>
          </a:xfrm>
          <a:prstGeom prst="rect">
            <a:avLst/>
          </a:prstGeom>
          <a:noFill/>
          <a:ln>
            <a:noFill/>
          </a:ln>
        </p:spPr>
      </p:pic>
      <p:sp>
        <p:nvSpPr>
          <p:cNvPr id="918" name="Results text 918"/>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Only InsightDesk</a:t>
            </a:r>
            <a:r>
              <a:rPr lang="en-US" sz="1200">
                <a:solidFill>
                  <a:schemeClr val="dk1"/>
                </a:solidFill>
                <a:latin typeface="Times New Roman"/>
                <a:ea typeface="Times New Roman"/>
                <a:cs typeface="Times New Roman"/>
                <a:sym typeface="Times New Roman"/>
              </a:rPr>
              <a:t xml:space="preserve"> keeps precision high while finding useful recall.</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models</a:t>
            </a:r>
            <a:r>
              <a:rPr lang="en-US" sz="1200">
                <a:solidFill>
                  <a:schemeClr val="dk1"/>
                </a:solidFill>
                <a:latin typeface="Times New Roman"/>
                <a:ea typeface="Times New Roman"/>
                <a:cs typeface="Times New Roman"/>
                <a:sym typeface="Times New Roman"/>
              </a:rPr>
              <a:t xml:space="preserve"> group themes, not problems (BERTopic precision 0.16).</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Generalises:</a:t>
            </a:r>
            <a:r>
              <a:rPr lang="en-US" sz="1200">
                <a:solidFill>
                  <a:schemeClr val="dk1"/>
                </a:solidFill>
                <a:latin typeface="Times New Roman"/>
                <a:ea typeface="Times New Roman"/>
                <a:cs typeface="Times New Roman"/>
                <a:sym typeface="Times New Roman"/>
              </a:rPr>
              <a:t xml:space="preserve"> unseen apps case precision 0.92, unseen company 0.89.</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Duplicate retrieval (top-5):</a:t>
            </a:r>
            <a:r>
              <a:rPr lang="en-US" sz="1200">
                <a:solidFill>
                  <a:schemeClr val="dk1"/>
                </a:solidFill>
                <a:latin typeface="Times New Roman"/>
                <a:ea typeface="Times New Roman"/>
                <a:cs typeface="Times New Roman"/>
                <a:sym typeface="Times New Roman"/>
              </a:rPr>
              <a:t xml:space="preserve"> 0.46–0.56 vs REP 0.43–0.44 on 233K bug reports.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INCIDENT DETECTION</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2372470"/>
          </a:xfrm>
          <a:prstGeom prst="rect">
            <a:avLst/>
          </a:prstGeom>
          <a:noFill/>
          <a:ln>
            <a:noFill/>
          </a:ln>
        </p:spPr>
      </p:pic>
      <p:sp>
        <p:nvSpPr>
          <p:cNvPr id="919" name="Results text 91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CUSUM:</a:t>
            </a:r>
            <a:r>
              <a:rPr lang="en-US" sz="1200">
                <a:solidFill>
                  <a:schemeClr val="dk1"/>
                </a:solidFill>
                <a:latin typeface="Times New Roman"/>
                <a:ea typeface="Times New Roman"/>
                <a:cs typeface="Times New Roman"/>
                <a:sym typeface="Times New Roman"/>
              </a:rPr>
              <a:t xml:space="preserve"> 76–91% of outbreaks detected on bug-report streams, under 1 false alarm per 100 windows.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z-score</a:t>
            </a:r>
            <a:r>
              <a:rPr lang="en-US" sz="1200">
                <a:solidFill>
                  <a:schemeClr val="dk1"/>
                </a:solidFill>
                <a:latin typeface="Times New Roman"/>
                <a:ea typeface="Times New Roman"/>
                <a:cs typeface="Times New Roman"/>
                <a:sym typeface="Times New Roman"/>
              </a:rPr>
              <a:t xml:space="preserve"> (used by feedback tools): 0% detected.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100% of vague-only outages with 10+ complaints.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End to end:</a:t>
            </a:r>
            <a:r>
              <a:rPr lang="en-US" sz="1200">
                <a:solidFill>
                  <a:schemeClr val="dk1"/>
                </a:solidFill>
                <a:latin typeface="Times New Roman"/>
                <a:ea typeface="Times New Roman"/>
                <a:cs typeface="Times New Roman"/>
                <a:sym typeface="Times New Roman"/>
              </a:rPr>
              <a:t xml:space="preserve"> 94% of incidents escalation-eligible within 12 h, 0 false alarms.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MATHEMATICAL FORMULATION</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Retrieval:</a:t>
            </a:r>
            <a:r>
              <a:rPr lang="en-US" sz="1200">
                <a:solidFill>
                  <a:schemeClr val="dk1"/>
                </a:solidFill>
                <a:latin typeface="Times New Roman"/>
                <a:ea typeface="Times New Roman"/>
                <a:cs typeface="Times New Roman"/>
                <a:sym typeface="Times New Roman"/>
              </a:rPr>
              <a:t xml:space="preserve"> e(x) = MiniLM(x) ∈ ℝ³⁸⁴ with ‖e‖ = 1;  S(x, C) = max over exemplars m ∈ E_C of e(x)·e(m);  keep the top 5 cases of the same product.</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Decision band:</a:t>
            </a:r>
            <a:r>
              <a:rPr lang="en-US" sz="1200">
                <a:solidFill>
                  <a:schemeClr val="dk1"/>
                </a:solidFill>
                <a:latin typeface="Times New Roman"/>
                <a:ea typeface="Times New Roman"/>
                <a:cs typeface="Times New Roman"/>
                <a:sym typeface="Times New Roman"/>
              </a:rPr>
              <a:t xml:space="preserve"> join automatically if S* ≥ t_high; open a new case if S* &lt; t_low; otherwise the LLM judge decides.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Upper threshold:</a:t>
            </a:r>
            <a:r>
              <a:rPr lang="en-US" sz="1200">
                <a:solidFill>
                  <a:schemeClr val="dk1"/>
                </a:solidFill>
                <a:latin typeface="Times New Roman"/>
                <a:ea typeface="Times New Roman"/>
                <a:cs typeface="Times New Roman"/>
                <a:sym typeface="Times New Roman"/>
              </a:rPr>
              <a:t xml:space="preserve"> t_high = min{ t : Prec(t) ≥ 0.97 }, Prec(t) = share of true duplicates among tuning pairs with similarity ≥ t  →  0.8306.</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Lower threshold:</a:t>
            </a:r>
            <a:r>
              <a:rPr lang="en-US" sz="1200">
                <a:solidFill>
                  <a:schemeClr val="dk1"/>
                </a:solidFill>
                <a:latin typeface="Times New Roman"/>
                <a:ea typeface="Times New Roman"/>
                <a:cs typeface="Times New Roman"/>
                <a:sym typeface="Times New Roman"/>
              </a:rPr>
              <a:t xml:space="preserve"> t_low = 20th percentile of similarities of true duplicate pairs  →  0.26 for tickets and bug reports; 0.40 for short texts (app reviews, chat), confirmed on unseen apps.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Spike CUSUM:</a:t>
            </a:r>
            <a:r>
              <a:rPr lang="en-US" sz="1200">
                <a:solidFill>
                  <a:schemeClr val="dk1"/>
                </a:solidFill>
                <a:latin typeface="Times New Roman"/>
                <a:ea typeface="Times New Roman"/>
                <a:cs typeface="Times New Roman"/>
                <a:sym typeface="Times New Roman"/>
              </a:rPr>
              <a:t xml:space="preserve"> λ = (Σ last 28 windows + 0.5) / (n + 7);  k = 1 / ln((λ + 1)/λ);  S = max(0, S + c − k);  alert when S ≥ 2.</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alert when v ≥ 2 and P(X ≥ v) &lt; 0.001 with X ~ Poisson(λ).</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THRESHOLD CALIBRATION &amp; SENSITIVITY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00000" cy="2800000"/>
        </p:xfrm>
        <a:graphic>
          <a:graphicData uri="http://schemas.openxmlformats.org/drawingml/2006/table">
            <a:tbl>
              <a:tblPr>
                <a:noFill/>
                <a:tableStyleId>{ADC876BD-21E3-499D-94FC-3D607E5DCE7B}</a:tableStyleId>
              </a:tblPr>
              <a:tblGrid>
                <a:gridCol w="2450000"/>
                <a:gridCol w="1300000"/>
                <a:gridCol w="1350000"/>
                <a:gridCol w="850000"/>
                <a:gridCol w="750000"/>
                <a:gridCol w="650000"/>
                <a:gridCol w="75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t_low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t_high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Precision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Recall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F1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LLM share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Short-text setting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0.883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0.284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66%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Long-text setting (tickets, bug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0.392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t_high lowered by 0.08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 0.75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0.413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Unseen apps: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0.608 → 0.635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0.284 → 0.255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94% → 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Bug reports: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0.908 → 0.912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0.578 → 0.571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96% → 90%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440000"/>
            <a:ext cx="8100000" cy="4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Play Store held-out halves pooled, live judge calls. t_high = 0.8306 (lowest similarity at which tuning pairs are ≥ 97% true duplicates) is used for every channel; t_low is 0.40 for app reviews and chat and 0.26 for tickets and bug reports, where raising it changed little. Before re-joining (see results).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SPIKE DETECTOR CALIBRATION</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20000"/>
        </p:xfrm>
        <a:graphic>
          <a:graphicData uri="http://schemas.openxmlformats.org/drawingml/2006/table">
            <a:tbl>
              <a:tblPr>
                <a:noFill/>
                <a:tableStyleId>{ADC876BD-21E3-499D-94FC-3D607E5DCE7B}</a:tableStyleId>
              </a:tblPr>
              <a:tblGrid>
                <a:gridCol w="2000000"/>
                <a:gridCol w="1450000"/>
                <a:gridCol w="1150000"/>
                <a:gridCol w="1150000"/>
                <a:gridCol w="1200000"/>
                <a:gridCol w="12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Detector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Poisson CUSUM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δ = 1,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42%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76%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0.38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1.5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0.5,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2,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EWMA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α = 0.2, L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tail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 ≥ 2, p &lt; 0.001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1.20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(feedback tools)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 &gt;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280000"/>
            <a:ext cx="8150000" cy="30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300 simulated outbreaks per dataset, case level. h = 2 is the knee: lower h buys little detection for many more false alarms. EWMA reaches CUSUM's detection only at about 9× its false alarms on bug reports.</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TEST DATASETS &amp; LABEL CREDIBILITY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80000"/>
        </p:xfrm>
        <a:graphic>
          <a:graphicData uri="http://schemas.openxmlformats.org/drawingml/2006/table">
            <a:tbl>
              <a:tblPr>
                <a:noFill/>
                <a:tableStyleId>{ADC876BD-21E3-499D-94FC-3D607E5DCE7B}</a:tableStyleId>
              </a:tblPr>
              <a:tblGrid>
                <a:gridCol w="1800000"/>
                <a:gridCol w="1100000"/>
                <a:gridCol w="1600000"/>
                <a:gridCol w="2150000"/>
                <a:gridCol w="1500000"/>
              </a:tblGrid>
              <a:tr h="280000">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Dataset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Credibility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Used for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Play Store reviews (6 help-desk apps)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338 labelled of 450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 team annotators, written codebook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Fleiss κ = 0.74 across all 3; LLM labellers agree with humans at κ 0.68–0.70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Tuning and held-out evaluation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Firefox and Thunderbird (Bugzilla)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437 + 452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Mozilla triagers'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Independent of us; some duplicates unlinked, so precision is conservative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BugHub split: Firefox, Thunderbird, Eclipse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233,521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Public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Standard public benchmark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Duplicate retrieval (top-5)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Unseen apps: Intercom, Jira SM, ServiceNow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588 reviews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Agreed key of 2 LLM labellers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κ 0.38 between LLMs; 50-pair human check pending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Secondary 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Endava IT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1,000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Case precision 0.90 vs 0.66 (cross-encoder); F1 tied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Third domain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Synthetic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Generator 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Sanity check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Never a headline result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SENTIMENT &amp; TOPIC CLUSTERING</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Sentiment model:</a:t>
            </a:r>
            <a:r>
              <a:rPr lang="en-US" sz="1200">
                <a:solidFill>
                  <a:schemeClr val="dk1"/>
                </a:solidFill>
                <a:latin typeface="Times New Roman"/>
                <a:ea typeface="Times New Roman"/>
                <a:cs typeface="Times New Roman"/>
                <a:sym typeface="Times New Roman"/>
              </a:rPr>
              <a:t xml:space="preserve"> RoBERTa (cardiffnlp twitter-roberta-base-sentiment-latest), 3 classes (negative, neutral, positive) with a confidence per case.</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How it was evaluated:</a:t>
            </a:r>
            <a:r>
              <a:rPr lang="en-US" sz="1200">
                <a:solidFill>
                  <a:schemeClr val="dk1"/>
                </a:solidFill>
                <a:latin typeface="Times New Roman"/>
                <a:ea typeface="Times New Roman"/>
                <a:cs typeface="Times New Roman"/>
                <a:sym typeface="Times New Roman"/>
              </a:rPr>
              <a:t xml:space="preserve"> on real Play Store reviews against star ratings (1–2 negative, 3 neutral, 4–5 positive): accuracy 0.707; negative complaints precision 0.81, recall 0.85.</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Why RoBERTa:</a:t>
            </a:r>
            <a:r>
              <a:rPr lang="en-US" sz="1200">
                <a:solidFill>
                  <a:schemeClr val="dk1"/>
                </a:solidFill>
                <a:latin typeface="Times New Roman"/>
                <a:ea typeface="Times New Roman"/>
                <a:cs typeface="Times New Roman"/>
                <a:sym typeface="Times New Roman"/>
              </a:rPr>
              <a:t xml:space="preserve"> DistilBERT reached accuracy 0.713 but is binary and cannot say neutral; RoBERTa is more precise on negatives (0.81 vs 0.77).</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clustering:</a:t>
            </a:r>
            <a:r>
              <a:rPr lang="en-US" sz="1200">
                <a:solidFill>
                  <a:schemeClr val="dk1"/>
                </a:solidFill>
                <a:latin typeface="Times New Roman"/>
                <a:ea typeface="Times New Roman"/>
                <a:cs typeface="Times New Roman"/>
                <a:sym typeface="Times New Roman"/>
              </a:rPr>
              <a:t xml:space="preserve"> BERTopic over case texts: UMAP (12 neighbours, 5 dimensions, cosine), then HDBSCAN (minimum cluster size 3, minimum samples 1), keywords from 1–2-word c-TF-IDF.</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Result:</a:t>
            </a:r>
            <a:r>
              <a:rPr lang="en-US" sz="1200">
                <a:solidFill>
                  <a:schemeClr val="dk1"/>
                </a:solidFill>
                <a:latin typeface="Times New Roman"/>
                <a:ea typeface="Times New Roman"/>
                <a:cs typeface="Times New Roman"/>
                <a:sym typeface="Times New Roman"/>
              </a:rPr>
              <a:t xml:space="preserve"> 319 staging cases formed 49 topics with 11.9% outliers; each topic's keywords map to a department (Authentication, Engineering, Customer Success) that receives escalations.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Upkeep:</a:t>
            </a:r>
            <a:r>
              <a:rPr lang="en-US" sz="1200">
                <a:solidFill>
                  <a:schemeClr val="dk1"/>
                </a:solidFill>
                <a:latin typeface="Times New Roman"/>
                <a:ea typeface="Times New Roman"/>
                <a:cs typeface="Times New Roman"/>
                <a:sym typeface="Times New Roman"/>
              </a:rPr>
              <a:t xml:space="preserve"> re-clustered automatically every 6 hours when cases grow by 20% or outliers exceed 15%.</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