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71" r:id="rId22"/>
    <p:sldId id="272" r:id="rId23"/>
    <p:sldId id="260" r:id="rId11"/>
    <p:sldId id="261" r:id="rId12"/>
    <p:sldId id="262" r:id="rId13"/>
    <p:sldId id="263" r:id="rId14"/>
    <p:sldId id="264" r:id="rId15"/>
    <p:sldId id="273" r:id="rId24"/>
    <p:sldId id="274" r:id="rId2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70A505-9C83-4DA2-BAA3-34EB322FA7B9}">
  <a:tblStyle styleId="{A570A505-9C83-4DA2-BAA3-34EB322FA7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ADC876BD-21E3-499D-94FC-3D607E5DCE7B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AE357F98-E37F-4722-A336-238EF99134D1}" styleName="Table_2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  <Relationship Id="rId22" Type="http://schemas.openxmlformats.org/officeDocument/2006/relationships/slide" Target="slides/slide16.xml"/>
  <Relationship Id="rId23" Type="http://schemas.openxmlformats.org/officeDocument/2006/relationships/slide" Target="slides/slide17.xml"/>
  <Relationship Id="rId24" Type="http://schemas.openxmlformats.org/officeDocument/2006/relationships/slide" Target="slides/slide18.xml"/>
  <Relationship Id="rId25" Type="http://schemas.openxmlformats.org/officeDocument/2006/relationships/slide" Target="slides/slide19.xml"/>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" name="Google Shape;3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" name="Google Shape;4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1e4f3ba1c_0_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g3d1e4f3ba1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d1e4f3ba1c_0_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g3d1e4f3ba1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d1e4f3ba1c_0_3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g3d1e4f3ba1c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d1e4f3ba1c_0_5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g3d1e4f3ba1c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0" name="Google Shape;20;p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1" name="Google Shape;21;p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8" name="Google Shape;28;p6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flow_final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res_f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www.diva-portal.org/smash/get/diva2:1875371/FULLTEXT01.pdf" TargetMode="External"/><Relationship Id="rId5" Type="http://schemas.openxmlformats.org/officeDocument/2006/relationships/hyperlink" Target="https://www.rapidops.com/blog/ai-dashboards/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towardsai.net/p/l/topic-modeling-on-customer-reviews-using-bertopic-and-llama2" TargetMode="External"/><Relationship Id="rId5" Type="http://schemas.openxmlformats.org/officeDocument/2006/relationships/hyperlink" Target="https://dl.acm.org/doi/10.1007/s42979-023-01989-6" TargetMode="External"/><Relationship Id="rId6" Type="http://schemas.openxmlformats.org/officeDocument/2006/relationships/hyperlink" Target="https://www.emergentmind.com/topics/sentiment-analysis-of-help-desk-tickets" TargetMode="External"/><Relationship Id="rId7" Type="http://schemas.openxmlformats.org/officeDocument/2006/relationships/hyperlink" Target="https://towardsai.net/p/l/topic-modeling-on-customer-reviews-using-bertopic-and-llama2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res_pr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res_spike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/>
        </p:nvSpPr>
        <p:spPr>
          <a:xfrm>
            <a:off x="61475" y="4375400"/>
            <a:ext cx="8678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AI-DS, K.J. Somaiya Institute of Technology, Sion, Mumbai 400022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" name="Google Shape;37;p8"/>
          <p:cNvSpPr txBox="1"/>
          <p:nvPr/>
        </p:nvSpPr>
        <p:spPr>
          <a:xfrm>
            <a:off x="1037275" y="1245476"/>
            <a:ext cx="7129800" cy="132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t/>
            </a:r>
            <a:endParaRPr b="1" i="0" sz="600" u="none" cap="none" strike="noStrike">
              <a:solidFill>
                <a:srgbClr val="1F386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75"/>
              <a:buFont typeface="Arial"/>
              <a:buNone/>
            </a:pPr>
            <a:r>
              <a:rPr b="1" lang="en-US" sz="1675">
                <a:solidFill>
                  <a:srgbClr val="1F38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</a:t>
            </a:r>
            <a:r>
              <a:rPr b="1" i="0" lang="en-US" sz="1675" u="none" cap="none" strike="noStrike">
                <a:solidFill>
                  <a:srgbClr val="1F38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.Y B Major Project Presentation</a:t>
            </a:r>
            <a:endParaRPr b="1" i="0" sz="1675" u="none" cap="none" strike="noStrike">
              <a:solidFill>
                <a:srgbClr val="1F386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75"/>
              <a:buFont typeface="Arial"/>
              <a:buNone/>
            </a:pPr>
            <a:r>
              <a:t/>
            </a:r>
            <a:endParaRPr b="1" sz="1675">
              <a:solidFill>
                <a:srgbClr val="1F386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59"/>
              <a:buFont typeface="Arial"/>
              <a:buNone/>
            </a:pPr>
            <a:r>
              <a:rPr b="1" i="0" lang="en-US" sz="186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“</a:t>
            </a:r>
            <a:r>
              <a:rPr b="1" lang="en-US" sz="186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InsightDesk - Intelligent complaint triage system</a:t>
            </a:r>
            <a:r>
              <a:rPr b="1" i="0" lang="en-US" sz="186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  <a:endParaRPr b="0" i="0" sz="100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8"/>
          <p:cNvSpPr txBox="1"/>
          <p:nvPr/>
        </p:nvSpPr>
        <p:spPr>
          <a:xfrm>
            <a:off x="2452225" y="2571750"/>
            <a:ext cx="3978000" cy="17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Guide:Prof.</a:t>
            </a:r>
            <a:r>
              <a:rPr b="1"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Ganesh Wadmare</a:t>
            </a:r>
            <a:endParaRPr b="1" i="0" sz="1800" u="none" cap="none" strike="noStrike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Group No:</a:t>
            </a:r>
            <a:r>
              <a:rPr b="1"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Team Members – 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Krisha Sinnarkar(Roll No.</a:t>
            </a:r>
            <a:r>
              <a:rPr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-61)</a:t>
            </a:r>
            <a:endParaRPr i="0" sz="1800" u="none" cap="none" strike="noStrike">
              <a:solidFill>
                <a:srgbClr val="26262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Sanyogita Shinde</a:t>
            </a:r>
            <a:r>
              <a:rPr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(Roll No.-60)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Krushnam Sadrani</a:t>
            </a:r>
            <a:r>
              <a:rPr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(Roll No.- 40)</a:t>
            </a:r>
            <a:endParaRPr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" name="Google Shape;39;p8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0" name="Google Shape;4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8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8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8" name="Google Shape;48;p9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9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" name="Google Shape;5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9"/>
          <p:cNvSpPr txBox="1"/>
          <p:nvPr/>
        </p:nvSpPr>
        <p:spPr>
          <a:xfrm>
            <a:off x="314200" y="1360125"/>
            <a:ext cx="3252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TABLE OF CONTENTS</a:t>
            </a:r>
            <a:endParaRPr b="1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52" name="Google Shape;52;p9"/>
          <p:cNvGraphicFramePr/>
          <p:nvPr/>
        </p:nvGraphicFramePr>
        <p:xfrm>
          <a:off x="436250" y="1819175"/>
          <a:ext cx="3000000" cy="3000000"/>
        </p:xfrm>
        <a:graphic>
          <a:graphicData uri="http://schemas.openxmlformats.org/drawingml/2006/table">
            <a:tbl>
              <a:tblPr bandRow="1">
                <a:noFill/>
                <a:tableStyleId>{A570A505-9C83-4DA2-BAA3-34EB322FA7B9}</a:tableStyleId>
              </a:tblPr>
              <a:tblGrid>
                <a:gridCol w="867400"/>
                <a:gridCol w="3726075"/>
              </a:tblGrid>
              <a:tr h="365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Sr.No.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Content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Problem Statement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Literature Survey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Objective of Project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Implementation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Flow diagram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     </a:t>
                      </a: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Applications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Future Scope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8.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References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Conclusion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" name="Google Shape;58;p10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0" name="Google Shape;6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0"/>
          <p:cNvSpPr txBox="1"/>
          <p:nvPr/>
        </p:nvSpPr>
        <p:spPr>
          <a:xfrm>
            <a:off x="58798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 fontScale="77500" lnSpcReduction="20000"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</a:t>
            </a:r>
            <a:r>
              <a:rPr b="1" lang="en-US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ROBLEM STATEMENT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4706"/>
              <a:buFont typeface="Arial"/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Vision Helpdesk handles a large volume of customer complaints generated from support tickets, emails, and feedback systems. These complaints are unstructured textual data, making manual analysis time-consuming and inefficient.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4706"/>
              <a:buFont typeface="Arial"/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Existing systems mainly rely on keyword-based filtering or manual categorization, which fail to capture hidden patterns, sentiment intensity, and sudden spikes in complaints. As a result, when complaint volume increases rapidly, it becomes difficult to identify the root cause in time, leading to delayed responses and reduced customer satisfaction.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4706"/>
              <a:buFont typeface="Arial"/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Therefore, there is a need to develop an intelligent system for Vision Helpdesk that can automatically detect complaint spikes, group similar issues, analyze sentiment, and generate root-cause diagnostics to improve response efficiency and service quality.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2" name="Google Shape;62;p10"/>
          <p:cNvSpPr txBox="1"/>
          <p:nvPr/>
        </p:nvSpPr>
        <p:spPr>
          <a:xfrm flipH="1" rot="10800000">
            <a:off x="-4575" y="1332317"/>
            <a:ext cx="2331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LITERATURE SURVEY (1/3)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30000"/>
          <a:ext cx="8150000" cy="310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1600000"/>
                <a:gridCol w="1500000"/>
                <a:gridCol w="1700000"/>
                <a:gridCol w="1650000"/>
                <a:gridCol w="1700000"/>
              </a:tblGrid>
              <a:tr h="3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System (venue, year)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Method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Parameters / thresholds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Our improvement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CLAP [1] (ICSE 2016)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Review features + DBSCAN clustering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eps 0.6 as published; 0.75 tuned on our data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Batch only; groups by shared words (F1 0.24 on our data)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Online cases; LLM judge separates look-alike problems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REP / BM25 [2] (ASE 2011)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BM25F keyword retrieval + metadata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k1 = 1.2, b = 0.75; top-k candidates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Misses paraphrases (“can't log in” vs “sign-in fails”)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Semantic retrieval + LLM verification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Sentence-BERT [3] (EMNLP 2019)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Bi-encoder cosine similarity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One cosine threshold per task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One cut cannot be both safe and inclusive (F1 ≈ 0.10)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Two calibrated cuts: 0.26 and 0.8306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BERT cross-encoder [4] (NAACL 2019)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Fine-tuned pair classifier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Score cut 0.4834, tuned on 110 labelled pairs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Pair scores do not hold in a live stream (P 0.38)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Band calibrated on the stream + LLM judge (P 0.80)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2" name="Google Shape;82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2"/>
          <p:cNvSpPr txBox="1"/>
          <p:nvPr/>
        </p:nvSpPr>
        <p:spPr>
          <a:xfrm>
            <a:off x="570230" y="1216657"/>
            <a:ext cx="8339400" cy="3476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</a:t>
            </a:r>
            <a:endParaRPr b="1" i="0" sz="18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b="1" i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Group duplicate complaints into one case, even when they're worded differently.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Measure customer sentiment with two AI models.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Find complaint topics automatically and assign each to a department.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 sudden spikes in complaints using statistics.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Explain the root cause with AI, with a human approving every escalation.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3"/>
          <p:cNvSpPr/>
          <p:nvPr/>
        </p:nvSpPr>
        <p:spPr>
          <a:xfrm>
            <a:off x="1728300" y="1219200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FLOW CHART 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4" name="Google Shape;94;p13" title="InsightDesk_flowchart.png"/>
          <p:cNvPicPr preferRelativeResize="0"/>
          <p:nvPr/>
        </p:nvPicPr>
        <p:blipFill rotWithShape="1">
          <a:blip r:embed="rId4">
            <a:alphaModFix/>
          </a:blip>
          <a:srcRect b="9198" l="0" r="0" t="0"/>
          <a:stretch/>
        </p:blipFill>
        <p:spPr>
          <a:xfrm>
            <a:off x="560000" y="1560000"/>
            <a:ext cx="8020000" cy="35684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4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850500" y="1271075"/>
            <a:ext cx="744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IMPLEMENTATION (1/2)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3" name="Google Shape;103;p14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660400" y="1568450"/>
            <a:ext cx="7408545" cy="280225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b="1" lang="en-US" sz="12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Running example: a customer writes “Can't log in since the update, the OTP never arrives”.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Intake &amp; Cleaning: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the signed-in customer submits through the React app; filler such as “Hi team, please help” is removed, while negations like “can't” are kept.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Embedding &amp; Retrieval: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MiniLM turns the text into a vector; Pinecone returns the 5 most similar cases of the same product, e.g. “OTP not received on login” (similarity 0.71).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Decision Band: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similarity ≥ 0.8306 joins automatically, &lt; 0.26 opens a new case; our 0.71 falls in between, so the LLM judge decides.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LLM Judge: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gpt-oss-120b compares the symptom: “OTP never arrives” = same problem, so the complaint joins that case (count +1); “login is slow” would open a new case.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Same-User Rule: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if the same customer repeats this complaint within 24 hours, it is attached to the case but not counted again.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1" name="Google Shape;111;p15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2" name="Google Shape;1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 txBox="1"/>
          <p:nvPr/>
        </p:nvSpPr>
        <p:spPr>
          <a:xfrm>
            <a:off x="850500" y="1271075"/>
            <a:ext cx="744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IMPLEMENTATION (2/2)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4" name="Google Shape;114;p15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713875" y="1579150"/>
            <a:ext cx="7408500" cy="28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Case Re-joining (every 6 h):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the LLM merges cases that report one problem, e.g. “no dark mode” and “needs dark mode” become one case.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Sentiment &amp; Topics: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RoBERTa labels the case negative; BERTopic places it under an Authentication topic, which carries the responsible department.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Spike Detection: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a Poisson CUSUM watches each case and group of similar cases; 5 OTP complaints in 6 hours against a usual 0.1 raises a spike.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Vague-Complaint Alarm: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a surge of “app not working” complaints that fit no case still raises a product-level alarm.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Root Cause &amp; Escalation: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with 3+ reports or a spike the case is eligible; the LLM writes a grounded root cause (cause, severity, action, evidence) and an operator approves the email to the department.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1631250" y="1287476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RESULTS: GROUPING QUALITY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000" y="1640000"/>
            <a:ext cx="5350000" cy="3216369"/>
          </a:xfrm>
          <a:prstGeom prst="rect">
            <a:avLst/>
          </a:prstGeom>
          <a:noFill/>
          <a:ln>
            <a:noFill/>
          </a:ln>
        </p:spPr>
      </p:pic>
      <p:sp>
        <p:nvSpPr>
          <p:cNvPr id="909" name="Results text 909"/>
          <p:cNvSpPr txBox="1"/>
          <p:nvPr/>
        </p:nvSpPr>
        <p:spPr>
          <a:xfrm>
            <a:off x="5850000" y="1600000"/>
            <a:ext cx="3050000" cy="3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Precision 0.80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on human-labelled Play Store reviews.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F1 0.46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vs at most 0.25 for every competitor on the same data.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Firefox bug reports: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F1 0.78 with thresholds unchanged.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At equal precision (0.80):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33% of duplicates found vs about 1% for BM25, MinHash and SimHash.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7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5" name="Google Shape;13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7"/>
          <p:cNvSpPr txBox="1"/>
          <p:nvPr/>
        </p:nvSpPr>
        <p:spPr>
          <a:xfrm>
            <a:off x="2995049" y="1217600"/>
            <a:ext cx="3024900" cy="45847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APPLICATIONS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7" name="Google Shape;137;p17"/>
          <p:cNvSpPr txBox="1"/>
          <p:nvPr/>
        </p:nvSpPr>
        <p:spPr>
          <a:xfrm>
            <a:off x="697200" y="1610300"/>
            <a:ext cx="7620600" cy="315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Customer Support Analytics: 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 recurring issues automatically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Mobile App Monitoring: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Find crashes and bugs from reviews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Banking / Finance: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Detect transaction complaints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E-commerce: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Analyze delivery and payment issues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Helpdesk Automation: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Generate diagnostics automatically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AI-Powered Monitoring Systems: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Real-time complaint analysis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1590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1590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3" name="Google Shape;143;p18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8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5" name="Google Shape;14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8"/>
          <p:cNvSpPr txBox="1"/>
          <p:nvPr/>
        </p:nvSpPr>
        <p:spPr>
          <a:xfrm>
            <a:off x="3059544" y="1217611"/>
            <a:ext cx="3024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FUTURE SCOPE</a:t>
            </a:r>
            <a:endParaRPr/>
          </a:p>
        </p:txBody>
      </p:sp>
      <p:sp>
        <p:nvSpPr>
          <p:cNvPr id="147" name="Google Shape;147;p18"/>
          <p:cNvSpPr txBox="1"/>
          <p:nvPr/>
        </p:nvSpPr>
        <p:spPr>
          <a:xfrm>
            <a:off x="480695" y="1675765"/>
            <a:ext cx="8663305" cy="34829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Package the app with Docker and deploy it on GCP or Azure (free tier).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Host the open-weight LLM locally for full data privacy.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Remove personal details from complaints before any LLM call.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Learn from operator corrections to calibrate each company automatically.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Per-user submission limits, multilingual complaints and automatic Jira tickets.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19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9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5" name="Google Shape;15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9"/>
          <p:cNvSpPr txBox="1"/>
          <p:nvPr/>
        </p:nvSpPr>
        <p:spPr>
          <a:xfrm>
            <a:off x="3056230" y="1497420"/>
            <a:ext cx="3025200" cy="43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7" name="Google Shape;157;p19"/>
          <p:cNvSpPr txBox="1"/>
          <p:nvPr/>
        </p:nvSpPr>
        <p:spPr>
          <a:xfrm>
            <a:off x="686435" y="1648460"/>
            <a:ext cx="7764780" cy="2457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InsightDesk turns raw customer complaints into problem cases as they arrive. Similarity retrieval narrows each complaint to a few candidate cases, calibrated thresholds settle the clear ones, and an LLM judge decides the rest; a re-joining pass merges split cases. On real reviews it reaches precision 0.80 and the highest F1 of every method tested, and it transfers unchanged to bug reports. A Poisson CUSUM and a vague-complaint alarm detect incidents that the usual z-score misses, and every escalation is approved by a person before an email reaches the department.</a:t>
            </a:r>
          </a:p>
        </p:txBody>
      </p:sp>
      <p:sp>
        <p:nvSpPr>
          <p:cNvPr id="158" name="Google Shape;158;p19"/>
          <p:cNvSpPr txBox="1"/>
          <p:nvPr/>
        </p:nvSpPr>
        <p:spPr>
          <a:xfrm>
            <a:off x="686525" y="1648700"/>
            <a:ext cx="7929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0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4" name="Google Shape;164;p20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0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6" name="Google Shape;16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0"/>
          <p:cNvSpPr txBox="1"/>
          <p:nvPr/>
        </p:nvSpPr>
        <p:spPr>
          <a:xfrm>
            <a:off x="3626175" y="1217600"/>
            <a:ext cx="1669200" cy="43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8" name="Google Shape;168;p20"/>
          <p:cNvSpPr txBox="1"/>
          <p:nvPr/>
        </p:nvSpPr>
        <p:spPr>
          <a:xfrm>
            <a:off x="686435" y="1648460"/>
            <a:ext cx="7764900" cy="24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[1] L. Villarroel, G. Bavota, B. Russo, R. Oliveto, M. Di Penta, “Release planning of mobile apps based on user reviews,” ICSE, 2016.</a:t>
            </a:r>
          </a:p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[2] C. Sun, D. Lo, S.-C. Khoo, J. Jiang, “Towards more accurate retrieval of duplicate bug reports,” ASE, 2011.</a:t>
            </a:r>
          </a:p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[3] N. Reimers, I. Gurevych, “Sentence-BERT: Sentence embeddings using Siamese BERT-networks,” EMNLP, 2019.</a:t>
            </a:r>
          </a:p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[4] J. Devlin, M.-W. Chang, K. Lee, K. Toutanova, “BERT: Pre-training of deep bidirectional transformers,” NAACL, 2019.</a:t>
            </a:r>
          </a:p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[5] G. S. Manku, A. Jain, A. Das Sarma, “Detecting near-duplicates for web crawling,” WWW, 2007.</a:t>
            </a:r>
          </a:p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[6] A. Z. Broder, “On the resemblance and containment of documents,” Compression and Complexity of Sequences, 1997.</a:t>
            </a:r>
          </a:p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[7] M. Grootendorst, “BERTopic: Neural topic modeling with a class-based TF-IDF procedure,” arXiv:2203.05794, 2022.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4" name="Google Shape;174;p2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6" name="Google Shape;17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1"/>
          <p:cNvSpPr txBox="1"/>
          <p:nvPr/>
        </p:nvSpPr>
        <p:spPr>
          <a:xfrm>
            <a:off x="3626175" y="1217600"/>
            <a:ext cx="1669200" cy="43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8" name="Google Shape;178;p21"/>
          <p:cNvSpPr txBox="1"/>
          <p:nvPr/>
        </p:nvSpPr>
        <p:spPr>
          <a:xfrm>
            <a:off x="686435" y="1648460"/>
            <a:ext cx="7764900" cy="24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[8] C. Gao et al., “Online app review analysis for identifying emerging issues,” ICSE, 2018.</a:t>
            </a:r>
          </a:p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[9] C. Gao et al., “Emerging app issue identification via online joint sentiment-topic tracing,” IEEE TSE, 2022.</a:t>
            </a:r>
          </a:p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[10] SentiSum, “What is anomaly detection?,” product documentation, help.sentisum.com, 2025.</a:t>
            </a:r>
          </a:p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[11] “iPACK: Incident-aware duplicate ticket aggregation for cloud systems,” ICSE, 2023.</a:t>
            </a:r>
          </a:p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[12] “TickIt: Leveraging large language models for automated ticket escalation,” arXiv:2504.08475, 2025.</a:t>
            </a:r>
          </a:p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[13] “Root cause prediction from log data using large language models,” Diva-Portal research report, 2024.</a:t>
            </a:r>
          </a:p>
          <a:p>
            <a:pPr indent="0" lvl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[14] S. Lee, S. Lee, “Duplicate bug report detection by using sentence embedding and Faiss,” CEUR-WS vol. 3655, 2023.</a:t>
            </a:r>
          </a:p>
        </p:txBody>
      </p:sp>
      <p:sp>
        <p:nvSpPr>
          <p:cNvPr id="179" name="Google Shape;179;p21"/>
          <p:cNvSpPr txBox="1"/>
          <p:nvPr/>
        </p:nvSpPr>
        <p:spPr>
          <a:xfrm>
            <a:off x="686525" y="1648700"/>
            <a:ext cx="7929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2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5" name="Google Shape;185;p22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7" name="Google Shape;18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2"/>
          <p:cNvSpPr txBox="1"/>
          <p:nvPr/>
        </p:nvSpPr>
        <p:spPr>
          <a:xfrm>
            <a:off x="2353425" y="2070900"/>
            <a:ext cx="44802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0" i="0" lang="en-US" sz="4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THANK YOU !</a:t>
            </a:r>
            <a:endParaRPr b="0" i="0" sz="4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LITERATURE SURVEY (2/3)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30000"/>
          <a:ext cx="8150000" cy="310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1600000"/>
                <a:gridCol w="1500000"/>
                <a:gridCol w="1700000"/>
                <a:gridCol w="1650000"/>
                <a:gridCol w="1700000"/>
              </a:tblGrid>
              <a:tr h="3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System (venue, year)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Method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Parameters / thresholds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Our improvement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SimHash [5] (WWW 2007)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64-bit fingerprints, Hamming distance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Hamming distance k = 3 bits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Detects near-copies only (F1 0.12)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Matches meaning, not wording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MinHash-LSH [6] (1997)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Jaccard over shingles + banding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Similarity cut 0.75 / 0.80 / 0.85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Detects near-copies only (F1 0.20)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Matches meaning, not wording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BERTopic [7] (2022)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Embeddings + UMAP + HDBSCAN topics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Library defaults (minimum topic size)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Topics are themes, not problems (P 0.16)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Problem-level cases; topics used only for routing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IDEA / MERIT [8, 9] (ICSE 2018, TSE 2022)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Online topic models per app version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Change in topic share between versions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Per version; no problem cases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Per-case grouping as each complaint arrives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LITERATURE SURVEY (3/3)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30000"/>
          <a:ext cx="8150000" cy="310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1600000"/>
                <a:gridCol w="1500000"/>
                <a:gridCol w="1700000"/>
                <a:gridCol w="1650000"/>
                <a:gridCol w="1700000"/>
              </a:tblGrid>
              <a:tr h="3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System (venue, year)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Method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Parameters / thresholds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Our improvement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SentiSum [10] (commercial)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Anomaly detection per tag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z-score &gt; 2 per tag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Fails at 0–2 complaints per window (0% detected)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CUSUM, h = 2 (76–91% detected)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iPACK [11] (ICSE 2023)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Links tickets to cloud incidents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Requires cloud monitoring alerts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Depends on telemetry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Works from complaint text alone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TickIt [12] (2025)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 ticket grouping and escalation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Predefined ticket categories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Fixed category set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Open-ended cases + vague-complaint alarm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 RCA from logs [13] (2024)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Mistral / Mixtral on log data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Trained on labelled log data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Needs labelled data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Grounded RCA, no training, human approval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1631250" y="1287476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RESULTS: PRECISION VS RECALL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000" y="1640000"/>
            <a:ext cx="5350000" cy="3152678"/>
          </a:xfrm>
          <a:prstGeom prst="rect">
            <a:avLst/>
          </a:prstGeom>
          <a:noFill/>
          <a:ln>
            <a:noFill/>
          </a:ln>
        </p:spPr>
      </p:pic>
      <p:sp>
        <p:nvSpPr>
          <p:cNvPr id="918" name="Results text 918"/>
          <p:cNvSpPr txBox="1"/>
          <p:nvPr/>
        </p:nvSpPr>
        <p:spPr>
          <a:xfrm>
            <a:off x="5850000" y="1600000"/>
            <a:ext cx="3050000" cy="3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Only InsightDesk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keeps precision high while finding useful recall.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Topic models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group themes, not problems (BERTopic precision 0.16).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Generalises: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unseen apps case precision 0.92, unseen company 0.89.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Duplicate retrieval (top-5):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0.46–0.56 vs REP 0.43–0.44 on 233K bug reports.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1631250" y="1287476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RESULTS: INCIDENT DETECTION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000" y="1640000"/>
            <a:ext cx="5350000" cy="2372470"/>
          </a:xfrm>
          <a:prstGeom prst="rect">
            <a:avLst/>
          </a:prstGeom>
          <a:noFill/>
          <a:ln>
            <a:noFill/>
          </a:ln>
        </p:spPr>
      </p:pic>
      <p:sp>
        <p:nvSpPr>
          <p:cNvPr id="919" name="Results text 919"/>
          <p:cNvSpPr txBox="1"/>
          <p:nvPr/>
        </p:nvSpPr>
        <p:spPr>
          <a:xfrm>
            <a:off x="5850000" y="1600000"/>
            <a:ext cx="3050000" cy="3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CUSUM: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76–91% of outbreaks detected on bug-report streams, under 1 false alarm per 100 windows.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z-score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(used by feedback tools): 0% detected.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Vague alarm: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100% of vague-only outages with 10+ complaints.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End to end: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94% of incidents escalation-eligible within 12 h, 0 false alarms.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