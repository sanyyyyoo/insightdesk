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71" r:id="rId22"/>
    <p:sldId id="272" r:id="rId23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79" r:id="rId30"/>
    <p:sldId id="264" r:id="rId15"/>
    <p:sldId id="273" r:id="rId24"/>
    <p:sldId id="274" r:id="rId2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70A505-9C83-4DA2-BAA3-34EB322FA7B9}">
  <a:tblStyle styleId="{A570A505-9C83-4DA2-BAA3-34EB322FA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DC876BD-21E3-499D-94FC-3D607E5DCE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AE357F98-E37F-4722-A336-238EF99134D1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  <Relationship Id="rId28" Type="http://schemas.openxmlformats.org/officeDocument/2006/relationships/slide" Target="slides/slide22.xml"/>
  <Relationship Id="rId29" Type="http://schemas.openxmlformats.org/officeDocument/2006/relationships/slide" Target="slides/slide23.xml"/>
  <Relationship Id="rId30" Type="http://schemas.openxmlformats.org/officeDocument/2006/relationships/slide" Target="slides/slide24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1e4f3ba1c_0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d1e4f3ba1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1e4f3ba1c_0_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d1e4f3ba1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1e4f3ba1c_0_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1e4f3ba1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1e4f3ba1c_0_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d1e4f3ba1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" name="Google Shape;21;p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8" name="Google Shape;28;p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flow_final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res_f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www.diva-portal.org/smash/get/diva2:1875371/FULLTEXT01.pdf" TargetMode="External"/><Relationship Id="rId5" Type="http://schemas.openxmlformats.org/officeDocument/2006/relationships/hyperlink" Target="https://www.rapidops.com/blog/ai-dashboards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towardsai.net/p/l/topic-modeling-on-customer-reviews-using-bertopic-and-llama2" TargetMode="External"/><Relationship Id="rId5" Type="http://schemas.openxmlformats.org/officeDocument/2006/relationships/hyperlink" Target="https://dl.acm.org/doi/10.1007/s42979-023-01989-6" TargetMode="External"/><Relationship Id="rId6" Type="http://schemas.openxmlformats.org/officeDocument/2006/relationships/hyperlink" Target="https://www.emergentmind.com/topics/sentiment-analysis-of-help-desk-tickets" TargetMode="External"/><Relationship Id="rId7" Type="http://schemas.openxmlformats.org/officeDocument/2006/relationships/hyperlink" Target="https://towardsai.net/p/l/topic-modeling-on-customer-reviews-using-bertopic-and-llama2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pr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spike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/>
        </p:nvSpPr>
        <p:spPr>
          <a:xfrm>
            <a:off x="61475" y="4375400"/>
            <a:ext cx="8678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AI-DS, K.J. Somaiya Institute of Technology, Sion, Mumbai 400022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" name="Google Shape;37;p8"/>
          <p:cNvSpPr txBox="1"/>
          <p:nvPr/>
        </p:nvSpPr>
        <p:spPr>
          <a:xfrm>
            <a:off x="1037275" y="1245476"/>
            <a:ext cx="7129800" cy="13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1F386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rPr b="1" lang="en-US" sz="1675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b="1" i="0" lang="en-US" sz="1675" u="none" cap="none" strike="noStrike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.Y B Major Project Presentation</a:t>
            </a:r>
            <a:endParaRPr b="1" i="0" sz="1675" u="none" cap="none" strike="noStrike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t/>
            </a:r>
            <a:endParaRPr b="1" sz="1675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9"/>
              <a:buFont typeface="Arial"/>
              <a:buNone/>
            </a:pP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</a:t>
            </a:r>
            <a:r>
              <a:rPr b="1" lang="en-US" sz="186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InsightDesk - Intelligent complaint triage system</a:t>
            </a: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  <a:endParaRPr b="0" i="0" sz="100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8"/>
          <p:cNvSpPr txBox="1"/>
          <p:nvPr/>
        </p:nvSpPr>
        <p:spPr>
          <a:xfrm>
            <a:off x="2452225" y="2571750"/>
            <a:ext cx="39780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Guide:Prof.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Ganesh Wadmare</a:t>
            </a:r>
            <a:endParaRPr b="1" i="0" sz="1800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No: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 –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Krisha Sinnarkar(Roll No.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-61)</a:t>
            </a:r>
            <a:endParaRPr i="0" sz="18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Sanyogita Shinde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No.-60)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Krushnam Sadrani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No.- 40)</a:t>
            </a:r>
            <a:endParaRPr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" name="Google Shape;39;p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" name="Google Shape;4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" name="Google Shape;48;p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/>
        </p:nvSpPr>
        <p:spPr>
          <a:xfrm>
            <a:off x="314200" y="1360125"/>
            <a:ext cx="3252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OF CONTENTS</a:t>
            </a:r>
            <a:endParaRPr b="1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2" name="Google Shape;52;p9"/>
          <p:cNvGraphicFramePr/>
          <p:nvPr/>
        </p:nvGraphicFramePr>
        <p:xfrm>
          <a:off x="436250" y="18191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{A570A505-9C83-4DA2-BAA3-34EB322FA7B9}</a:tableStyleId>
              </a:tblPr>
              <a:tblGrid>
                <a:gridCol w="867400"/>
                <a:gridCol w="3726075"/>
              </a:tblGrid>
              <a:tr h="365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Sr.No.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Content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Statement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Objective of Project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Implementation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Flow diagram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     </a:t>
                      </a: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Applications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Future Scope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References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Conclusion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0"/>
          <p:cNvSpPr txBox="1"/>
          <p:nvPr/>
        </p:nvSpPr>
        <p:spPr>
          <a:xfrm>
            <a:off x="58798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 fontScale="77500" lnSpcReduction="2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b="1" lang="en-US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ROBLEM STATEMENT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Vision Helpdesk handles a large volume of customer complaints generated from support tickets, emails, and feedback systems. These complaints are unstructured textual data, making manual analysis time-consuming and inefficient.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systems mainly rely on keyword-based filtering or manual categorization, which fail to capture hidden patterns, sentiment intensity, and sudden spikes in complaints. As a result, when complaint volume increases rapidly, it becomes difficult to identify the root cause in time, leading to delayed responses and reduced customer satisfaction.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Therefore, there is a need to develop an intelligent system for Vision Helpdesk that can automatically detect complaint spikes, group similar issues, analyze sentiment, and generate root-cause diagnostics to improve response efficiency and service quality.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" name="Google Shape;62;p10"/>
          <p:cNvSpPr txBox="1"/>
          <p:nvPr/>
        </p:nvSpPr>
        <p:spPr>
          <a:xfrm flipH="1" rot="10800000">
            <a:off x="-4575" y="1332317"/>
            <a:ext cx="233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(1/3)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“Release Planning of Mobile Apps Based on User Reviews” (CLAP) [1], ICSE 2016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features + 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eps 0.6 published; 0.75 tuned on our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 only; groups by shared words (F1 0.24 on our data)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cases; LLM judge separates look-alike problems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“Towards More Accurate Retrieval of Duplicate Bug Reports” (REP) [2], ASE 2011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BM25F keyword retrieval + metadata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k1 = 1.2, b = 0.75; top-k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Misses paraphrases; top-5 hit 0.43–0.44 vs our 0.46–0.56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Semantic retrieval + LLM verification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“Sentence-BERT: Sentence Embeddings using Siamese BERT-Networks” [3], EMNLP 2019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Bi-encoder cosine similarity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cosine threshold per task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 cannot be safe and inclusive (F1 ≈ 0.10)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Two calibrated cuts: 0.26 and 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“BERTopic: Neural Topic Modeling with a Class-Based TF-IDF Procedure” [4], 2022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Embeddings + UMAP + HDBSCAN topics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Library defaults (minimum topic size)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Topics are themes, not problems (precision 0.16)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Problem-level cases; topics only for routing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2"/>
          <p:cNvSpPr txBox="1"/>
          <p:nvPr/>
        </p:nvSpPr>
        <p:spPr>
          <a:xfrm>
            <a:off x="570230" y="1216657"/>
            <a:ext cx="8339400" cy="347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0" sz="1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1" i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duplicate complaints into problem-level cases as they arrive, using similarity retrieval and an LLM judge for uncertain matches.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Measure customer sentiment using the RoBERTa model.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 complaint topics automatically with BERTopic and route each to the responsible department.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sudden spikes with a Poisson CUSUM and raise an alarm on surges of vague complaints.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Explain the root cause with an LLM, with a human approving every escalation.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1728300" y="1219200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CHART 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" name="Google Shape;94;p13" title="InsightDesk_flowchart.png"/>
          <p:cNvPicPr preferRelativeResize="0"/>
          <p:nvPr/>
        </p:nvPicPr>
        <p:blipFill rotWithShape="1">
          <a:blip r:embed="rId4">
            <a:alphaModFix/>
          </a:blip>
          <a:srcRect b="9198" l="0" r="0" t="0"/>
          <a:stretch/>
        </p:blipFill>
        <p:spPr>
          <a:xfrm>
            <a:off x="560000" y="1560000"/>
            <a:ext cx="8020000" cy="35684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(1/2)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660400" y="1568450"/>
            <a:ext cx="7408545" cy="280225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2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Running example: a customer writes “Can't log in since the update, the OTP never arrives”.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Intake &amp; Cleaning: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signed-in customer submits through the React app; filler such as “Hi team, please help” is removed, while negations like “can't” are kept.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Embedding &amp; Retrieval: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MiniLM turns the text into a vector; Pinecone returns the 5 most similar cases of the same product, e.g. “OTP not received on login” (similarity 0.71).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similarity ≥ 0.8306 joins automatically, &lt; 0.26 opens a new case; our 0.71 falls in between, so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LLM Judge: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gpt-oss-120b compares the symptom: “OTP never arrives” = same problem, so the complaint joins that case (count +1); “login is slow” would open a new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Same-User Rule: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if the same customer repeats this complaint within 24 hours, it is attached to the case but not counted again.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(2/2)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Case Re-joining (every 6 h):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LLM merges cases that report one problem, e.g. “no dark mode” and “needs dark mode” become one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&amp; Topics: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labels the case negative; BERTopic places it under an Authentication topic, which carries the responsible department.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Detection: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Poisson CUSUM watches each case and group of similar cases; 5 OTP complaints in 6 hours against a usual 0.1 raises a spike.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Vague-Complaint Alarm: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surge of “app not working” complaints that fit no case still raises a product-level alarm.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Root Cause &amp; Escalation: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with 3+ reports or a spike the case is eligible; the LLM writes a grounded root cause (cause, severity, action, evidence) and an operator approves the email to the department.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GROUPING QUALITY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21636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Results text 90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Precision 0.80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human-labelled Play Store reviews.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F1 0.46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vs at most 0.25 for every competitor on the same data.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Firefox bug reports: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F1 0.78 with thresholds unchanged.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At equal precision (0.80):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33% of duplicates found vs about 1% for BM25, MinHash and SimHash.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2995049" y="1217600"/>
            <a:ext cx="3024900" cy="4584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697200" y="1610300"/>
            <a:ext cx="7620600" cy="31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Support Analytics: 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recurring issues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App Monitoring: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Find crashes and bugs from reviews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Banking / Finance: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Detect transaction complaints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E-commerce: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Analyze delivery and payment issues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Helpdesk Automation: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Generate diagnostics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AI-Powered Monitoring Systems: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Real-time complaint analysis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3059544" y="1217611"/>
            <a:ext cx="302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/>
          </a:p>
        </p:txBody>
      </p:sp>
      <p:sp>
        <p:nvSpPr>
          <p:cNvPr id="147" name="Google Shape;147;p18"/>
          <p:cNvSpPr txBox="1"/>
          <p:nvPr/>
        </p:nvSpPr>
        <p:spPr>
          <a:xfrm>
            <a:off x="480695" y="1675765"/>
            <a:ext cx="8663305" cy="34829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Package the app with Docker and deploy it on GCP or Azure (free tier).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Host the open-weight LLM locally for full data privacy.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Remove personal details from complaints before any LLM 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Learn from operator corrections to calibrate each company automatically.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Per-user submission limits, multilingual complaints and automatic Jira tickets.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3056230" y="1497420"/>
            <a:ext cx="3025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686435" y="1648460"/>
            <a:ext cx="7764780" cy="2457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InsightDesk turns raw customer complaints into problem cases as they arrive. Similarity retrieval narrows each complaint to a few candidate cases, calibrated thresholds settle the clear ones, and an LLM judge decides the rest; a re-joining pass merges split cases. On real reviews it reaches precision 0.80 and the highest F1 of every method tested, and it transfers unchanged to bug reports. A Poisson CUSUM and a vague-complaint alarm detect incidents that the usual z-score misses, and every escalation is approved by a person before an email reaches the department.</a:t>
            </a:r>
          </a:p>
        </p:txBody>
      </p:sp>
      <p:sp>
        <p:nvSpPr>
          <p:cNvPr id="158" name="Google Shape;158;p19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0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[1] L. Villarroel, G. Bavota, B. Russo, R. Oliveto, M. Di Penta, “Release planning of mobile apps based on user reviews,” ICSE, 2016.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[2] C. Sun, D. Lo, S.-C. Khoo, J. Jiang, “Towards more accurate retrieval of duplicate bug reports,” ASE, 2011.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[3] N. Reimers, I. Gurevych, “Sentence-BERT: Sentence embeddings using Siamese BERT-networks,” EMNLP, 2019.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[4] M. Grootendorst, “BERTopic: Neural topic modeling with a class-based TF-IDF procedure,” arXiv:2203.05794, 2022.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[5] T. Zhang, I. C. Irsan, F. Thung, D. Lo, “Cupid: Leveraging ChatGPT for more accurate duplicate bug report detection,” arXiv:2308.10022, 2023.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[6] R. Peeters, A. Steiner, C. Bizer, “Entity matching using large language models,” EDBT,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[7] “GPTrace: Effective crash deduplication using LLM embeddings,” ICSE, 2026 (arXiv:2512.01609).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[8] M. Hong et al., “Dial-In LLM: Human-aligned LLM-in-the-loop intent clustering for customer service dialogues,” EMNLP, 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2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1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[9] P. Pattnayak et al., “LLM-guided lifecycle-aware clustering of multi-turn customer support conversations,” AACL,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[10] F. Liu et al., “TickIt: Leveraging large language models for automated ticket escalation,” FSE,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[11] “Incident-aware duplicate ticket aggregation for cloud systems (iPACK),” ICSE, 2023 (arXiv:2302.09520).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[12] SentiSum, “What is anomaly detection?,” product documentation, help.sentisum.com,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[13] G. S. Manku, A. Jain, A. Das Sarma, “Detecting near-duplicates for web crawling,” WWW, 2007.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[14] A. Z. Broder, “On the resemblance and containment of documents,” Compression and Complexity of Sequences, 1997.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[15] E. S. Page, “Continuous inspection schemes,” Biometrika, vol. 41, 1954 (CUSUM).</a:t>
            </a:r>
          </a:p>
        </p:txBody>
      </p:sp>
      <p:sp>
        <p:nvSpPr>
          <p:cNvPr id="179" name="Google Shape;179;p21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2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 txBox="1"/>
          <p:nvPr/>
        </p:nvSpPr>
        <p:spPr>
          <a:xfrm>
            <a:off x="2353425" y="2070900"/>
            <a:ext cx="448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THANK YOU !</a:t>
            </a:r>
            <a:endParaRPr b="0" i="0" sz="4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(2/3)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“Cupid: Leveraging ChatGPT for More Accurate Duplicate Bug Report Detection” [5], 2023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ChatGPT extracts essentials, then REP retrieval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on 40–60% of reports; Recall-Rate@10 0.60–0.65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Ranking only; no cases, spikes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 with spike alerts and RCA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“Entity Matching using Large Language Models” [6], EDBT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Zero-shot GPT-4 pair judge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Prompt only; F1 89.6–98.4 on record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Judges every pair: cost grows with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 only in the calibrated band, at most 5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“GPTrace: Effective Crash Deduplication Using LLM Embeddings” [7], ICSE 2026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embeddings + HDBSCAN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Density clustering over 300K crash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Batch; stack traces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grouping of free-text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“Dial-In LLM: Human-Aligned LLM-in-the-loop Intent Clustering for Customer Service Dialogues” [8], EMNLP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LLM-in-the-loop intent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100k calls, 1,507 clusters; &gt;95% agreement with humans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Intents, not problems; batch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cases decided as complaints arrive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(3/3)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6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“LLM-Guided Lifecycle-Aware Clustering of Multi-Turn Customer Support Conversations” [9], AACL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Incremental clustering; LLM splits degraded clusters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Silhouette / Davies-Bouldin quality triggers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spike detection, RCA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Full pipeline: spikes, RCA, approval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“TickIt: Leveraging Large Language Models for Automated Ticket Escalation” [10], FSE 2025 (ByteDance)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escalation with category fine-tuning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Predefined 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Fixed category set; no spike detection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Open-ended cases + CUSUM + vague alarm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“Incident-aware Duplicate Ticket Aggregation for Cloud Systems” (iPACK) [11], ICSE 2023 (Microsoft)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Links tickets to cloud incident alerts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Requires monitoring alerts; F1 0.87–0.94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Depends on telemetry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Works from complaint text alone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SentiSum anomaly detection [12], commercial,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Anomaly detection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&gt; 2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 at 0–2 complaints per window (0%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CUSUM, h = 2 (76–91%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50" name="Results text 950"/>
          <p:cNvSpPr txBox="1"/>
          <p:nvPr/>
        </p:nvSpPr>
        <p:spPr>
          <a:xfrm>
            <a:off x="497000" y="4170000"/>
            <a:ext cx="8150000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Research finding: several systems group duplicate reports (CLAP, TickIt, iPACK, Dial-In LLM), but none we found in academic papers, industry blogs, products or patents combines online problem-level case merging of raw complaint text with per-case spike detection, root-cause explanation and human-approved escalation.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PRECISION VS RECALL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152678"/>
          </a:xfrm>
          <a:prstGeom prst="rect">
            <a:avLst/>
          </a:prstGeom>
          <a:noFill/>
          <a:ln>
            <a:noFill/>
          </a:ln>
        </p:spPr>
      </p:pic>
      <p:sp>
        <p:nvSpPr>
          <p:cNvPr id="918" name="Results text 918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Only InsightDesk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keeps precision high while finding useful recall.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models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group themes, not problems (BERTopic precision 0.16).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Generalises: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unseen apps case precision 0.92, unseen company 0.89.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Duplicate retrieval (top-5):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0.46–0.56 vs REP 0.43–0.44 on 233K bug reports.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INCIDENT DETECTION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2372470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Results text 91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76–91% of outbreaks detected on bug-report streams, under 1 false alarm per 100 windows.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z-score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(used by feedback tools): 0% detected.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100% of vague-only outages with 10+ complaints.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End to end: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94% of incidents escalation-eligible within 12 h, 0 false alarms.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MATHEMATICAL FORMULATION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Retrieval: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e(x) = MiniLM(x) ∈ ℝ³⁸⁴ with ‖e‖ = 1;  S(x, C) = max over exemplars m ∈ E_C of e(x)·e(m);  keep the top 5 cases of the same product.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join automatically if S* ≥ t_high; open a new case if S* &lt; t_low; otherwise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Upper threshold: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t_high = min{ t : Prec(t) ≥ 0.97 }, Prec(t) = share of true duplicates among tuning pairs with similarity ≥ t  →  0.8306.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Lower threshold: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t_low = 20th percentile of similarities of true duplicate pairs  →  0.26 (80% of duplicates stay reachable).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λ = (Σ last 28 windows + 0.5) / (n + 7);  k = 1 / ln((λ + 1)/λ);  S = max(0, S + c − k);  alert when S ≥ 2.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alert when v ≥ 2 and P(X ≥ v) &lt; 0.001 with X ~ Poisson(λ).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THRESHOLD CALIBRATION &amp; SENSITIVITY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350000"/>
                <a:gridCol w="1450000"/>
                <a:gridCol w="1450000"/>
                <a:gridCol w="850000"/>
                <a:gridCol w="750000"/>
                <a:gridCol w="650000"/>
                <a:gridCol w="65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Setting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Precision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Recall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Note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Calibrated on tuning half (deployed)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20th percentile of duplicates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precision ≥ 0.97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0.259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0.392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exact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 lowered by 0.03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− 0.03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0.831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0.233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0.364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robust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 lowered by 0.08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− 0.08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0.277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0.413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robust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 lowered by 0.13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− 0.13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0.722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0.246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0.367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 falls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Single cosine threshold, no judge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≈ 0.10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BM25 / MinHash forced to precision 0.80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≈ 0.80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60" name="Results text 960"/>
          <p:cNvSpPr txBox="1"/>
          <p:nvPr/>
        </p:nvSpPr>
        <p:spPr>
          <a:xfrm>
            <a:off x="497000" y="4360000"/>
            <a:ext cx="8150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Play Store held-out halves pooled. Final values calibrated on all Play Store data (t_low 0.26, t_high 0.8306) are reused unchanged on Firefox, Thunderbird and unseen apps (precision 0.87–0.96). Raising t_low changes which complaints reach the judge, so those cells need new LLM calls and are not shown.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SPIKE DETECTOR CALIBRATION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92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00000"/>
                <a:gridCol w="1450000"/>
                <a:gridCol w="1150000"/>
                <a:gridCol w="1150000"/>
                <a:gridCol w="1200000"/>
                <a:gridCol w="12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Detector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Setting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detected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false / 100 windows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 detected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 false / 100 windows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 (deployed)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42%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1.5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0.78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3.81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0.5,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2,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67%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EWMA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α = 0.2, L = 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0.67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tail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 ≥ 2, p &lt; 0.001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1.20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(feedback tools)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 &gt;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60" name="Results text 960"/>
          <p:cNvSpPr txBox="1"/>
          <p:nvPr/>
        </p:nvSpPr>
        <p:spPr>
          <a:xfrm>
            <a:off x="497000" y="4480000"/>
            <a:ext cx="815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300 simulated outbreaks per dataset, case level. h = 2 is the knee: lower h buys little detection for many more false alarms. EWMA reaches CUSUM's detection only at about 9× its false alarms on bug reports.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TEST DATASETS &amp; LABEL CREDIBILITY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98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1800000"/>
                <a:gridCol w="1100000"/>
                <a:gridCol w="1600000"/>
                <a:gridCol w="2150000"/>
                <a:gridCol w="15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Dataset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Size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Ground truth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Credibility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for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reviews (6 help-desk apps)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338 labelled of 450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 team annotators, written codebook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κ = 0.74; LLM labellers agree with humans at κ 0.68–0.70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Tuning and held-out evaluation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Firefox and Thunderbird (Bugzilla)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437 + 452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Mozilla triagers' duplicate links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Independent of us; some duplicates unlinked, so precision is conservative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Transfer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BugHub split: Firefox, Thunderbird, Eclipse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233,521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Public duplicate links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Standard public benchmark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Duplicate retrieval (top-5)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Unseen apps: Intercom, Jira SM, ServiceNow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588 reviews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Agreed key of 2 LLM labellers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κ 0.38 between LLMs; 50-pair human check pending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Secondary transfer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Endava IT tickets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350 of 1,000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Partial run, preliminary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Third domain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Synthetic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488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Generator ground truth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Sanity check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Never a headline result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SENTIMENT &amp; TOPIC CLUSTERING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model: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(cardiffnlp twitter-roberta-base-sentiment-latest), 3 classes (negative, neutral, positive) with a confidence per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How it was evaluated: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real Play Store reviews against star ratings (1–2 negative, 3 neutral, 4–5 positive): accuracy 0.707; negative complaints precision 0.81, recall 0.85.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Why RoBERTa: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DistilBERT reached accuracy 0.713 but is binary and cannot say neutral; RoBERTa is more precise on negatives (0.81 vs 0.77).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clustering: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BERTopic over case texts: UMAP (12 neighbours, 5 dimensions, cosine), then HDBSCAN (minimum cluster size 3, minimum samples 1), keywords from 1–2-word c-TF-IDF.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Result: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319 staging cases formed 49 topics with 11.9% outliers; each topic's keywords map to a department (Authentication, Engineering, Customer Success) that receives escalations.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Upkeep: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re-clustered automatically every 6 hours when cases grow by 20% or outliers exceed 15%.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